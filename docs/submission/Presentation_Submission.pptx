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9ee90918d74186" /><Relationship Type="http://schemas.openxmlformats.org/officeDocument/2006/relationships/extended-properties" Target="/docProps/app.xml" Id="R741e3aadfc324b4a" /><Relationship Type="http://schemas.openxmlformats.org/officeDocument/2006/relationships/officeDocument" Target="/ppt/presentation.xml" Id="Rd5554626a39c47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5c5c8586b149fc"/>
  </p:sldMasterIdLst>
  <p:notesMasterIdLst>
    <p:notesMasterId xmlns:r="http://schemas.openxmlformats.org/officeDocument/2006/relationships" r:id="Raed09806988d4060"/>
  </p:notesMasterIdLst>
  <p:sldIdLst>
    <p:sldId xmlns:r="http://schemas.openxmlformats.org/officeDocument/2006/relationships" id="256" r:id="R7db964f1802d4669"/>
    <p:sldId xmlns:r="http://schemas.openxmlformats.org/officeDocument/2006/relationships" id="257" r:id="Rdda7f337023c4fa2"/>
    <p:sldId xmlns:r="http://schemas.openxmlformats.org/officeDocument/2006/relationships" id="258" r:id="Rb658c8cae2ce4a99"/>
    <p:sldId xmlns:r="http://schemas.openxmlformats.org/officeDocument/2006/relationships" id="259" r:id="R738594c258374323"/>
    <p:sldId xmlns:r="http://schemas.openxmlformats.org/officeDocument/2006/relationships" id="260" r:id="R8df9839e58ca4094"/>
    <p:sldId xmlns:r="http://schemas.openxmlformats.org/officeDocument/2006/relationships" id="261" r:id="Rae70209270c64e06"/>
    <p:sldId xmlns:r="http://schemas.openxmlformats.org/officeDocument/2006/relationships" id="262" r:id="R1e5506818d1542f8"/>
    <p:sldId xmlns:r="http://schemas.openxmlformats.org/officeDocument/2006/relationships" id="263" r:id="Rb61a3118602d45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83e18f61364eac" /><Relationship Type="http://schemas.openxmlformats.org/officeDocument/2006/relationships/slideMaster" Target="/ppt/slideMasters/slideMaster1.xml" Id="Rbe5c5c8586b149fc" /><Relationship Type="http://schemas.openxmlformats.org/officeDocument/2006/relationships/notesMaster" Target="/ppt/notesMasters/notesMaster1.xml" Id="Raed09806988d4060" /><Relationship Type="http://schemas.openxmlformats.org/officeDocument/2006/relationships/presProps" Target="/ppt/presProps.xml" Id="R097154381aee4cf2" /><Relationship Type="http://schemas.openxmlformats.org/officeDocument/2006/relationships/tableStyles" Target="/ppt/tableStyles.xml" Id="Re85093a99be1429c" /><Relationship Type="http://schemas.openxmlformats.org/officeDocument/2006/relationships/slide" Target="/ppt/slides/slide1.xml" Id="R7db964f1802d4669" /><Relationship Type="http://schemas.openxmlformats.org/officeDocument/2006/relationships/slide" Target="/ppt/slides/slide2.xml" Id="Rdda7f337023c4fa2" /><Relationship Type="http://schemas.openxmlformats.org/officeDocument/2006/relationships/slide" Target="/ppt/slides/slide3.xml" Id="Rb658c8cae2ce4a99" /><Relationship Type="http://schemas.openxmlformats.org/officeDocument/2006/relationships/slide" Target="/ppt/slides/slide4.xml" Id="R738594c258374323" /><Relationship Type="http://schemas.openxmlformats.org/officeDocument/2006/relationships/slide" Target="/ppt/slides/slide5.xml" Id="R8df9839e58ca4094" /><Relationship Type="http://schemas.openxmlformats.org/officeDocument/2006/relationships/slide" Target="/ppt/slides/slide6.xml" Id="Rae70209270c64e06" /><Relationship Type="http://schemas.openxmlformats.org/officeDocument/2006/relationships/slide" Target="/ppt/slides/slide7.xml" Id="R1e5506818d1542f8" /><Relationship Type="http://schemas.openxmlformats.org/officeDocument/2006/relationships/slide" Target="/ppt/slides/slide8.xml" Id="Rb61a3118602d45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a5e37759b043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f267626cab4036" /><Relationship Type="http://schemas.openxmlformats.org/officeDocument/2006/relationships/notesMaster" Target="/ppt/notesMasters/notesMaster1.xml" Id="R307ca2980da544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1356defecf4fe3" /><Relationship Type="http://schemas.openxmlformats.org/officeDocument/2006/relationships/notesMaster" Target="/ppt/notesMasters/notesMaster1.xml" Id="R30f6144ccad344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816f57106b4b5d" /><Relationship Type="http://schemas.openxmlformats.org/officeDocument/2006/relationships/notesMaster" Target="/ppt/notesMasters/notesMaster1.xml" Id="R631a699eea8545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6c990b81be4fb3" /><Relationship Type="http://schemas.openxmlformats.org/officeDocument/2006/relationships/notesMaster" Target="/ppt/notesMasters/notesMaster1.xml" Id="R29f606ef78b74e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afe018dc52416b" /><Relationship Type="http://schemas.openxmlformats.org/officeDocument/2006/relationships/notesMaster" Target="/ppt/notesMasters/notesMaster1.xml" Id="Rf281954d399545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616ea3437d433e" /><Relationship Type="http://schemas.openxmlformats.org/officeDocument/2006/relationships/notesMaster" Target="/ppt/notesMasters/notesMaster1.xml" Id="Rb6dde9df40b645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ce54b65c1a41b5" /><Relationship Type="http://schemas.openxmlformats.org/officeDocument/2006/relationships/notesMaster" Target="/ppt/notesMasters/notesMaster1.xml" Id="R2b10183b369844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c6b797a4e248b8" /><Relationship Type="http://schemas.openxmlformats.org/officeDocument/2006/relationships/notesMaster" Target="/ppt/notesMasters/notesMaster1.xml" Id="Rdfcee3215dc34b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a523551ec347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c426eadb59404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0f312adb8340b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9a1733d9f743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3f8c9e4c7f4a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0d6304845948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F765670-3FD7-4D5E-9BE6-5E9B2EE908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D4D403C-6627-472E-B78A-1EC39537CB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1782FE4-7F96-44E4-BB38-C4C4CBA40B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CA8D58-5356-48C1-BA0A-CFBF8C48E1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E08DCD-F2E8-46FC-A9B9-8E2BF032CB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9EBCA6-5115-4212-9C61-FD539029EB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DECEF8B-F4F8-46AC-9903-3D69E70B13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13F4D9-4705-41D9-BF63-CBA8BC7F326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C73C07-2C4B-448A-B208-4D76B13337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D6213FA-4CE0-4A59-A06C-3171B1891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5d8955b9a1493e" /><Relationship Type="http://schemas.openxmlformats.org/officeDocument/2006/relationships/slideLayout" Target="/ppt/slideLayouts/slideLayout1.xml" Id="Ra0452471ade14215" /><Relationship Type="http://schemas.openxmlformats.org/officeDocument/2006/relationships/slideLayout" Target="/ppt/slideLayouts/slideLayout2.xml" Id="R00fc3e0ddfba42a1" /><Relationship Type="http://schemas.openxmlformats.org/officeDocument/2006/relationships/slideLayout" Target="/ppt/slideLayouts/slideLayout3.xml" Id="R8d9b27e77c6d4575" /><Relationship Type="http://schemas.openxmlformats.org/officeDocument/2006/relationships/slideLayout" Target="/ppt/slideLayouts/slideLayout4.xml" Id="Rc122a0afda174117" /><Relationship Type="http://schemas.openxmlformats.org/officeDocument/2006/relationships/slideLayout" Target="/ppt/slideLayouts/slideLayout5.xml" Id="R5be99ee3576b4d30" /><Relationship Type="http://schemas.openxmlformats.org/officeDocument/2006/relationships/slideLayout" Target="/ppt/slideLayouts/slideLayout6.xml" Id="R757c3dd5aab245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452471ade14215"/>
    <p:sldLayoutId xmlns:r="http://schemas.openxmlformats.org/officeDocument/2006/relationships" id="2147483650" r:id="R00fc3e0ddfba42a1"/>
    <p:sldLayoutId xmlns:r="http://schemas.openxmlformats.org/officeDocument/2006/relationships" id="2147483651" r:id="R8d9b27e77c6d4575"/>
    <p:sldLayoutId xmlns:r="http://schemas.openxmlformats.org/officeDocument/2006/relationships" id="2147483652" r:id="Rc122a0afda174117"/>
    <p:sldLayoutId xmlns:r="http://schemas.openxmlformats.org/officeDocument/2006/relationships" id="2147483653" r:id="R5be99ee3576b4d30"/>
    <p:sldLayoutId xmlns:r="http://schemas.openxmlformats.org/officeDocument/2006/relationships" id="2147483654" r:id="R757c3dd5aab245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c4c08279404a8c" /><Relationship Type="http://schemas.openxmlformats.org/officeDocument/2006/relationships/notesSlide" Target="/ppt/notesSlides/notesSlide1.xml" Id="Rd4a71d32f6ab45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640a5fccb24365" /><Relationship Type="http://schemas.openxmlformats.org/officeDocument/2006/relationships/notesSlide" Target="/ppt/notesSlides/notesSlide2.xml" Id="R9628adbf92c94d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bdb5511f3c4b6d" /><Relationship Type="http://schemas.openxmlformats.org/officeDocument/2006/relationships/notesSlide" Target="/ppt/notesSlides/notesSlide3.xml" Id="Rea54769bbff24e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1b16a9836e4016" /><Relationship Type="http://schemas.openxmlformats.org/officeDocument/2006/relationships/notesSlide" Target="/ppt/notesSlides/notesSlide4.xml" Id="Rd101d0e7498f4e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1e83dd14064749" /><Relationship Type="http://schemas.openxmlformats.org/officeDocument/2006/relationships/notesSlide" Target="/ppt/notesSlides/notesSlide5.xml" Id="Rda1f97a79eb849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26c6c35fec47ee" /><Relationship Type="http://schemas.openxmlformats.org/officeDocument/2006/relationships/notesSlide" Target="/ppt/notesSlides/notesSlide6.xml" Id="Rb0359308ea6545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4d2cf0bfe94415" /><Relationship Type="http://schemas.openxmlformats.org/officeDocument/2006/relationships/notesSlide" Target="/ppt/notesSlides/notesSlide7.xml" Id="R65c10177a02443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bc862858674fb2" /><Relationship Type="http://schemas.openxmlformats.org/officeDocument/2006/relationships/notesSlide" Target="/ppt/notesSlides/notesSlide8.xml" Id="R1993bfdbfe2f454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9CAFAA-DCCC-431B-B1DC-9C8E4226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OPERATING SYSTEMS · CASE STUDY EXPERIMENT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90D18-96C9-46E7-BF2F-9B426727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Predictive deadlock prevention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5DBFD-15FE-4FA0-B66A-4148E9AB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02BEC-5876-48FB-A33C-8DA26249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72DBC-025D-4A77-80BE-CF44FF25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6E2B0-D83B-4169-B38F-B90D41CD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28775"/>
            <a:ext cx="981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AEC4D3"/>
                </a:solidFill>
              </a:defRPr>
            </a:defPPr>
            <a:lvl1pPr>
              <a:defRPr sz="1950" b="0">
                <a:solidFill>
                  <a:srgbClr val="AEC4D3"/>
                </a:solidFill>
              </a:defRPr>
            </a:lvl1pPr>
            <a:lvl2pPr>
              <a:defRPr sz="1950" b="0">
                <a:solidFill>
                  <a:srgbClr val="AEC4D3"/>
                </a:solidFill>
              </a:defRPr>
            </a:lvl2pPr>
            <a:lvl3pPr>
              <a:defRPr sz="1950" b="0">
                <a:solidFill>
                  <a:srgbClr val="AEC4D3"/>
                </a:solidFill>
              </a:defRPr>
            </a:lvl3pPr>
            <a:lvl4pPr>
              <a:defRPr sz="1950" b="0">
                <a:solidFill>
                  <a:srgbClr val="AEC4D3"/>
                </a:solidFill>
              </a:defRPr>
            </a:lvl4pPr>
            <a:lvl5pPr>
              <a:defRPr sz="1950" b="0">
                <a:solidFill>
                  <a:srgbClr val="AEC4D3"/>
                </a:solidFill>
              </a:defRPr>
            </a:lvl5pPr>
            <a:lvl6pPr>
              <a:defRPr sz="1950" b="0">
                <a:solidFill>
                  <a:srgbClr val="AEC4D3"/>
                </a:solidFill>
              </a:defRPr>
            </a:lvl6pPr>
            <a:lvl7pPr>
              <a:defRPr sz="1950" b="0">
                <a:solidFill>
                  <a:srgbClr val="AEC4D3"/>
                </a:solidFill>
              </a:defRPr>
            </a:lvl7pPr>
            <a:lvl8pPr>
              <a:defRPr sz="1950" b="0">
                <a:solidFill>
                  <a:srgbClr val="AEC4D3"/>
                </a:solidFill>
              </a:defRPr>
            </a:lvl8pPr>
            <a:lvl9pPr>
              <a:defRPr sz="1950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AEC4D3"/>
                </a:solidFill>
              </a:defRPr>
            </a:pPr>
            <a:r>
              <a:rPr sz="1950" b="0">
                <a:solidFill>
                  <a:srgbClr val="AEC4D3"/>
                </a:solidFill>
              </a:rPr>
              <a:t>Contention analysis, score forecasting, and a learned lock order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585BC-CE72-46C6-8426-F5E2AEC5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33675"/>
            <a:ext cx="11049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22F62-FE69-4E66-918F-031BAC23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261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F6D83"/>
                </a:solidFill>
              </a:defRPr>
            </a:defPPr>
            <a:lvl1pPr>
              <a:defRPr sz="1575" b="1">
                <a:solidFill>
                  <a:srgbClr val="FF6D83"/>
                </a:solidFill>
              </a:defRPr>
            </a:lvl1pPr>
            <a:lvl2pPr>
              <a:defRPr sz="1575" b="1">
                <a:solidFill>
                  <a:srgbClr val="FF6D83"/>
                </a:solidFill>
              </a:defRPr>
            </a:lvl2pPr>
            <a:lvl3pPr>
              <a:defRPr sz="1575" b="1">
                <a:solidFill>
                  <a:srgbClr val="FF6D83"/>
                </a:solidFill>
              </a:defRPr>
            </a:lvl3pPr>
            <a:lvl4pPr>
              <a:defRPr sz="1575" b="1">
                <a:solidFill>
                  <a:srgbClr val="FF6D83"/>
                </a:solidFill>
              </a:defRPr>
            </a:lvl4pPr>
            <a:lvl5pPr>
              <a:defRPr sz="1575" b="1">
                <a:solidFill>
                  <a:srgbClr val="FF6D83"/>
                </a:solidFill>
              </a:defRPr>
            </a:lvl5pPr>
            <a:lvl6pPr>
              <a:defRPr sz="1575" b="1">
                <a:solidFill>
                  <a:srgbClr val="FF6D83"/>
                </a:solidFill>
              </a:defRPr>
            </a:lvl6pPr>
            <a:lvl7pPr>
              <a:defRPr sz="1575" b="1">
                <a:solidFill>
                  <a:srgbClr val="FF6D83"/>
                </a:solidFill>
              </a:defRPr>
            </a:lvl7pPr>
            <a:lvl8pPr>
              <a:defRPr sz="1575" b="1">
                <a:solidFill>
                  <a:srgbClr val="FF6D83"/>
                </a:solidFill>
              </a:defRPr>
            </a:lvl8pPr>
            <a:lvl9pPr>
              <a:defRPr sz="1575" b="1">
                <a:solidFill>
                  <a:srgbClr val="FF6D83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F6D83"/>
                </a:solidFill>
              </a:defRPr>
            </a:pPr>
            <a:r>
              <a:rPr sz="1575" b="1">
                <a:solidFill>
                  <a:srgbClr val="FF6D83"/>
                </a:solidFill>
              </a:rPr>
              <a:t>VULNERABLE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0F9747-38FE-43A5-BF37-BF816096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62325"/>
            <a:ext cx="2619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F6FBFF"/>
                </a:solidFill>
              </a:defRPr>
            </a:defPPr>
            <a:lvl1pPr>
              <a:defRPr sz="1950" b="1">
                <a:solidFill>
                  <a:srgbClr val="F6FBFF"/>
                </a:solidFill>
              </a:defRPr>
            </a:lvl1pPr>
            <a:lvl2pPr>
              <a:defRPr sz="1950" b="1">
                <a:solidFill>
                  <a:srgbClr val="F6FBFF"/>
                </a:solidFill>
              </a:defRPr>
            </a:lvl2pPr>
            <a:lvl3pPr>
              <a:defRPr sz="1950" b="1">
                <a:solidFill>
                  <a:srgbClr val="F6FBFF"/>
                </a:solidFill>
              </a:defRPr>
            </a:lvl3pPr>
            <a:lvl4pPr>
              <a:defRPr sz="1950" b="1">
                <a:solidFill>
                  <a:srgbClr val="F6FBFF"/>
                </a:solidFill>
              </a:defRPr>
            </a:lvl4pPr>
            <a:lvl5pPr>
              <a:defRPr sz="1950" b="1">
                <a:solidFill>
                  <a:srgbClr val="F6FBFF"/>
                </a:solidFill>
              </a:defRPr>
            </a:lvl5pPr>
            <a:lvl6pPr>
              <a:defRPr sz="1950" b="1">
                <a:solidFill>
                  <a:srgbClr val="F6FBFF"/>
                </a:solidFill>
              </a:defRPr>
            </a:lvl6pPr>
            <a:lvl7pPr>
              <a:defRPr sz="1950" b="1">
                <a:solidFill>
                  <a:srgbClr val="F6FBFF"/>
                </a:solidFill>
              </a:defRPr>
            </a:lvl7pPr>
            <a:lvl8pPr>
              <a:defRPr sz="1950" b="1">
                <a:solidFill>
                  <a:srgbClr val="F6FBFF"/>
                </a:solidFill>
              </a:defRPr>
            </a:lvl8pPr>
            <a:lvl9pPr>
              <a:defRPr sz="195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F6FBFF"/>
                </a:solidFill>
              </a:defRPr>
            </a:pPr>
            <a:r>
              <a:rPr sz="1950" b="1">
                <a:solidFill>
                  <a:srgbClr val="F6FBFF"/>
                </a:solidFill>
              </a:rPr>
              <a:t>T1: A then B</a:t>
            </a:r>
          </a:p>
          <a:p xmlns:a="http://schemas.openxmlformats.org/drawingml/2006/main">
            <a:pPr>
              <a:defRPr sz="1950" b="1">
                <a:solidFill>
                  <a:srgbClr val="F6FBFF"/>
                </a:solidFill>
              </a:defRPr>
            </a:pPr>
            <a:r>
              <a:rPr sz="1950" b="1">
                <a:solidFill>
                  <a:srgbClr val="F6FBFF"/>
                </a:solidFill>
              </a:rPr>
              <a:t>T2: B then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67F73E-4627-4F27-B0F2-CDAAF30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56235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57D5E7"/>
                </a:solidFill>
              </a:defRPr>
            </a:defPPr>
            <a:lvl1pPr>
              <a:defRPr sz="2850" b="1">
                <a:solidFill>
                  <a:srgbClr val="57D5E7"/>
                </a:solidFill>
              </a:defRPr>
            </a:lvl1pPr>
            <a:lvl2pPr>
              <a:defRPr sz="2850" b="1">
                <a:solidFill>
                  <a:srgbClr val="57D5E7"/>
                </a:solidFill>
              </a:defRPr>
            </a:lvl2pPr>
            <a:lvl3pPr>
              <a:defRPr sz="2850" b="1">
                <a:solidFill>
                  <a:srgbClr val="57D5E7"/>
                </a:solidFill>
              </a:defRPr>
            </a:lvl3pPr>
            <a:lvl4pPr>
              <a:defRPr sz="2850" b="1">
                <a:solidFill>
                  <a:srgbClr val="57D5E7"/>
                </a:solidFill>
              </a:defRPr>
            </a:lvl4pPr>
            <a:lvl5pPr>
              <a:defRPr sz="2850" b="1">
                <a:solidFill>
                  <a:srgbClr val="57D5E7"/>
                </a:solidFill>
              </a:defRPr>
            </a:lvl5pPr>
            <a:lvl6pPr>
              <a:defRPr sz="2850" b="1">
                <a:solidFill>
                  <a:srgbClr val="57D5E7"/>
                </a:solidFill>
              </a:defRPr>
            </a:lvl6pPr>
            <a:lvl7pPr>
              <a:defRPr sz="2850" b="1">
                <a:solidFill>
                  <a:srgbClr val="57D5E7"/>
                </a:solidFill>
              </a:defRPr>
            </a:lvl7pPr>
            <a:lvl8pPr>
              <a:defRPr sz="2850" b="1">
                <a:solidFill>
                  <a:srgbClr val="57D5E7"/>
                </a:solidFill>
              </a:defRPr>
            </a:lvl8pPr>
            <a:lvl9pPr>
              <a:defRPr sz="28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57D5E7"/>
                </a:solidFill>
              </a:defRPr>
            </a:pPr>
            <a:r>
              <a:rPr sz="28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34740-0A1D-4D97-82EF-CA5E6CA6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003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FC476"/>
                </a:solidFill>
              </a:defRPr>
            </a:defPPr>
            <a:lvl1pPr>
              <a:defRPr sz="1575" b="1">
                <a:solidFill>
                  <a:srgbClr val="FFC476"/>
                </a:solidFill>
              </a:defRPr>
            </a:lvl1pPr>
            <a:lvl2pPr>
              <a:defRPr sz="1575" b="1">
                <a:solidFill>
                  <a:srgbClr val="FFC476"/>
                </a:solidFill>
              </a:defRPr>
            </a:lvl2pPr>
            <a:lvl3pPr>
              <a:defRPr sz="1575" b="1">
                <a:solidFill>
                  <a:srgbClr val="FFC476"/>
                </a:solidFill>
              </a:defRPr>
            </a:lvl3pPr>
            <a:lvl4pPr>
              <a:defRPr sz="1575" b="1">
                <a:solidFill>
                  <a:srgbClr val="FFC476"/>
                </a:solidFill>
              </a:defRPr>
            </a:lvl4pPr>
            <a:lvl5pPr>
              <a:defRPr sz="1575" b="1">
                <a:solidFill>
                  <a:srgbClr val="FFC476"/>
                </a:solidFill>
              </a:defRPr>
            </a:lvl5pPr>
            <a:lvl6pPr>
              <a:defRPr sz="1575" b="1">
                <a:solidFill>
                  <a:srgbClr val="FFC476"/>
                </a:solidFill>
              </a:defRPr>
            </a:lvl6pPr>
            <a:lvl7pPr>
              <a:defRPr sz="1575" b="1">
                <a:solidFill>
                  <a:srgbClr val="FFC476"/>
                </a:solidFill>
              </a:defRPr>
            </a:lvl7pPr>
            <a:lvl8pPr>
              <a:defRPr sz="1575" b="1">
                <a:solidFill>
                  <a:srgbClr val="FFC476"/>
                </a:solidFill>
              </a:defRPr>
            </a:lvl8pPr>
            <a:lvl9pPr>
              <a:defRPr sz="1575" b="1">
                <a:solidFill>
                  <a:srgbClr val="FFC476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FC476"/>
                </a:solidFill>
              </a:defRPr>
            </a:pPr>
            <a:r>
              <a:rPr sz="1575" b="1">
                <a:solidFill>
                  <a:srgbClr val="FFC476"/>
                </a:solidFill>
              </a:rPr>
              <a:t>OBSERVE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143AC-7DBF-436A-82FF-3A7967DC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6232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6FBFF"/>
                </a:solidFill>
              </a:defRPr>
            </a:defPPr>
            <a:lvl1pPr>
              <a:defRPr sz="1875" b="1">
                <a:solidFill>
                  <a:srgbClr val="F6FBFF"/>
                </a:solidFill>
              </a:defRPr>
            </a:lvl1pPr>
            <a:lvl2pPr>
              <a:defRPr sz="1875" b="1">
                <a:solidFill>
                  <a:srgbClr val="F6FBFF"/>
                </a:solidFill>
              </a:defRPr>
            </a:lvl2pPr>
            <a:lvl3pPr>
              <a:defRPr sz="1875" b="1">
                <a:solidFill>
                  <a:srgbClr val="F6FBFF"/>
                </a:solidFill>
              </a:defRPr>
            </a:lvl3pPr>
            <a:lvl4pPr>
              <a:defRPr sz="1875" b="1">
                <a:solidFill>
                  <a:srgbClr val="F6FBFF"/>
                </a:solidFill>
              </a:defRPr>
            </a:lvl4pPr>
            <a:lvl5pPr>
              <a:defRPr sz="1875" b="1">
                <a:solidFill>
                  <a:srgbClr val="F6FBFF"/>
                </a:solidFill>
              </a:defRPr>
            </a:lvl5pPr>
            <a:lvl6pPr>
              <a:defRPr sz="1875" b="1">
                <a:solidFill>
                  <a:srgbClr val="F6FBFF"/>
                </a:solidFill>
              </a:defRPr>
            </a:lvl6pPr>
            <a:lvl7pPr>
              <a:defRPr sz="1875" b="1">
                <a:solidFill>
                  <a:srgbClr val="F6FBFF"/>
                </a:solidFill>
              </a:defRPr>
            </a:lvl7pPr>
            <a:lvl8pPr>
              <a:defRPr sz="1875" b="1">
                <a:solidFill>
                  <a:srgbClr val="F6FBFF"/>
                </a:solidFill>
              </a:defRPr>
            </a:lvl8pPr>
            <a:lvl9pPr>
              <a:defRPr sz="18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6FBFF"/>
                </a:solidFill>
              </a:defRPr>
            </a:pPr>
            <a:r>
              <a:rPr sz="1875" b="1">
                <a:solidFill>
                  <a:srgbClr val="F6FBFF"/>
                </a:solidFill>
              </a:rPr>
              <a:t>Wait-For Graph</a:t>
            </a:r>
          </a:p>
          <a:p xmlns:a="http://schemas.openxmlformats.org/drawingml/2006/main">
            <a:pPr>
              <a:defRPr sz="1875" b="1">
                <a:solidFill>
                  <a:srgbClr val="F6FBFF"/>
                </a:solidFill>
              </a:defRPr>
            </a:pPr>
            <a:r>
              <a:rPr sz="1875" b="1">
                <a:solidFill>
                  <a:srgbClr val="F6FBFF"/>
                </a:solidFill>
              </a:rPr>
              <a:t>Risk score + trend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53CC9C-7F94-4FF6-801E-5B897E50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6235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57D5E7"/>
                </a:solidFill>
              </a:defRPr>
            </a:defPPr>
            <a:lvl1pPr>
              <a:defRPr sz="2850" b="1">
                <a:solidFill>
                  <a:srgbClr val="57D5E7"/>
                </a:solidFill>
              </a:defRPr>
            </a:lvl1pPr>
            <a:lvl2pPr>
              <a:defRPr sz="2850" b="1">
                <a:solidFill>
                  <a:srgbClr val="57D5E7"/>
                </a:solidFill>
              </a:defRPr>
            </a:lvl2pPr>
            <a:lvl3pPr>
              <a:defRPr sz="2850" b="1">
                <a:solidFill>
                  <a:srgbClr val="57D5E7"/>
                </a:solidFill>
              </a:defRPr>
            </a:lvl3pPr>
            <a:lvl4pPr>
              <a:defRPr sz="2850" b="1">
                <a:solidFill>
                  <a:srgbClr val="57D5E7"/>
                </a:solidFill>
              </a:defRPr>
            </a:lvl4pPr>
            <a:lvl5pPr>
              <a:defRPr sz="2850" b="1">
                <a:solidFill>
                  <a:srgbClr val="57D5E7"/>
                </a:solidFill>
              </a:defRPr>
            </a:lvl5pPr>
            <a:lvl6pPr>
              <a:defRPr sz="2850" b="1">
                <a:solidFill>
                  <a:srgbClr val="57D5E7"/>
                </a:solidFill>
              </a:defRPr>
            </a:lvl6pPr>
            <a:lvl7pPr>
              <a:defRPr sz="2850" b="1">
                <a:solidFill>
                  <a:srgbClr val="57D5E7"/>
                </a:solidFill>
              </a:defRPr>
            </a:lvl7pPr>
            <a:lvl8pPr>
              <a:defRPr sz="2850" b="1">
                <a:solidFill>
                  <a:srgbClr val="57D5E7"/>
                </a:solidFill>
              </a:defRPr>
            </a:lvl8pPr>
            <a:lvl9pPr>
              <a:defRPr sz="28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57D5E7"/>
                </a:solidFill>
              </a:defRPr>
            </a:pPr>
            <a:r>
              <a:rPr sz="28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2659DF-E025-4CBF-B081-6D636F08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03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63D7B1"/>
                </a:solidFill>
              </a:defRPr>
            </a:defPPr>
            <a:lvl1pPr>
              <a:defRPr sz="1575" b="1">
                <a:solidFill>
                  <a:srgbClr val="63D7B1"/>
                </a:solidFill>
              </a:defRPr>
            </a:lvl1pPr>
            <a:lvl2pPr>
              <a:defRPr sz="1575" b="1">
                <a:solidFill>
                  <a:srgbClr val="63D7B1"/>
                </a:solidFill>
              </a:defRPr>
            </a:lvl2pPr>
            <a:lvl3pPr>
              <a:defRPr sz="1575" b="1">
                <a:solidFill>
                  <a:srgbClr val="63D7B1"/>
                </a:solidFill>
              </a:defRPr>
            </a:lvl3pPr>
            <a:lvl4pPr>
              <a:defRPr sz="1575" b="1">
                <a:solidFill>
                  <a:srgbClr val="63D7B1"/>
                </a:solidFill>
              </a:defRPr>
            </a:lvl4pPr>
            <a:lvl5pPr>
              <a:defRPr sz="1575" b="1">
                <a:solidFill>
                  <a:srgbClr val="63D7B1"/>
                </a:solidFill>
              </a:defRPr>
            </a:lvl5pPr>
            <a:lvl6pPr>
              <a:defRPr sz="1575" b="1">
                <a:solidFill>
                  <a:srgbClr val="63D7B1"/>
                </a:solidFill>
              </a:defRPr>
            </a:lvl6pPr>
            <a:lvl7pPr>
              <a:defRPr sz="1575" b="1">
                <a:solidFill>
                  <a:srgbClr val="63D7B1"/>
                </a:solidFill>
              </a:defRPr>
            </a:lvl7pPr>
            <a:lvl8pPr>
              <a:defRPr sz="1575" b="1">
                <a:solidFill>
                  <a:srgbClr val="63D7B1"/>
                </a:solidFill>
              </a:defRPr>
            </a:lvl8pPr>
            <a:lvl9pPr>
              <a:defRPr sz="1575" b="1">
                <a:solidFill>
                  <a:srgbClr val="63D7B1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63D7B1"/>
                </a:solidFill>
              </a:defRPr>
            </a:pPr>
            <a:r>
              <a:rPr sz="1575" b="1">
                <a:solidFill>
                  <a:srgbClr val="63D7B1"/>
                </a:solidFill>
              </a:rPr>
              <a:t>PROTECT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10B97E-8130-4452-B46C-D408403C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62325"/>
            <a:ext cx="219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Probe → shared order</a:t>
            </a:r>
          </a:p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Both workers finish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00F24-53D1-488C-A800-A9DCEF84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AEC4D3"/>
                </a:solidFill>
              </a:defRPr>
            </a:defPPr>
            <a:lvl1pPr>
              <a:defRPr sz="1500" b="0">
                <a:solidFill>
                  <a:srgbClr val="AEC4D3"/>
                </a:solidFill>
              </a:defRPr>
            </a:lvl1pPr>
            <a:lvl2pPr>
              <a:defRPr sz="1500" b="0">
                <a:solidFill>
                  <a:srgbClr val="AEC4D3"/>
                </a:solidFill>
              </a:defRPr>
            </a:lvl2pPr>
            <a:lvl3pPr>
              <a:defRPr sz="1500" b="0">
                <a:solidFill>
                  <a:srgbClr val="AEC4D3"/>
                </a:solidFill>
              </a:defRPr>
            </a:lvl3pPr>
            <a:lvl4pPr>
              <a:defRPr sz="1500" b="0">
                <a:solidFill>
                  <a:srgbClr val="AEC4D3"/>
                </a:solidFill>
              </a:defRPr>
            </a:lvl4pPr>
            <a:lvl5pPr>
              <a:defRPr sz="1500" b="0">
                <a:solidFill>
                  <a:srgbClr val="AEC4D3"/>
                </a:solidFill>
              </a:defRPr>
            </a:lvl5pPr>
            <a:lvl6pPr>
              <a:defRPr sz="1500" b="0">
                <a:solidFill>
                  <a:srgbClr val="AEC4D3"/>
                </a:solidFill>
              </a:defRPr>
            </a:lvl6pPr>
            <a:lvl7pPr>
              <a:defRPr sz="1500" b="0">
                <a:solidFill>
                  <a:srgbClr val="AEC4D3"/>
                </a:solidFill>
              </a:defRPr>
            </a:lvl7pPr>
            <a:lvl8pPr>
              <a:defRPr sz="1500" b="0">
                <a:solidFill>
                  <a:srgbClr val="AEC4D3"/>
                </a:solidFill>
              </a:defRPr>
            </a:lvl8pPr>
            <a:lvl9pPr>
              <a:defRPr sz="1500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EC4D3"/>
                </a:solidFill>
              </a:defRPr>
            </a:pPr>
            <a:r>
              <a:rPr sz="1500" b="0">
                <a:solidFill>
                  <a:srgbClr val="AEC4D3"/>
                </a:solidFill>
              </a:rPr>
              <a:t>Team: Midhun Gereketi · P. Satya Mani Shraavanth · M. Lakshman Sai</a:t>
            </a:r>
          </a:p>
        </p:txBody>
      </p:sp>
    </p:spTree>
    <p:extLst>
      <p:ext uri="{BB962C8B-B14F-4D97-AF65-F5344CB8AC3E}">
        <p14:creationId xmlns:p14="http://schemas.microsoft.com/office/powerpoint/2010/main" val="7983995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026239-DDC7-41CC-942E-81135491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PREDICTIVE DEADLOCK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D9893-4EBC-41A3-830F-DE79DB6A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How the vulnerable run deadlocks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79E4C-883C-4D7F-9D41-CCC4779F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C484B-91B8-4D31-A937-4555C02E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B4269-258D-4B79-AA90-3F1FC6C5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3A9E4-5E2D-4BD6-B5FB-4A0C62DE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EC4D3"/>
                </a:solidFill>
              </a:defRPr>
            </a:defPPr>
            <a:lvl1pPr>
              <a:defRPr sz="1650" b="0">
                <a:solidFill>
                  <a:srgbClr val="AEC4D3"/>
                </a:solidFill>
              </a:defRPr>
            </a:lvl1pPr>
            <a:lvl2pPr>
              <a:defRPr sz="1650" b="0">
                <a:solidFill>
                  <a:srgbClr val="AEC4D3"/>
                </a:solidFill>
              </a:defRPr>
            </a:lvl2pPr>
            <a:lvl3pPr>
              <a:defRPr sz="1650" b="0">
                <a:solidFill>
                  <a:srgbClr val="AEC4D3"/>
                </a:solidFill>
              </a:defRPr>
            </a:lvl3pPr>
            <a:lvl4pPr>
              <a:defRPr sz="1650" b="0">
                <a:solidFill>
                  <a:srgbClr val="AEC4D3"/>
                </a:solidFill>
              </a:defRPr>
            </a:lvl4pPr>
            <a:lvl5pPr>
              <a:defRPr sz="1650" b="0">
                <a:solidFill>
                  <a:srgbClr val="AEC4D3"/>
                </a:solidFill>
              </a:defRPr>
            </a:lvl5pPr>
            <a:lvl6pPr>
              <a:defRPr sz="1650" b="0">
                <a:solidFill>
                  <a:srgbClr val="AEC4D3"/>
                </a:solidFill>
              </a:defRPr>
            </a:lvl6pPr>
            <a:lvl7pPr>
              <a:defRPr sz="1650" b="0">
                <a:solidFill>
                  <a:srgbClr val="AEC4D3"/>
                </a:solidFill>
              </a:defRPr>
            </a:lvl7pPr>
            <a:lvl8pPr>
              <a:defRPr sz="1650" b="0">
                <a:solidFill>
                  <a:srgbClr val="AEC4D3"/>
                </a:solidFill>
              </a:defRPr>
            </a:lvl8pPr>
            <a:lvl9pPr>
              <a:defRPr sz="1650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EC4D3"/>
                </a:solidFill>
              </a:defRPr>
            </a:pPr>
            <a:r>
              <a:rPr sz="1650" b="0">
                <a:solidFill>
                  <a:srgbClr val="AEC4D3"/>
                </a:solidFill>
              </a:rPr>
              <a:t>Two real threads, two single-instance mutexes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40D6F-DDF7-41FD-936C-873D0BFD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953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240E23-45C1-41CD-8B96-33129611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4953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11D1E-A9D8-4A56-8264-F2A36D0C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F6D83"/>
                </a:solidFill>
              </a:defRPr>
            </a:defPPr>
            <a:lvl1pPr>
              <a:defRPr sz="1500" b="1">
                <a:solidFill>
                  <a:srgbClr val="FF6D83"/>
                </a:solidFill>
              </a:defRPr>
            </a:lvl1pPr>
            <a:lvl2pPr>
              <a:defRPr sz="1500" b="1">
                <a:solidFill>
                  <a:srgbClr val="FF6D83"/>
                </a:solidFill>
              </a:defRPr>
            </a:lvl2pPr>
            <a:lvl3pPr>
              <a:defRPr sz="1500" b="1">
                <a:solidFill>
                  <a:srgbClr val="FF6D83"/>
                </a:solidFill>
              </a:defRPr>
            </a:lvl3pPr>
            <a:lvl4pPr>
              <a:defRPr sz="1500" b="1">
                <a:solidFill>
                  <a:srgbClr val="FF6D83"/>
                </a:solidFill>
              </a:defRPr>
            </a:lvl4pPr>
            <a:lvl5pPr>
              <a:defRPr sz="1500" b="1">
                <a:solidFill>
                  <a:srgbClr val="FF6D83"/>
                </a:solidFill>
              </a:defRPr>
            </a:lvl5pPr>
            <a:lvl6pPr>
              <a:defRPr sz="1500" b="1">
                <a:solidFill>
                  <a:srgbClr val="FF6D83"/>
                </a:solidFill>
              </a:defRPr>
            </a:lvl6pPr>
            <a:lvl7pPr>
              <a:defRPr sz="1500" b="1">
                <a:solidFill>
                  <a:srgbClr val="FF6D83"/>
                </a:solidFill>
              </a:defRPr>
            </a:lvl7pPr>
            <a:lvl8pPr>
              <a:defRPr sz="1500" b="1">
                <a:solidFill>
                  <a:srgbClr val="FF6D83"/>
                </a:solidFill>
              </a:defRPr>
            </a:lvl8pPr>
            <a:lvl9pPr>
              <a:defRPr sz="1500" b="1">
                <a:solidFill>
                  <a:srgbClr val="FF6D8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6D83"/>
                </a:solidFill>
              </a:defRPr>
            </a:pPr>
            <a:r>
              <a:rPr sz="1500" b="1">
                <a:solidFill>
                  <a:srgbClr val="FF6D83"/>
                </a:solidFill>
              </a:rPr>
              <a:t>THREAD 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0ED6A-7027-40CB-B4C5-F77F50B8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67025"/>
            <a:ext cx="4191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F6FBFF"/>
                </a:solidFill>
              </a:defRPr>
            </a:defPPr>
            <a:lvl1pPr>
              <a:defRPr sz="2175" b="1">
                <a:solidFill>
                  <a:srgbClr val="F6FBFF"/>
                </a:solidFill>
              </a:defRPr>
            </a:lvl1pPr>
            <a:lvl2pPr>
              <a:defRPr sz="2175" b="1">
                <a:solidFill>
                  <a:srgbClr val="F6FBFF"/>
                </a:solidFill>
              </a:defRPr>
            </a:lvl2pPr>
            <a:lvl3pPr>
              <a:defRPr sz="2175" b="1">
                <a:solidFill>
                  <a:srgbClr val="F6FBFF"/>
                </a:solidFill>
              </a:defRPr>
            </a:lvl3pPr>
            <a:lvl4pPr>
              <a:defRPr sz="2175" b="1">
                <a:solidFill>
                  <a:srgbClr val="F6FBFF"/>
                </a:solidFill>
              </a:defRPr>
            </a:lvl4pPr>
            <a:lvl5pPr>
              <a:defRPr sz="2175" b="1">
                <a:solidFill>
                  <a:srgbClr val="F6FBFF"/>
                </a:solidFill>
              </a:defRPr>
            </a:lvl5pPr>
            <a:lvl6pPr>
              <a:defRPr sz="2175" b="1">
                <a:solidFill>
                  <a:srgbClr val="F6FBFF"/>
                </a:solidFill>
              </a:defRPr>
            </a:lvl6pPr>
            <a:lvl7pPr>
              <a:defRPr sz="2175" b="1">
                <a:solidFill>
                  <a:srgbClr val="F6FBFF"/>
                </a:solidFill>
              </a:defRPr>
            </a:lvl7pPr>
            <a:lvl8pPr>
              <a:defRPr sz="2175" b="1">
                <a:solidFill>
                  <a:srgbClr val="F6FBFF"/>
                </a:solidFill>
              </a:defRPr>
            </a:lvl8pPr>
            <a:lvl9pPr>
              <a:defRPr sz="21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6FBFF"/>
                </a:solidFill>
              </a:defRPr>
            </a:pPr>
            <a:r>
              <a:rPr sz="2175" b="1">
                <a:solidFill>
                  <a:srgbClr val="F6FBFF"/>
                </a:solidFill>
              </a:rPr>
              <a:t>1  Acquire A</a:t>
            </a:r>
          </a:p>
          <a:p xmlns:a="http://schemas.openxmlformats.org/drawingml/2006/main">
            <a:pPr>
              <a:defRPr sz="2175" b="1">
                <a:solidFill>
                  <a:srgbClr val="F6FBFF"/>
                </a:solidFill>
              </a:defRPr>
            </a:pPr>
            <a:r>
              <a:rPr sz="2175" b="1">
                <a:solidFill>
                  <a:srgbClr val="F6FBFF"/>
                </a:solidFill>
              </a:rPr>
              <a:t>2  Request B</a:t>
            </a:r>
          </a:p>
          <a:p xmlns:a="http://schemas.openxmlformats.org/drawingml/2006/main">
            <a:pPr>
              <a:defRPr sz="2175" b="1">
                <a:solidFill>
                  <a:srgbClr val="F6FBFF"/>
                </a:solidFill>
              </a:defRPr>
            </a:pPr>
            <a:r>
              <a:rPr sz="2175" b="1">
                <a:solidFill>
                  <a:srgbClr val="F6FBFF"/>
                </a:solidFill>
              </a:rPr>
              <a:t>3  Wait for T2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C886B-331D-4C3F-AFF7-D919C6C9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F6D83"/>
                </a:solidFill>
              </a:defRPr>
            </a:defPPr>
            <a:lvl1pPr>
              <a:defRPr sz="1500" b="1">
                <a:solidFill>
                  <a:srgbClr val="FF6D83"/>
                </a:solidFill>
              </a:defRPr>
            </a:lvl1pPr>
            <a:lvl2pPr>
              <a:defRPr sz="1500" b="1">
                <a:solidFill>
                  <a:srgbClr val="FF6D83"/>
                </a:solidFill>
              </a:defRPr>
            </a:lvl2pPr>
            <a:lvl3pPr>
              <a:defRPr sz="1500" b="1">
                <a:solidFill>
                  <a:srgbClr val="FF6D83"/>
                </a:solidFill>
              </a:defRPr>
            </a:lvl3pPr>
            <a:lvl4pPr>
              <a:defRPr sz="1500" b="1">
                <a:solidFill>
                  <a:srgbClr val="FF6D83"/>
                </a:solidFill>
              </a:defRPr>
            </a:lvl4pPr>
            <a:lvl5pPr>
              <a:defRPr sz="1500" b="1">
                <a:solidFill>
                  <a:srgbClr val="FF6D83"/>
                </a:solidFill>
              </a:defRPr>
            </a:lvl5pPr>
            <a:lvl6pPr>
              <a:defRPr sz="1500" b="1">
                <a:solidFill>
                  <a:srgbClr val="FF6D83"/>
                </a:solidFill>
              </a:defRPr>
            </a:lvl6pPr>
            <a:lvl7pPr>
              <a:defRPr sz="1500" b="1">
                <a:solidFill>
                  <a:srgbClr val="FF6D83"/>
                </a:solidFill>
              </a:defRPr>
            </a:lvl7pPr>
            <a:lvl8pPr>
              <a:defRPr sz="1500" b="1">
                <a:solidFill>
                  <a:srgbClr val="FF6D83"/>
                </a:solidFill>
              </a:defRPr>
            </a:lvl8pPr>
            <a:lvl9pPr>
              <a:defRPr sz="1500" b="1">
                <a:solidFill>
                  <a:srgbClr val="FF6D8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6D83"/>
                </a:solidFill>
              </a:defRPr>
            </a:pPr>
            <a:r>
              <a:rPr sz="1500" b="1">
                <a:solidFill>
                  <a:srgbClr val="FF6D83"/>
                </a:solidFill>
              </a:rPr>
              <a:t>THREAD T2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6CDA0-AC0D-4B5D-BE5D-C09B5372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67025"/>
            <a:ext cx="4191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F6FBFF"/>
                </a:solidFill>
              </a:defRPr>
            </a:defPPr>
            <a:lvl1pPr>
              <a:defRPr sz="2175" b="1">
                <a:solidFill>
                  <a:srgbClr val="F6FBFF"/>
                </a:solidFill>
              </a:defRPr>
            </a:lvl1pPr>
            <a:lvl2pPr>
              <a:defRPr sz="2175" b="1">
                <a:solidFill>
                  <a:srgbClr val="F6FBFF"/>
                </a:solidFill>
              </a:defRPr>
            </a:lvl2pPr>
            <a:lvl3pPr>
              <a:defRPr sz="2175" b="1">
                <a:solidFill>
                  <a:srgbClr val="F6FBFF"/>
                </a:solidFill>
              </a:defRPr>
            </a:lvl3pPr>
            <a:lvl4pPr>
              <a:defRPr sz="2175" b="1">
                <a:solidFill>
                  <a:srgbClr val="F6FBFF"/>
                </a:solidFill>
              </a:defRPr>
            </a:lvl4pPr>
            <a:lvl5pPr>
              <a:defRPr sz="2175" b="1">
                <a:solidFill>
                  <a:srgbClr val="F6FBFF"/>
                </a:solidFill>
              </a:defRPr>
            </a:lvl5pPr>
            <a:lvl6pPr>
              <a:defRPr sz="2175" b="1">
                <a:solidFill>
                  <a:srgbClr val="F6FBFF"/>
                </a:solidFill>
              </a:defRPr>
            </a:lvl6pPr>
            <a:lvl7pPr>
              <a:defRPr sz="2175" b="1">
                <a:solidFill>
                  <a:srgbClr val="F6FBFF"/>
                </a:solidFill>
              </a:defRPr>
            </a:lvl7pPr>
            <a:lvl8pPr>
              <a:defRPr sz="2175" b="1">
                <a:solidFill>
                  <a:srgbClr val="F6FBFF"/>
                </a:solidFill>
              </a:defRPr>
            </a:lvl8pPr>
            <a:lvl9pPr>
              <a:defRPr sz="21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6FBFF"/>
                </a:solidFill>
              </a:defRPr>
            </a:pPr>
            <a:r>
              <a:rPr sz="2175" b="1">
                <a:solidFill>
                  <a:srgbClr val="F6FBFF"/>
                </a:solidFill>
              </a:rPr>
              <a:t>1  Acquire B</a:t>
            </a:r>
          </a:p>
          <a:p xmlns:a="http://schemas.openxmlformats.org/drawingml/2006/main">
            <a:pPr>
              <a:defRPr sz="2175" b="1">
                <a:solidFill>
                  <a:srgbClr val="F6FBFF"/>
                </a:solidFill>
              </a:defRPr>
            </a:pPr>
            <a:r>
              <a:rPr sz="2175" b="1">
                <a:solidFill>
                  <a:srgbClr val="F6FBFF"/>
                </a:solidFill>
              </a:rPr>
              <a:t>2  Request A</a:t>
            </a:r>
          </a:p>
          <a:p xmlns:a="http://schemas.openxmlformats.org/drawingml/2006/main">
            <a:pPr>
              <a:defRPr sz="2175" b="1">
                <a:solidFill>
                  <a:srgbClr val="F6FBFF"/>
                </a:solidFill>
              </a:defRPr>
            </a:pPr>
            <a:r>
              <a:rPr sz="2175" b="1">
                <a:solidFill>
                  <a:srgbClr val="F6FBFF"/>
                </a:solidFill>
              </a:rPr>
              <a:t>3  Wait for T1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2DBF8-DCEE-4A75-B457-E20AF90C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9051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FC476"/>
                </a:solidFill>
              </a:defRPr>
            </a:defPPr>
            <a:lvl1pPr>
              <a:defRPr sz="1425" b="1">
                <a:solidFill>
                  <a:srgbClr val="FFC476"/>
                </a:solidFill>
              </a:defRPr>
            </a:lvl1pPr>
            <a:lvl2pPr>
              <a:defRPr sz="1425" b="1">
                <a:solidFill>
                  <a:srgbClr val="FFC476"/>
                </a:solidFill>
              </a:defRPr>
            </a:lvl2pPr>
            <a:lvl3pPr>
              <a:defRPr sz="1425" b="1">
                <a:solidFill>
                  <a:srgbClr val="FFC476"/>
                </a:solidFill>
              </a:defRPr>
            </a:lvl3pPr>
            <a:lvl4pPr>
              <a:defRPr sz="1425" b="1">
                <a:solidFill>
                  <a:srgbClr val="FFC476"/>
                </a:solidFill>
              </a:defRPr>
            </a:lvl4pPr>
            <a:lvl5pPr>
              <a:defRPr sz="1425" b="1">
                <a:solidFill>
                  <a:srgbClr val="FFC476"/>
                </a:solidFill>
              </a:defRPr>
            </a:lvl5pPr>
            <a:lvl6pPr>
              <a:defRPr sz="1425" b="1">
                <a:solidFill>
                  <a:srgbClr val="FFC476"/>
                </a:solidFill>
              </a:defRPr>
            </a:lvl6pPr>
            <a:lvl7pPr>
              <a:defRPr sz="1425" b="1">
                <a:solidFill>
                  <a:srgbClr val="FFC476"/>
                </a:solidFill>
              </a:defRPr>
            </a:lvl7pPr>
            <a:lvl8pPr>
              <a:defRPr sz="1425" b="1">
                <a:solidFill>
                  <a:srgbClr val="FFC476"/>
                </a:solidFill>
              </a:defRPr>
            </a:lvl8pPr>
            <a:lvl9pPr>
              <a:defRPr sz="1425" b="1">
                <a:solidFill>
                  <a:srgbClr val="FFC476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FFC476"/>
                </a:solidFill>
              </a:defRPr>
            </a:pPr>
            <a:r>
              <a:rPr sz="1425" b="1">
                <a:solidFill>
                  <a:srgbClr val="FFC476"/>
                </a:solidFill>
              </a:rPr>
              <a:t>T1 -&gt; 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51C1AD-1738-4717-8D03-D9934BB5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57600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FFC476"/>
                </a:solidFill>
              </a:defRPr>
            </a:defPPr>
            <a:lvl1pPr>
              <a:defRPr sz="1425" b="1">
                <a:solidFill>
                  <a:srgbClr val="FFC476"/>
                </a:solidFill>
              </a:defRPr>
            </a:lvl1pPr>
            <a:lvl2pPr>
              <a:defRPr sz="1425" b="1">
                <a:solidFill>
                  <a:srgbClr val="FFC476"/>
                </a:solidFill>
              </a:defRPr>
            </a:lvl2pPr>
            <a:lvl3pPr>
              <a:defRPr sz="1425" b="1">
                <a:solidFill>
                  <a:srgbClr val="FFC476"/>
                </a:solidFill>
              </a:defRPr>
            </a:lvl3pPr>
            <a:lvl4pPr>
              <a:defRPr sz="1425" b="1">
                <a:solidFill>
                  <a:srgbClr val="FFC476"/>
                </a:solidFill>
              </a:defRPr>
            </a:lvl4pPr>
            <a:lvl5pPr>
              <a:defRPr sz="1425" b="1">
                <a:solidFill>
                  <a:srgbClr val="FFC476"/>
                </a:solidFill>
              </a:defRPr>
            </a:lvl5pPr>
            <a:lvl6pPr>
              <a:defRPr sz="1425" b="1">
                <a:solidFill>
                  <a:srgbClr val="FFC476"/>
                </a:solidFill>
              </a:defRPr>
            </a:lvl6pPr>
            <a:lvl7pPr>
              <a:defRPr sz="1425" b="1">
                <a:solidFill>
                  <a:srgbClr val="FFC476"/>
                </a:solidFill>
              </a:defRPr>
            </a:lvl7pPr>
            <a:lvl8pPr>
              <a:defRPr sz="1425" b="1">
                <a:solidFill>
                  <a:srgbClr val="FFC476"/>
                </a:solidFill>
              </a:defRPr>
            </a:lvl8pPr>
            <a:lvl9pPr>
              <a:defRPr sz="1425" b="1">
                <a:solidFill>
                  <a:srgbClr val="FFC476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FFC476"/>
                </a:solidFill>
              </a:defRPr>
            </a:pPr>
            <a:r>
              <a:rPr sz="1425" b="1">
                <a:solidFill>
                  <a:srgbClr val="FFC476"/>
                </a:solidFill>
              </a:rPr>
              <a:t>T2 -&gt; T1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AB5B13-073F-475E-A9BC-68B05DEE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11049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D83"/>
          </a:solidFill>
          <a:ln xmlns:a="http://schemas.openxmlformats.org/drawingml/2006/main" w="9525">
            <a:solidFill>
              <a:srgbClr val="FF6D8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F83E6B-2C3D-453A-9DB2-F11BC389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3877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1220"/>
                </a:solidFill>
              </a:defRPr>
            </a:defPPr>
            <a:lvl1pPr>
              <a:defRPr sz="2100" b="1">
                <a:solidFill>
                  <a:srgbClr val="0B1220"/>
                </a:solidFill>
              </a:defRPr>
            </a:lvl1pPr>
            <a:lvl2pPr>
              <a:defRPr sz="2100" b="1">
                <a:solidFill>
                  <a:srgbClr val="0B1220"/>
                </a:solidFill>
              </a:defRPr>
            </a:lvl2pPr>
            <a:lvl3pPr>
              <a:defRPr sz="2100" b="1">
                <a:solidFill>
                  <a:srgbClr val="0B1220"/>
                </a:solidFill>
              </a:defRPr>
            </a:lvl3pPr>
            <a:lvl4pPr>
              <a:defRPr sz="2100" b="1">
                <a:solidFill>
                  <a:srgbClr val="0B1220"/>
                </a:solidFill>
              </a:defRPr>
            </a:lvl4pPr>
            <a:lvl5pPr>
              <a:defRPr sz="2100" b="1">
                <a:solidFill>
                  <a:srgbClr val="0B1220"/>
                </a:solidFill>
              </a:defRPr>
            </a:lvl5pPr>
            <a:lvl6pPr>
              <a:defRPr sz="2100" b="1">
                <a:solidFill>
                  <a:srgbClr val="0B1220"/>
                </a:solidFill>
              </a:defRPr>
            </a:lvl6pPr>
            <a:lvl7pPr>
              <a:defRPr sz="2100" b="1">
                <a:solidFill>
                  <a:srgbClr val="0B1220"/>
                </a:solidFill>
              </a:defRPr>
            </a:lvl7pPr>
            <a:lvl8pPr>
              <a:defRPr sz="2100" b="1">
                <a:solidFill>
                  <a:srgbClr val="0B1220"/>
                </a:solidFill>
              </a:defRPr>
            </a:lvl8pPr>
            <a:lvl9pPr>
              <a:defRPr sz="2100" b="1">
                <a:solidFill>
                  <a:srgbClr val="0B1220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B1220"/>
                </a:solidFill>
              </a:defRPr>
            </a:pPr>
            <a:r>
              <a:rPr sz="2100" b="1">
                <a:solidFill>
                  <a:srgbClr val="0B1220"/>
                </a:solidFill>
              </a:rPr>
              <a:t>Wait-For Graph cycle = confirmed deadlock</a:t>
            </a:r>
          </a:p>
        </p:txBody>
      </p:sp>
    </p:spTree>
    <p:extLst>
      <p:ext uri="{BB962C8B-B14F-4D97-AF65-F5344CB8AC3E}">
        <p14:creationId xmlns:p14="http://schemas.microsoft.com/office/powerpoint/2010/main" val="2118018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26A9AA-83DD-4400-91A0-095093B6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PREDICTIVE DEADLOCK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1ED03-827D-4DBD-8BD7-F784EF15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One event stream feeds every 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330AF-8968-4501-BCD5-BAA0F125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F7E75-78AF-4641-8BA8-28D41DC7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4748A-CE39-4F56-A59B-4FE39204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51389-0CB6-4FD0-A28C-DB408220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905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FD4DC-1CC7-47B8-AC85-9D636672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8602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7D5E7"/>
                </a:solidFill>
              </a:defRPr>
            </a:defPPr>
            <a:lvl1pPr>
              <a:defRPr sz="1425" b="1">
                <a:solidFill>
                  <a:srgbClr val="57D5E7"/>
                </a:solidFill>
              </a:defRPr>
            </a:lvl1pPr>
            <a:lvl2pPr>
              <a:defRPr sz="1425" b="1">
                <a:solidFill>
                  <a:srgbClr val="57D5E7"/>
                </a:solidFill>
              </a:defRPr>
            </a:lvl2pPr>
            <a:lvl3pPr>
              <a:defRPr sz="1425" b="1">
                <a:solidFill>
                  <a:srgbClr val="57D5E7"/>
                </a:solidFill>
              </a:defRPr>
            </a:lvl3pPr>
            <a:lvl4pPr>
              <a:defRPr sz="1425" b="1">
                <a:solidFill>
                  <a:srgbClr val="57D5E7"/>
                </a:solidFill>
              </a:defRPr>
            </a:lvl4pPr>
            <a:lvl5pPr>
              <a:defRPr sz="1425" b="1">
                <a:solidFill>
                  <a:srgbClr val="57D5E7"/>
                </a:solidFill>
              </a:defRPr>
            </a:lvl5pPr>
            <a:lvl6pPr>
              <a:defRPr sz="1425" b="1">
                <a:solidFill>
                  <a:srgbClr val="57D5E7"/>
                </a:solidFill>
              </a:defRPr>
            </a:lvl6pPr>
            <a:lvl7pPr>
              <a:defRPr sz="1425" b="1">
                <a:solidFill>
                  <a:srgbClr val="57D5E7"/>
                </a:solidFill>
              </a:defRPr>
            </a:lvl7pPr>
            <a:lvl8pPr>
              <a:defRPr sz="1425" b="1">
                <a:solidFill>
                  <a:srgbClr val="57D5E7"/>
                </a:solidFill>
              </a:defRPr>
            </a:lvl8pPr>
            <a:lvl9pPr>
              <a:defRPr sz="14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7D5E7"/>
                </a:solidFill>
              </a:defRPr>
            </a:pPr>
            <a:r>
              <a:rPr sz="1425" b="1">
                <a:solidFill>
                  <a:srgbClr val="57D5E7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2B543-B8CD-48C6-94D3-DAD98EDE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571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6FBFF"/>
                </a:solidFill>
              </a:defRPr>
            </a:defPPr>
            <a:lvl1pPr>
              <a:defRPr sz="1725" b="1">
                <a:solidFill>
                  <a:srgbClr val="F6FBFF"/>
                </a:solidFill>
              </a:defRPr>
            </a:lvl1pPr>
            <a:lvl2pPr>
              <a:defRPr sz="1725" b="1">
                <a:solidFill>
                  <a:srgbClr val="F6FBFF"/>
                </a:solidFill>
              </a:defRPr>
            </a:lvl2pPr>
            <a:lvl3pPr>
              <a:defRPr sz="1725" b="1">
                <a:solidFill>
                  <a:srgbClr val="F6FBFF"/>
                </a:solidFill>
              </a:defRPr>
            </a:lvl3pPr>
            <a:lvl4pPr>
              <a:defRPr sz="1725" b="1">
                <a:solidFill>
                  <a:srgbClr val="F6FBFF"/>
                </a:solidFill>
              </a:defRPr>
            </a:lvl4pPr>
            <a:lvl5pPr>
              <a:defRPr sz="1725" b="1">
                <a:solidFill>
                  <a:srgbClr val="F6FBFF"/>
                </a:solidFill>
              </a:defRPr>
            </a:lvl5pPr>
            <a:lvl6pPr>
              <a:defRPr sz="1725" b="1">
                <a:solidFill>
                  <a:srgbClr val="F6FBFF"/>
                </a:solidFill>
              </a:defRPr>
            </a:lvl6pPr>
            <a:lvl7pPr>
              <a:defRPr sz="1725" b="1">
                <a:solidFill>
                  <a:srgbClr val="F6FBFF"/>
                </a:solidFill>
              </a:defRPr>
            </a:lvl7pPr>
            <a:lvl8pPr>
              <a:defRPr sz="1725" b="1">
                <a:solidFill>
                  <a:srgbClr val="F6FBFF"/>
                </a:solidFill>
              </a:defRPr>
            </a:lvl8pPr>
            <a:lvl9pPr>
              <a:defRPr sz="172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6FBFF"/>
                </a:solidFill>
              </a:defRPr>
            </a:pPr>
            <a:r>
              <a:rPr sz="1725" b="1">
                <a:solidFill>
                  <a:srgbClr val="F6FBFF"/>
                </a:solidFill>
              </a:rPr>
              <a:t>Python threads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BA24B-74CA-4A2D-89BB-1129B0B9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24175"/>
            <a:ext cx="38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7D5E7"/>
                </a:solidFill>
              </a:defRPr>
            </a:defPPr>
            <a:lvl1pPr>
              <a:defRPr sz="2250" b="1">
                <a:solidFill>
                  <a:srgbClr val="57D5E7"/>
                </a:solidFill>
              </a:defRPr>
            </a:lvl1pPr>
            <a:lvl2pPr>
              <a:defRPr sz="2250" b="1">
                <a:solidFill>
                  <a:srgbClr val="57D5E7"/>
                </a:solidFill>
              </a:defRPr>
            </a:lvl2pPr>
            <a:lvl3pPr>
              <a:defRPr sz="2250" b="1">
                <a:solidFill>
                  <a:srgbClr val="57D5E7"/>
                </a:solidFill>
              </a:defRPr>
            </a:lvl3pPr>
            <a:lvl4pPr>
              <a:defRPr sz="2250" b="1">
                <a:solidFill>
                  <a:srgbClr val="57D5E7"/>
                </a:solidFill>
              </a:defRPr>
            </a:lvl4pPr>
            <a:lvl5pPr>
              <a:defRPr sz="2250" b="1">
                <a:solidFill>
                  <a:srgbClr val="57D5E7"/>
                </a:solidFill>
              </a:defRPr>
            </a:lvl5pPr>
            <a:lvl6pPr>
              <a:defRPr sz="2250" b="1">
                <a:solidFill>
                  <a:srgbClr val="57D5E7"/>
                </a:solidFill>
              </a:defRPr>
            </a:lvl6pPr>
            <a:lvl7pPr>
              <a:defRPr sz="2250" b="1">
                <a:solidFill>
                  <a:srgbClr val="57D5E7"/>
                </a:solidFill>
              </a:defRPr>
            </a:lvl7pPr>
            <a:lvl8pPr>
              <a:defRPr sz="2250" b="1">
                <a:solidFill>
                  <a:srgbClr val="57D5E7"/>
                </a:solidFill>
              </a:defRPr>
            </a:lvl8pPr>
            <a:lvl9pPr>
              <a:defRPr sz="22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57D5E7"/>
                </a:solidFill>
              </a:defRPr>
            </a:pPr>
            <a:r>
              <a:rPr sz="22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A20279-C6F1-4279-85A4-FEE6D84E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05050"/>
            <a:ext cx="1905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F2D20-7DF2-4539-9F06-62DB0510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8602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7D5E7"/>
                </a:solidFill>
              </a:defRPr>
            </a:defPPr>
            <a:lvl1pPr>
              <a:defRPr sz="1425" b="1">
                <a:solidFill>
                  <a:srgbClr val="57D5E7"/>
                </a:solidFill>
              </a:defRPr>
            </a:lvl1pPr>
            <a:lvl2pPr>
              <a:defRPr sz="1425" b="1">
                <a:solidFill>
                  <a:srgbClr val="57D5E7"/>
                </a:solidFill>
              </a:defRPr>
            </a:lvl2pPr>
            <a:lvl3pPr>
              <a:defRPr sz="1425" b="1">
                <a:solidFill>
                  <a:srgbClr val="57D5E7"/>
                </a:solidFill>
              </a:defRPr>
            </a:lvl3pPr>
            <a:lvl4pPr>
              <a:defRPr sz="1425" b="1">
                <a:solidFill>
                  <a:srgbClr val="57D5E7"/>
                </a:solidFill>
              </a:defRPr>
            </a:lvl4pPr>
            <a:lvl5pPr>
              <a:defRPr sz="1425" b="1">
                <a:solidFill>
                  <a:srgbClr val="57D5E7"/>
                </a:solidFill>
              </a:defRPr>
            </a:lvl5pPr>
            <a:lvl6pPr>
              <a:defRPr sz="1425" b="1">
                <a:solidFill>
                  <a:srgbClr val="57D5E7"/>
                </a:solidFill>
              </a:defRPr>
            </a:lvl6pPr>
            <a:lvl7pPr>
              <a:defRPr sz="1425" b="1">
                <a:solidFill>
                  <a:srgbClr val="57D5E7"/>
                </a:solidFill>
              </a:defRPr>
            </a:lvl7pPr>
            <a:lvl8pPr>
              <a:defRPr sz="1425" b="1">
                <a:solidFill>
                  <a:srgbClr val="57D5E7"/>
                </a:solidFill>
              </a:defRPr>
            </a:lvl8pPr>
            <a:lvl9pPr>
              <a:defRPr sz="14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7D5E7"/>
                </a:solidFill>
              </a:defRPr>
            </a:pPr>
            <a:r>
              <a:rPr sz="1425" b="1">
                <a:solidFill>
                  <a:srgbClr val="57D5E7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8360C-5DB6-46CF-A28E-3C6B36C3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52750"/>
            <a:ext cx="1571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6FBFF"/>
                </a:solidFill>
              </a:defRPr>
            </a:defPPr>
            <a:lvl1pPr>
              <a:defRPr sz="1725" b="1">
                <a:solidFill>
                  <a:srgbClr val="F6FBFF"/>
                </a:solidFill>
              </a:defRPr>
            </a:lvl1pPr>
            <a:lvl2pPr>
              <a:defRPr sz="1725" b="1">
                <a:solidFill>
                  <a:srgbClr val="F6FBFF"/>
                </a:solidFill>
              </a:defRPr>
            </a:lvl2pPr>
            <a:lvl3pPr>
              <a:defRPr sz="1725" b="1">
                <a:solidFill>
                  <a:srgbClr val="F6FBFF"/>
                </a:solidFill>
              </a:defRPr>
            </a:lvl3pPr>
            <a:lvl4pPr>
              <a:defRPr sz="1725" b="1">
                <a:solidFill>
                  <a:srgbClr val="F6FBFF"/>
                </a:solidFill>
              </a:defRPr>
            </a:lvl4pPr>
            <a:lvl5pPr>
              <a:defRPr sz="1725" b="1">
                <a:solidFill>
                  <a:srgbClr val="F6FBFF"/>
                </a:solidFill>
              </a:defRPr>
            </a:lvl5pPr>
            <a:lvl6pPr>
              <a:defRPr sz="1725" b="1">
                <a:solidFill>
                  <a:srgbClr val="F6FBFF"/>
                </a:solidFill>
              </a:defRPr>
            </a:lvl6pPr>
            <a:lvl7pPr>
              <a:defRPr sz="1725" b="1">
                <a:solidFill>
                  <a:srgbClr val="F6FBFF"/>
                </a:solidFill>
              </a:defRPr>
            </a:lvl7pPr>
            <a:lvl8pPr>
              <a:defRPr sz="1725" b="1">
                <a:solidFill>
                  <a:srgbClr val="F6FBFF"/>
                </a:solidFill>
              </a:defRPr>
            </a:lvl8pPr>
            <a:lvl9pPr>
              <a:defRPr sz="172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6FBFF"/>
                </a:solidFill>
              </a:defRPr>
            </a:pPr>
            <a:r>
              <a:rPr sz="1725" b="1">
                <a:solidFill>
                  <a:srgbClr val="F6FBFF"/>
                </a:solidFill>
              </a:rPr>
              <a:t>Lock events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68060-1925-4CF2-A641-4C527EC2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24175"/>
            <a:ext cx="38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7D5E7"/>
                </a:solidFill>
              </a:defRPr>
            </a:defPPr>
            <a:lvl1pPr>
              <a:defRPr sz="2250" b="1">
                <a:solidFill>
                  <a:srgbClr val="57D5E7"/>
                </a:solidFill>
              </a:defRPr>
            </a:lvl1pPr>
            <a:lvl2pPr>
              <a:defRPr sz="2250" b="1">
                <a:solidFill>
                  <a:srgbClr val="57D5E7"/>
                </a:solidFill>
              </a:defRPr>
            </a:lvl2pPr>
            <a:lvl3pPr>
              <a:defRPr sz="2250" b="1">
                <a:solidFill>
                  <a:srgbClr val="57D5E7"/>
                </a:solidFill>
              </a:defRPr>
            </a:lvl3pPr>
            <a:lvl4pPr>
              <a:defRPr sz="2250" b="1">
                <a:solidFill>
                  <a:srgbClr val="57D5E7"/>
                </a:solidFill>
              </a:defRPr>
            </a:lvl4pPr>
            <a:lvl5pPr>
              <a:defRPr sz="2250" b="1">
                <a:solidFill>
                  <a:srgbClr val="57D5E7"/>
                </a:solidFill>
              </a:defRPr>
            </a:lvl5pPr>
            <a:lvl6pPr>
              <a:defRPr sz="2250" b="1">
                <a:solidFill>
                  <a:srgbClr val="57D5E7"/>
                </a:solidFill>
              </a:defRPr>
            </a:lvl6pPr>
            <a:lvl7pPr>
              <a:defRPr sz="2250" b="1">
                <a:solidFill>
                  <a:srgbClr val="57D5E7"/>
                </a:solidFill>
              </a:defRPr>
            </a:lvl7pPr>
            <a:lvl8pPr>
              <a:defRPr sz="2250" b="1">
                <a:solidFill>
                  <a:srgbClr val="57D5E7"/>
                </a:solidFill>
              </a:defRPr>
            </a:lvl8pPr>
            <a:lvl9pPr>
              <a:defRPr sz="22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57D5E7"/>
                </a:solidFill>
              </a:defRPr>
            </a:pPr>
            <a:r>
              <a:rPr sz="22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370AB-A8A0-41E3-82CE-98FD650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905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90844-239B-42DB-B0DE-8CF158C9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8602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7D5E7"/>
                </a:solidFill>
              </a:defRPr>
            </a:defPPr>
            <a:lvl1pPr>
              <a:defRPr sz="1425" b="1">
                <a:solidFill>
                  <a:srgbClr val="57D5E7"/>
                </a:solidFill>
              </a:defRPr>
            </a:lvl1pPr>
            <a:lvl2pPr>
              <a:defRPr sz="1425" b="1">
                <a:solidFill>
                  <a:srgbClr val="57D5E7"/>
                </a:solidFill>
              </a:defRPr>
            </a:lvl2pPr>
            <a:lvl3pPr>
              <a:defRPr sz="1425" b="1">
                <a:solidFill>
                  <a:srgbClr val="57D5E7"/>
                </a:solidFill>
              </a:defRPr>
            </a:lvl3pPr>
            <a:lvl4pPr>
              <a:defRPr sz="1425" b="1">
                <a:solidFill>
                  <a:srgbClr val="57D5E7"/>
                </a:solidFill>
              </a:defRPr>
            </a:lvl4pPr>
            <a:lvl5pPr>
              <a:defRPr sz="1425" b="1">
                <a:solidFill>
                  <a:srgbClr val="57D5E7"/>
                </a:solidFill>
              </a:defRPr>
            </a:lvl5pPr>
            <a:lvl6pPr>
              <a:defRPr sz="1425" b="1">
                <a:solidFill>
                  <a:srgbClr val="57D5E7"/>
                </a:solidFill>
              </a:defRPr>
            </a:lvl6pPr>
            <a:lvl7pPr>
              <a:defRPr sz="1425" b="1">
                <a:solidFill>
                  <a:srgbClr val="57D5E7"/>
                </a:solidFill>
              </a:defRPr>
            </a:lvl7pPr>
            <a:lvl8pPr>
              <a:defRPr sz="1425" b="1">
                <a:solidFill>
                  <a:srgbClr val="57D5E7"/>
                </a:solidFill>
              </a:defRPr>
            </a:lvl8pPr>
            <a:lvl9pPr>
              <a:defRPr sz="14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7D5E7"/>
                </a:solidFill>
              </a:defRPr>
            </a:pPr>
            <a:r>
              <a:rPr sz="1425" b="1">
                <a:solidFill>
                  <a:srgbClr val="57D5E7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C62495-FE96-4401-814C-74827983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52750"/>
            <a:ext cx="1571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6FBFF"/>
                </a:solidFill>
              </a:defRPr>
            </a:defPPr>
            <a:lvl1pPr>
              <a:defRPr sz="1725" b="1">
                <a:solidFill>
                  <a:srgbClr val="F6FBFF"/>
                </a:solidFill>
              </a:defRPr>
            </a:lvl1pPr>
            <a:lvl2pPr>
              <a:defRPr sz="1725" b="1">
                <a:solidFill>
                  <a:srgbClr val="F6FBFF"/>
                </a:solidFill>
              </a:defRPr>
            </a:lvl2pPr>
            <a:lvl3pPr>
              <a:defRPr sz="1725" b="1">
                <a:solidFill>
                  <a:srgbClr val="F6FBFF"/>
                </a:solidFill>
              </a:defRPr>
            </a:lvl3pPr>
            <a:lvl4pPr>
              <a:defRPr sz="1725" b="1">
                <a:solidFill>
                  <a:srgbClr val="F6FBFF"/>
                </a:solidFill>
              </a:defRPr>
            </a:lvl4pPr>
            <a:lvl5pPr>
              <a:defRPr sz="1725" b="1">
                <a:solidFill>
                  <a:srgbClr val="F6FBFF"/>
                </a:solidFill>
              </a:defRPr>
            </a:lvl5pPr>
            <a:lvl6pPr>
              <a:defRPr sz="1725" b="1">
                <a:solidFill>
                  <a:srgbClr val="F6FBFF"/>
                </a:solidFill>
              </a:defRPr>
            </a:lvl6pPr>
            <a:lvl7pPr>
              <a:defRPr sz="1725" b="1">
                <a:solidFill>
                  <a:srgbClr val="F6FBFF"/>
                </a:solidFill>
              </a:defRPr>
            </a:lvl7pPr>
            <a:lvl8pPr>
              <a:defRPr sz="1725" b="1">
                <a:solidFill>
                  <a:srgbClr val="F6FBFF"/>
                </a:solidFill>
              </a:defRPr>
            </a:lvl8pPr>
            <a:lvl9pPr>
              <a:defRPr sz="172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6FBFF"/>
                </a:solidFill>
              </a:defRPr>
            </a:pPr>
            <a:r>
              <a:rPr sz="1725" b="1">
                <a:solidFill>
                  <a:srgbClr val="F6FBFF"/>
                </a:solidFill>
              </a:rPr>
              <a:t>Graph + score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B42EFC-363D-4893-BEFC-3448794E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24175"/>
            <a:ext cx="38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7D5E7"/>
                </a:solidFill>
              </a:defRPr>
            </a:defPPr>
            <a:lvl1pPr>
              <a:defRPr sz="2250" b="1">
                <a:solidFill>
                  <a:srgbClr val="57D5E7"/>
                </a:solidFill>
              </a:defRPr>
            </a:lvl1pPr>
            <a:lvl2pPr>
              <a:defRPr sz="2250" b="1">
                <a:solidFill>
                  <a:srgbClr val="57D5E7"/>
                </a:solidFill>
              </a:defRPr>
            </a:lvl2pPr>
            <a:lvl3pPr>
              <a:defRPr sz="2250" b="1">
                <a:solidFill>
                  <a:srgbClr val="57D5E7"/>
                </a:solidFill>
              </a:defRPr>
            </a:lvl3pPr>
            <a:lvl4pPr>
              <a:defRPr sz="2250" b="1">
                <a:solidFill>
                  <a:srgbClr val="57D5E7"/>
                </a:solidFill>
              </a:defRPr>
            </a:lvl4pPr>
            <a:lvl5pPr>
              <a:defRPr sz="2250" b="1">
                <a:solidFill>
                  <a:srgbClr val="57D5E7"/>
                </a:solidFill>
              </a:defRPr>
            </a:lvl5pPr>
            <a:lvl6pPr>
              <a:defRPr sz="2250" b="1">
                <a:solidFill>
                  <a:srgbClr val="57D5E7"/>
                </a:solidFill>
              </a:defRPr>
            </a:lvl6pPr>
            <a:lvl7pPr>
              <a:defRPr sz="2250" b="1">
                <a:solidFill>
                  <a:srgbClr val="57D5E7"/>
                </a:solidFill>
              </a:defRPr>
            </a:lvl7pPr>
            <a:lvl8pPr>
              <a:defRPr sz="2250" b="1">
                <a:solidFill>
                  <a:srgbClr val="57D5E7"/>
                </a:solidFill>
              </a:defRPr>
            </a:lvl8pPr>
            <a:lvl9pPr>
              <a:defRPr sz="22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57D5E7"/>
                </a:solidFill>
              </a:defRPr>
            </a:pPr>
            <a:r>
              <a:rPr sz="22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352E3C-C28A-4118-A9FC-EC93CFE5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05050"/>
            <a:ext cx="1905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3B8249-0A89-4ADB-A90B-317C7992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8602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7D5E7"/>
                </a:solidFill>
              </a:defRPr>
            </a:defPPr>
            <a:lvl1pPr>
              <a:defRPr sz="1425" b="1">
                <a:solidFill>
                  <a:srgbClr val="57D5E7"/>
                </a:solidFill>
              </a:defRPr>
            </a:lvl1pPr>
            <a:lvl2pPr>
              <a:defRPr sz="1425" b="1">
                <a:solidFill>
                  <a:srgbClr val="57D5E7"/>
                </a:solidFill>
              </a:defRPr>
            </a:lvl2pPr>
            <a:lvl3pPr>
              <a:defRPr sz="1425" b="1">
                <a:solidFill>
                  <a:srgbClr val="57D5E7"/>
                </a:solidFill>
              </a:defRPr>
            </a:lvl3pPr>
            <a:lvl4pPr>
              <a:defRPr sz="1425" b="1">
                <a:solidFill>
                  <a:srgbClr val="57D5E7"/>
                </a:solidFill>
              </a:defRPr>
            </a:lvl4pPr>
            <a:lvl5pPr>
              <a:defRPr sz="1425" b="1">
                <a:solidFill>
                  <a:srgbClr val="57D5E7"/>
                </a:solidFill>
              </a:defRPr>
            </a:lvl5pPr>
            <a:lvl6pPr>
              <a:defRPr sz="1425" b="1">
                <a:solidFill>
                  <a:srgbClr val="57D5E7"/>
                </a:solidFill>
              </a:defRPr>
            </a:lvl6pPr>
            <a:lvl7pPr>
              <a:defRPr sz="1425" b="1">
                <a:solidFill>
                  <a:srgbClr val="57D5E7"/>
                </a:solidFill>
              </a:defRPr>
            </a:lvl7pPr>
            <a:lvl8pPr>
              <a:defRPr sz="1425" b="1">
                <a:solidFill>
                  <a:srgbClr val="57D5E7"/>
                </a:solidFill>
              </a:defRPr>
            </a:lvl8pPr>
            <a:lvl9pPr>
              <a:defRPr sz="14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7D5E7"/>
                </a:solidFill>
              </a:defRPr>
            </a:pPr>
            <a:r>
              <a:rPr sz="1425" b="1">
                <a:solidFill>
                  <a:srgbClr val="57D5E7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5B79B6-9DE2-4B7E-BD30-A8D4DA91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52750"/>
            <a:ext cx="1571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6FBFF"/>
                </a:solidFill>
              </a:defRPr>
            </a:defPPr>
            <a:lvl1pPr>
              <a:defRPr sz="1725" b="1">
                <a:solidFill>
                  <a:srgbClr val="F6FBFF"/>
                </a:solidFill>
              </a:defRPr>
            </a:lvl1pPr>
            <a:lvl2pPr>
              <a:defRPr sz="1725" b="1">
                <a:solidFill>
                  <a:srgbClr val="F6FBFF"/>
                </a:solidFill>
              </a:defRPr>
            </a:lvl2pPr>
            <a:lvl3pPr>
              <a:defRPr sz="1725" b="1">
                <a:solidFill>
                  <a:srgbClr val="F6FBFF"/>
                </a:solidFill>
              </a:defRPr>
            </a:lvl3pPr>
            <a:lvl4pPr>
              <a:defRPr sz="1725" b="1">
                <a:solidFill>
                  <a:srgbClr val="F6FBFF"/>
                </a:solidFill>
              </a:defRPr>
            </a:lvl4pPr>
            <a:lvl5pPr>
              <a:defRPr sz="1725" b="1">
                <a:solidFill>
                  <a:srgbClr val="F6FBFF"/>
                </a:solidFill>
              </a:defRPr>
            </a:lvl5pPr>
            <a:lvl6pPr>
              <a:defRPr sz="1725" b="1">
                <a:solidFill>
                  <a:srgbClr val="F6FBFF"/>
                </a:solidFill>
              </a:defRPr>
            </a:lvl6pPr>
            <a:lvl7pPr>
              <a:defRPr sz="1725" b="1">
                <a:solidFill>
                  <a:srgbClr val="F6FBFF"/>
                </a:solidFill>
              </a:defRPr>
            </a:lvl7pPr>
            <a:lvl8pPr>
              <a:defRPr sz="1725" b="1">
                <a:solidFill>
                  <a:srgbClr val="F6FBFF"/>
                </a:solidFill>
              </a:defRPr>
            </a:lvl8pPr>
            <a:lvl9pPr>
              <a:defRPr sz="172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6FBFF"/>
                </a:solidFill>
              </a:defRPr>
            </a:pPr>
            <a:r>
              <a:rPr sz="1725" b="1">
                <a:solidFill>
                  <a:srgbClr val="F6FBFF"/>
                </a:solidFill>
              </a:rPr>
              <a:t>Trial 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2D528F-D62B-420B-AF3A-C79E0E24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24175"/>
            <a:ext cx="38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7D5E7"/>
                </a:solidFill>
              </a:defRPr>
            </a:defPPr>
            <a:lvl1pPr>
              <a:defRPr sz="2250" b="1">
                <a:solidFill>
                  <a:srgbClr val="57D5E7"/>
                </a:solidFill>
              </a:defRPr>
            </a:lvl1pPr>
            <a:lvl2pPr>
              <a:defRPr sz="2250" b="1">
                <a:solidFill>
                  <a:srgbClr val="57D5E7"/>
                </a:solidFill>
              </a:defRPr>
            </a:lvl2pPr>
            <a:lvl3pPr>
              <a:defRPr sz="2250" b="1">
                <a:solidFill>
                  <a:srgbClr val="57D5E7"/>
                </a:solidFill>
              </a:defRPr>
            </a:lvl3pPr>
            <a:lvl4pPr>
              <a:defRPr sz="2250" b="1">
                <a:solidFill>
                  <a:srgbClr val="57D5E7"/>
                </a:solidFill>
              </a:defRPr>
            </a:lvl4pPr>
            <a:lvl5pPr>
              <a:defRPr sz="2250" b="1">
                <a:solidFill>
                  <a:srgbClr val="57D5E7"/>
                </a:solidFill>
              </a:defRPr>
            </a:lvl5pPr>
            <a:lvl6pPr>
              <a:defRPr sz="2250" b="1">
                <a:solidFill>
                  <a:srgbClr val="57D5E7"/>
                </a:solidFill>
              </a:defRPr>
            </a:lvl6pPr>
            <a:lvl7pPr>
              <a:defRPr sz="2250" b="1">
                <a:solidFill>
                  <a:srgbClr val="57D5E7"/>
                </a:solidFill>
              </a:defRPr>
            </a:lvl7pPr>
            <a:lvl8pPr>
              <a:defRPr sz="2250" b="1">
                <a:solidFill>
                  <a:srgbClr val="57D5E7"/>
                </a:solidFill>
              </a:defRPr>
            </a:lvl8pPr>
            <a:lvl9pPr>
              <a:defRPr sz="22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57D5E7"/>
                </a:solidFill>
              </a:defRPr>
            </a:pPr>
            <a:r>
              <a:rPr sz="22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C81ACA-B6B4-4C42-AC65-FA2BAE3A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05050"/>
            <a:ext cx="1905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585FB6-00B8-4905-ABB4-45960DEC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8602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7D5E7"/>
                </a:solidFill>
              </a:defRPr>
            </a:defPPr>
            <a:lvl1pPr>
              <a:defRPr sz="1425" b="1">
                <a:solidFill>
                  <a:srgbClr val="57D5E7"/>
                </a:solidFill>
              </a:defRPr>
            </a:lvl1pPr>
            <a:lvl2pPr>
              <a:defRPr sz="1425" b="1">
                <a:solidFill>
                  <a:srgbClr val="57D5E7"/>
                </a:solidFill>
              </a:defRPr>
            </a:lvl2pPr>
            <a:lvl3pPr>
              <a:defRPr sz="1425" b="1">
                <a:solidFill>
                  <a:srgbClr val="57D5E7"/>
                </a:solidFill>
              </a:defRPr>
            </a:lvl3pPr>
            <a:lvl4pPr>
              <a:defRPr sz="1425" b="1">
                <a:solidFill>
                  <a:srgbClr val="57D5E7"/>
                </a:solidFill>
              </a:defRPr>
            </a:lvl4pPr>
            <a:lvl5pPr>
              <a:defRPr sz="1425" b="1">
                <a:solidFill>
                  <a:srgbClr val="57D5E7"/>
                </a:solidFill>
              </a:defRPr>
            </a:lvl5pPr>
            <a:lvl6pPr>
              <a:defRPr sz="1425" b="1">
                <a:solidFill>
                  <a:srgbClr val="57D5E7"/>
                </a:solidFill>
              </a:defRPr>
            </a:lvl6pPr>
            <a:lvl7pPr>
              <a:defRPr sz="1425" b="1">
                <a:solidFill>
                  <a:srgbClr val="57D5E7"/>
                </a:solidFill>
              </a:defRPr>
            </a:lvl7pPr>
            <a:lvl8pPr>
              <a:defRPr sz="1425" b="1">
                <a:solidFill>
                  <a:srgbClr val="57D5E7"/>
                </a:solidFill>
              </a:defRPr>
            </a:lvl8pPr>
            <a:lvl9pPr>
              <a:defRPr sz="14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7D5E7"/>
                </a:solidFill>
              </a:defRPr>
            </a:pPr>
            <a:r>
              <a:rPr sz="1425" b="1">
                <a:solidFill>
                  <a:srgbClr val="57D5E7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11CA0D-2628-42B6-8172-CD0F8E96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52750"/>
            <a:ext cx="1571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6FBFF"/>
                </a:solidFill>
              </a:defRPr>
            </a:defPPr>
            <a:lvl1pPr>
              <a:defRPr sz="1725" b="1">
                <a:solidFill>
                  <a:srgbClr val="F6FBFF"/>
                </a:solidFill>
              </a:defRPr>
            </a:lvl1pPr>
            <a:lvl2pPr>
              <a:defRPr sz="1725" b="1">
                <a:solidFill>
                  <a:srgbClr val="F6FBFF"/>
                </a:solidFill>
              </a:defRPr>
            </a:lvl2pPr>
            <a:lvl3pPr>
              <a:defRPr sz="1725" b="1">
                <a:solidFill>
                  <a:srgbClr val="F6FBFF"/>
                </a:solidFill>
              </a:defRPr>
            </a:lvl3pPr>
            <a:lvl4pPr>
              <a:defRPr sz="1725" b="1">
                <a:solidFill>
                  <a:srgbClr val="F6FBFF"/>
                </a:solidFill>
              </a:defRPr>
            </a:lvl4pPr>
            <a:lvl5pPr>
              <a:defRPr sz="1725" b="1">
                <a:solidFill>
                  <a:srgbClr val="F6FBFF"/>
                </a:solidFill>
              </a:defRPr>
            </a:lvl5pPr>
            <a:lvl6pPr>
              <a:defRPr sz="1725" b="1">
                <a:solidFill>
                  <a:srgbClr val="F6FBFF"/>
                </a:solidFill>
              </a:defRPr>
            </a:lvl6pPr>
            <a:lvl7pPr>
              <a:defRPr sz="1725" b="1">
                <a:solidFill>
                  <a:srgbClr val="F6FBFF"/>
                </a:solidFill>
              </a:defRPr>
            </a:lvl7pPr>
            <a:lvl8pPr>
              <a:defRPr sz="1725" b="1">
                <a:solidFill>
                  <a:srgbClr val="F6FBFF"/>
                </a:solidFill>
              </a:defRPr>
            </a:lvl8pPr>
            <a:lvl9pPr>
              <a:defRPr sz="172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6FBFF"/>
                </a:solidFill>
              </a:defRPr>
            </a:pPr>
            <a:r>
              <a:rPr sz="1725" b="1">
                <a:solidFill>
                  <a:srgbClr val="F6FBFF"/>
                </a:solidFill>
              </a:rPr>
              <a:t>Browser views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8F5232-8A14-43C7-93D1-3B092839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110490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790301-BA42-4918-9E25-BC4EDDAE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62475"/>
            <a:ext cx="1047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FastAPI exposes /api/trials/{mode} and /api/analysis/compare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8C50F4-E6DA-462B-AA24-A26BDA12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815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EC4D3"/>
                </a:solidFill>
              </a:defRPr>
            </a:defPPr>
            <a:lvl1pPr>
              <a:defRPr sz="1350" b="0">
                <a:solidFill>
                  <a:srgbClr val="AEC4D3"/>
                </a:solidFill>
              </a:defRPr>
            </a:lvl1pPr>
            <a:lvl2pPr>
              <a:defRPr sz="1350" b="0">
                <a:solidFill>
                  <a:srgbClr val="AEC4D3"/>
                </a:solidFill>
              </a:defRPr>
            </a:lvl2pPr>
            <a:lvl3pPr>
              <a:defRPr sz="1350" b="0">
                <a:solidFill>
                  <a:srgbClr val="AEC4D3"/>
                </a:solidFill>
              </a:defRPr>
            </a:lvl3pPr>
            <a:lvl4pPr>
              <a:defRPr sz="1350" b="0">
                <a:solidFill>
                  <a:srgbClr val="AEC4D3"/>
                </a:solidFill>
              </a:defRPr>
            </a:lvl4pPr>
            <a:lvl5pPr>
              <a:defRPr sz="1350" b="0">
                <a:solidFill>
                  <a:srgbClr val="AEC4D3"/>
                </a:solidFill>
              </a:defRPr>
            </a:lvl5pPr>
            <a:lvl6pPr>
              <a:defRPr sz="1350" b="0">
                <a:solidFill>
                  <a:srgbClr val="AEC4D3"/>
                </a:solidFill>
              </a:defRPr>
            </a:lvl6pPr>
            <a:lvl7pPr>
              <a:defRPr sz="1350" b="0">
                <a:solidFill>
                  <a:srgbClr val="AEC4D3"/>
                </a:solidFill>
              </a:defRPr>
            </a:lvl7pPr>
            <a:lvl8pPr>
              <a:defRPr sz="1350" b="0">
                <a:solidFill>
                  <a:srgbClr val="AEC4D3"/>
                </a:solidFill>
              </a:defRPr>
            </a:lvl8pPr>
            <a:lvl9pPr>
              <a:defRPr sz="1350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EC4D3"/>
                </a:solidFill>
              </a:defRPr>
            </a:pPr>
            <a:r>
              <a:rPr sz="1350" b="0">
                <a:solidFill>
                  <a:srgbClr val="AEC4D3"/>
                </a:solidFill>
              </a:rPr>
              <a:t>The dashboard renders a validated trace; batch statistics stay separate from individual runs.</a:t>
            </a:r>
          </a:p>
        </p:txBody>
      </p:sp>
    </p:spTree>
    <p:extLst>
      <p:ext uri="{BB962C8B-B14F-4D97-AF65-F5344CB8AC3E}">
        <p14:creationId xmlns:p14="http://schemas.microsoft.com/office/powerpoint/2010/main" val="2124309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286420-181E-4126-B731-74C65C84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PREDICTIVE DEADLOCK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7B3C7-A340-41E8-A05D-3E21A1EB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Risk warning comes before the 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9CCE1-E027-4C18-AE11-BD7D313A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584C8-7E49-4EA6-BDE6-B5BB62C9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845F15-D278-40B4-9617-A24416D9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EEA7A-DA40-4AAE-86B4-0C416526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AEC4D3"/>
                </a:solidFill>
              </a:defRPr>
            </a:defPPr>
            <a:lvl1pPr>
              <a:defRPr sz="1725" b="0">
                <a:solidFill>
                  <a:srgbClr val="AEC4D3"/>
                </a:solidFill>
              </a:defRPr>
            </a:lvl1pPr>
            <a:lvl2pPr>
              <a:defRPr sz="1725" b="0">
                <a:solidFill>
                  <a:srgbClr val="AEC4D3"/>
                </a:solidFill>
              </a:defRPr>
            </a:lvl2pPr>
            <a:lvl3pPr>
              <a:defRPr sz="1725" b="0">
                <a:solidFill>
                  <a:srgbClr val="AEC4D3"/>
                </a:solidFill>
              </a:defRPr>
            </a:lvl3pPr>
            <a:lvl4pPr>
              <a:defRPr sz="1725" b="0">
                <a:solidFill>
                  <a:srgbClr val="AEC4D3"/>
                </a:solidFill>
              </a:defRPr>
            </a:lvl4pPr>
            <a:lvl5pPr>
              <a:defRPr sz="1725" b="0">
                <a:solidFill>
                  <a:srgbClr val="AEC4D3"/>
                </a:solidFill>
              </a:defRPr>
            </a:lvl5pPr>
            <a:lvl6pPr>
              <a:defRPr sz="1725" b="0">
                <a:solidFill>
                  <a:srgbClr val="AEC4D3"/>
                </a:solidFill>
              </a:defRPr>
            </a:lvl6pPr>
            <a:lvl7pPr>
              <a:defRPr sz="1725" b="0">
                <a:solidFill>
                  <a:srgbClr val="AEC4D3"/>
                </a:solidFill>
              </a:defRPr>
            </a:lvl7pPr>
            <a:lvl8pPr>
              <a:defRPr sz="1725" b="0">
                <a:solidFill>
                  <a:srgbClr val="AEC4D3"/>
                </a:solidFill>
              </a:defRPr>
            </a:lvl8pPr>
            <a:lvl9pPr>
              <a:defRPr sz="172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EC4D3"/>
                </a:solidFill>
              </a:defRPr>
            </a:pPr>
            <a:r>
              <a:rPr sz="1725" b="0">
                <a:solidFill>
                  <a:srgbClr val="AEC4D3"/>
                </a:solidFill>
              </a:rPr>
              <a:t>A controlled 120 ms observation interval makes the order of events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B0253-E691-47CA-B956-40E81B15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31432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C5855C-93F0-4DAA-95B6-7FAC1860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2809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FC476"/>
                </a:solidFill>
              </a:defRPr>
            </a:defPPr>
            <a:lvl1pPr>
              <a:defRPr sz="1725" b="1">
                <a:solidFill>
                  <a:srgbClr val="FFC476"/>
                </a:solidFill>
              </a:defRPr>
            </a:lvl1pPr>
            <a:lvl2pPr>
              <a:defRPr sz="1725" b="1">
                <a:solidFill>
                  <a:srgbClr val="FFC476"/>
                </a:solidFill>
              </a:defRPr>
            </a:lvl2pPr>
            <a:lvl3pPr>
              <a:defRPr sz="1725" b="1">
                <a:solidFill>
                  <a:srgbClr val="FFC476"/>
                </a:solidFill>
              </a:defRPr>
            </a:lvl3pPr>
            <a:lvl4pPr>
              <a:defRPr sz="1725" b="1">
                <a:solidFill>
                  <a:srgbClr val="FFC476"/>
                </a:solidFill>
              </a:defRPr>
            </a:lvl4pPr>
            <a:lvl5pPr>
              <a:defRPr sz="1725" b="1">
                <a:solidFill>
                  <a:srgbClr val="FFC476"/>
                </a:solidFill>
              </a:defRPr>
            </a:lvl5pPr>
            <a:lvl6pPr>
              <a:defRPr sz="1725" b="1">
                <a:solidFill>
                  <a:srgbClr val="FFC476"/>
                </a:solidFill>
              </a:defRPr>
            </a:lvl6pPr>
            <a:lvl7pPr>
              <a:defRPr sz="1725" b="1">
                <a:solidFill>
                  <a:srgbClr val="FFC476"/>
                </a:solidFill>
              </a:defRPr>
            </a:lvl7pPr>
            <a:lvl8pPr>
              <a:defRPr sz="1725" b="1">
                <a:solidFill>
                  <a:srgbClr val="FFC476"/>
                </a:solidFill>
              </a:defRPr>
            </a:lvl8pPr>
            <a:lvl9pPr>
              <a:defRPr sz="1725" b="1">
                <a:solidFill>
                  <a:srgbClr val="FFC47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FC476"/>
                </a:solidFill>
              </a:defRPr>
            </a:pPr>
            <a:r>
              <a:rPr sz="1725" b="1">
                <a:solidFill>
                  <a:srgbClr val="FFC476"/>
                </a:solidFill>
              </a:rPr>
              <a:t>T1 waits for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7E870-0752-4E6F-8ADE-E9C6C206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86125"/>
            <a:ext cx="2809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One WFG 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9CD6F3-3255-48EA-8C95-E81AFE38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514600"/>
            <a:ext cx="31432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9100F-9E12-4011-986F-84C9062D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762250"/>
            <a:ext cx="2809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7D5E7"/>
                </a:solidFill>
              </a:defRPr>
            </a:defPPr>
            <a:lvl1pPr>
              <a:defRPr sz="1725" b="1">
                <a:solidFill>
                  <a:srgbClr val="57D5E7"/>
                </a:solidFill>
              </a:defRPr>
            </a:lvl1pPr>
            <a:lvl2pPr>
              <a:defRPr sz="1725" b="1">
                <a:solidFill>
                  <a:srgbClr val="57D5E7"/>
                </a:solidFill>
              </a:defRPr>
            </a:lvl2pPr>
            <a:lvl3pPr>
              <a:defRPr sz="1725" b="1">
                <a:solidFill>
                  <a:srgbClr val="57D5E7"/>
                </a:solidFill>
              </a:defRPr>
            </a:lvl3pPr>
            <a:lvl4pPr>
              <a:defRPr sz="1725" b="1">
                <a:solidFill>
                  <a:srgbClr val="57D5E7"/>
                </a:solidFill>
              </a:defRPr>
            </a:lvl4pPr>
            <a:lvl5pPr>
              <a:defRPr sz="1725" b="1">
                <a:solidFill>
                  <a:srgbClr val="57D5E7"/>
                </a:solidFill>
              </a:defRPr>
            </a:lvl5pPr>
            <a:lvl6pPr>
              <a:defRPr sz="1725" b="1">
                <a:solidFill>
                  <a:srgbClr val="57D5E7"/>
                </a:solidFill>
              </a:defRPr>
            </a:lvl6pPr>
            <a:lvl7pPr>
              <a:defRPr sz="1725" b="1">
                <a:solidFill>
                  <a:srgbClr val="57D5E7"/>
                </a:solidFill>
              </a:defRPr>
            </a:lvl7pPr>
            <a:lvl8pPr>
              <a:defRPr sz="1725" b="1">
                <a:solidFill>
                  <a:srgbClr val="57D5E7"/>
                </a:solidFill>
              </a:defRPr>
            </a:lvl8pPr>
            <a:lvl9pPr>
              <a:defRPr sz="17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57D5E7"/>
                </a:solidFill>
              </a:defRPr>
            </a:pPr>
            <a:r>
              <a:rPr sz="1725" b="1">
                <a:solidFill>
                  <a:srgbClr val="57D5E7"/>
                </a:solidFill>
              </a:rPr>
              <a:t>Score reaches 72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FEDBB-1C33-4502-B756-49A1E130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86125"/>
            <a:ext cx="2809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Structural warning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525F55-846D-4833-A18F-5F3A952E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14600"/>
            <a:ext cx="31432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938D4-56BD-49AD-8A2A-F34C2749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62250"/>
            <a:ext cx="2809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F6D83"/>
                </a:solidFill>
              </a:defRPr>
            </a:defPPr>
            <a:lvl1pPr>
              <a:defRPr sz="1725" b="1">
                <a:solidFill>
                  <a:srgbClr val="FF6D83"/>
                </a:solidFill>
              </a:defRPr>
            </a:lvl1pPr>
            <a:lvl2pPr>
              <a:defRPr sz="1725" b="1">
                <a:solidFill>
                  <a:srgbClr val="FF6D83"/>
                </a:solidFill>
              </a:defRPr>
            </a:lvl2pPr>
            <a:lvl3pPr>
              <a:defRPr sz="1725" b="1">
                <a:solidFill>
                  <a:srgbClr val="FF6D83"/>
                </a:solidFill>
              </a:defRPr>
            </a:lvl3pPr>
            <a:lvl4pPr>
              <a:defRPr sz="1725" b="1">
                <a:solidFill>
                  <a:srgbClr val="FF6D83"/>
                </a:solidFill>
              </a:defRPr>
            </a:lvl4pPr>
            <a:lvl5pPr>
              <a:defRPr sz="1725" b="1">
                <a:solidFill>
                  <a:srgbClr val="FF6D83"/>
                </a:solidFill>
              </a:defRPr>
            </a:lvl5pPr>
            <a:lvl6pPr>
              <a:defRPr sz="1725" b="1">
                <a:solidFill>
                  <a:srgbClr val="FF6D83"/>
                </a:solidFill>
              </a:defRPr>
            </a:lvl6pPr>
            <a:lvl7pPr>
              <a:defRPr sz="1725" b="1">
                <a:solidFill>
                  <a:srgbClr val="FF6D83"/>
                </a:solidFill>
              </a:defRPr>
            </a:lvl7pPr>
            <a:lvl8pPr>
              <a:defRPr sz="1725" b="1">
                <a:solidFill>
                  <a:srgbClr val="FF6D83"/>
                </a:solidFill>
              </a:defRPr>
            </a:lvl8pPr>
            <a:lvl9pPr>
              <a:defRPr sz="1725" b="1">
                <a:solidFill>
                  <a:srgbClr val="FF6D83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F6D83"/>
                </a:solidFill>
              </a:defRPr>
            </a:pPr>
            <a:r>
              <a:rPr sz="1725" b="1">
                <a:solidFill>
                  <a:srgbClr val="FF6D83"/>
                </a:solidFill>
              </a:rPr>
              <a:t>T2 waits for 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F50073-BE49-49BE-B3DC-DB3E7A74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86125"/>
            <a:ext cx="2809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Cycle confirmed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7AFD5A-0F40-41DC-AE65-C8E3C08D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81350"/>
            <a:ext cx="26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57D5E7"/>
                </a:solidFill>
              </a:defRPr>
            </a:defPPr>
            <a:lvl1pPr>
              <a:defRPr sz="2100" b="1">
                <a:solidFill>
                  <a:srgbClr val="57D5E7"/>
                </a:solidFill>
              </a:defRPr>
            </a:lvl1pPr>
            <a:lvl2pPr>
              <a:defRPr sz="2100" b="1">
                <a:solidFill>
                  <a:srgbClr val="57D5E7"/>
                </a:solidFill>
              </a:defRPr>
            </a:lvl2pPr>
            <a:lvl3pPr>
              <a:defRPr sz="2100" b="1">
                <a:solidFill>
                  <a:srgbClr val="57D5E7"/>
                </a:solidFill>
              </a:defRPr>
            </a:lvl3pPr>
            <a:lvl4pPr>
              <a:defRPr sz="2100" b="1">
                <a:solidFill>
                  <a:srgbClr val="57D5E7"/>
                </a:solidFill>
              </a:defRPr>
            </a:lvl4pPr>
            <a:lvl5pPr>
              <a:defRPr sz="2100" b="1">
                <a:solidFill>
                  <a:srgbClr val="57D5E7"/>
                </a:solidFill>
              </a:defRPr>
            </a:lvl5pPr>
            <a:lvl6pPr>
              <a:defRPr sz="2100" b="1">
                <a:solidFill>
                  <a:srgbClr val="57D5E7"/>
                </a:solidFill>
              </a:defRPr>
            </a:lvl6pPr>
            <a:lvl7pPr>
              <a:defRPr sz="2100" b="1">
                <a:solidFill>
                  <a:srgbClr val="57D5E7"/>
                </a:solidFill>
              </a:defRPr>
            </a:lvl7pPr>
            <a:lvl8pPr>
              <a:defRPr sz="2100" b="1">
                <a:solidFill>
                  <a:srgbClr val="57D5E7"/>
                </a:solidFill>
              </a:defRPr>
            </a:lvl8pPr>
            <a:lvl9pPr>
              <a:defRPr sz="210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57D5E7"/>
                </a:solidFill>
              </a:defRPr>
            </a:pPr>
            <a:r>
              <a:rPr sz="210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044835-1E2D-4E39-A35A-86D23BF5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81350"/>
            <a:ext cx="26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57D5E7"/>
                </a:solidFill>
              </a:defRPr>
            </a:defPPr>
            <a:lvl1pPr>
              <a:defRPr sz="2100" b="1">
                <a:solidFill>
                  <a:srgbClr val="57D5E7"/>
                </a:solidFill>
              </a:defRPr>
            </a:lvl1pPr>
            <a:lvl2pPr>
              <a:defRPr sz="2100" b="1">
                <a:solidFill>
                  <a:srgbClr val="57D5E7"/>
                </a:solidFill>
              </a:defRPr>
            </a:lvl2pPr>
            <a:lvl3pPr>
              <a:defRPr sz="2100" b="1">
                <a:solidFill>
                  <a:srgbClr val="57D5E7"/>
                </a:solidFill>
              </a:defRPr>
            </a:lvl3pPr>
            <a:lvl4pPr>
              <a:defRPr sz="2100" b="1">
                <a:solidFill>
                  <a:srgbClr val="57D5E7"/>
                </a:solidFill>
              </a:defRPr>
            </a:lvl4pPr>
            <a:lvl5pPr>
              <a:defRPr sz="2100" b="1">
                <a:solidFill>
                  <a:srgbClr val="57D5E7"/>
                </a:solidFill>
              </a:defRPr>
            </a:lvl5pPr>
            <a:lvl6pPr>
              <a:defRPr sz="2100" b="1">
                <a:solidFill>
                  <a:srgbClr val="57D5E7"/>
                </a:solidFill>
              </a:defRPr>
            </a:lvl6pPr>
            <a:lvl7pPr>
              <a:defRPr sz="2100" b="1">
                <a:solidFill>
                  <a:srgbClr val="57D5E7"/>
                </a:solidFill>
              </a:defRPr>
            </a:lvl7pPr>
            <a:lvl8pPr>
              <a:defRPr sz="2100" b="1">
                <a:solidFill>
                  <a:srgbClr val="57D5E7"/>
                </a:solidFill>
              </a:defRPr>
            </a:lvl8pPr>
            <a:lvl9pPr>
              <a:defRPr sz="210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57D5E7"/>
                </a:solidFill>
              </a:defRPr>
            </a:pPr>
            <a:r>
              <a:rPr sz="210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5775F0-BC04-40B5-A166-96D2565C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1104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91244C-6CFC-4820-BCF9-FC13A37E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53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Saved mean warning lead: 120.4 ms  |  Mean cycle detection latency: 4.6 ms</a:t>
            </a:r>
          </a:p>
        </p:txBody>
      </p:sp>
    </p:spTree>
    <p:extLst>
      <p:ext uri="{BB962C8B-B14F-4D97-AF65-F5344CB8AC3E}">
        <p14:creationId xmlns:p14="http://schemas.microsoft.com/office/powerpoint/2010/main" val="3367644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522C66-8AE8-4437-B769-6597EB4A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PREDICTIVE DEADLOCK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F6C464-20F2-4F6B-95CD-E33E7E63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The score warns; the graph proves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30046E-470F-4CAA-BDA2-5C531EB3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3E1F7-D329-4D0F-ADA7-31A7C73A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9175A-B572-43D7-9390-79129E48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63458-A3F5-4244-AA02-40988715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AEC4D3"/>
                </a:solidFill>
              </a:defRPr>
            </a:defPPr>
            <a:lvl1pPr>
              <a:defRPr sz="1725" b="0">
                <a:solidFill>
                  <a:srgbClr val="AEC4D3"/>
                </a:solidFill>
              </a:defRPr>
            </a:lvl1pPr>
            <a:lvl2pPr>
              <a:defRPr sz="1725" b="0">
                <a:solidFill>
                  <a:srgbClr val="AEC4D3"/>
                </a:solidFill>
              </a:defRPr>
            </a:lvl2pPr>
            <a:lvl3pPr>
              <a:defRPr sz="1725" b="0">
                <a:solidFill>
                  <a:srgbClr val="AEC4D3"/>
                </a:solidFill>
              </a:defRPr>
            </a:lvl3pPr>
            <a:lvl4pPr>
              <a:defRPr sz="1725" b="0">
                <a:solidFill>
                  <a:srgbClr val="AEC4D3"/>
                </a:solidFill>
              </a:defRPr>
            </a:lvl4pPr>
            <a:lvl5pPr>
              <a:defRPr sz="1725" b="0">
                <a:solidFill>
                  <a:srgbClr val="AEC4D3"/>
                </a:solidFill>
              </a:defRPr>
            </a:lvl5pPr>
            <a:lvl6pPr>
              <a:defRPr sz="1725" b="0">
                <a:solidFill>
                  <a:srgbClr val="AEC4D3"/>
                </a:solidFill>
              </a:defRPr>
            </a:lvl6pPr>
            <a:lvl7pPr>
              <a:defRPr sz="1725" b="0">
                <a:solidFill>
                  <a:srgbClr val="AEC4D3"/>
                </a:solidFill>
              </a:defRPr>
            </a:lvl7pPr>
            <a:lvl8pPr>
              <a:defRPr sz="1725" b="0">
                <a:solidFill>
                  <a:srgbClr val="AEC4D3"/>
                </a:solidFill>
              </a:defRPr>
            </a:lvl8pPr>
            <a:lvl9pPr>
              <a:defRPr sz="172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EC4D3"/>
                </a:solidFill>
              </a:defRPr>
            </a:pPr>
            <a:r>
              <a:rPr sz="1725" b="0">
                <a:solidFill>
                  <a:srgbClr val="AEC4D3"/>
                </a:solidFill>
              </a:rPr>
              <a:t>Base score = weighted sum of observed inputs (0 to 100)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CF880-7CB2-4E23-8C80-971F2FB8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95525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6FBFF"/>
                </a:solidFill>
              </a:defRPr>
            </a:defPPr>
            <a:lvl1pPr>
              <a:defRPr sz="1575" b="1">
                <a:solidFill>
                  <a:srgbClr val="F6FBFF"/>
                </a:solidFill>
              </a:defRPr>
            </a:lvl1pPr>
            <a:lvl2pPr>
              <a:defRPr sz="1575" b="1">
                <a:solidFill>
                  <a:srgbClr val="F6FBFF"/>
                </a:solidFill>
              </a:defRPr>
            </a:lvl2pPr>
            <a:lvl3pPr>
              <a:defRPr sz="1575" b="1">
                <a:solidFill>
                  <a:srgbClr val="F6FBFF"/>
                </a:solidFill>
              </a:defRPr>
            </a:lvl3pPr>
            <a:lvl4pPr>
              <a:defRPr sz="1575" b="1">
                <a:solidFill>
                  <a:srgbClr val="F6FBFF"/>
                </a:solidFill>
              </a:defRPr>
            </a:lvl4pPr>
            <a:lvl5pPr>
              <a:defRPr sz="1575" b="1">
                <a:solidFill>
                  <a:srgbClr val="F6FBFF"/>
                </a:solidFill>
              </a:defRPr>
            </a:lvl5pPr>
            <a:lvl6pPr>
              <a:defRPr sz="1575" b="1">
                <a:solidFill>
                  <a:srgbClr val="F6FBFF"/>
                </a:solidFill>
              </a:defRPr>
            </a:lvl6pPr>
            <a:lvl7pPr>
              <a:defRPr sz="1575" b="1">
                <a:solidFill>
                  <a:srgbClr val="F6FBFF"/>
                </a:solidFill>
              </a:defRPr>
            </a:lvl7pPr>
            <a:lvl8pPr>
              <a:defRPr sz="1575" b="1">
                <a:solidFill>
                  <a:srgbClr val="F6FBFF"/>
                </a:solidFill>
              </a:defRPr>
            </a:lvl8pPr>
            <a:lvl9pPr>
              <a:defRPr sz="15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6FBFF"/>
                </a:solidFill>
              </a:defRPr>
            </a:pPr>
            <a:r>
              <a:rPr sz="1575" b="1">
                <a:solidFill>
                  <a:srgbClr val="F6FBFF"/>
                </a:solidFill>
              </a:rPr>
              <a:t>Blocked threads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F2C61-C9D6-4379-A356-E172B59F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314575"/>
            <a:ext cx="647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23EAC7-247A-414E-96F8-C3047A67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314575"/>
            <a:ext cx="647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57D5E7"/>
          </a:solidFill>
          <a:ln xmlns:a="http://schemas.openxmlformats.org/drawingml/2006/main" w="9525">
            <a:solidFill>
              <a:srgbClr val="57D5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06882-0AE0-4EE3-99CD-551304B5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2955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7D5E7"/>
                </a:solidFill>
              </a:defRPr>
            </a:defPPr>
            <a:lvl1pPr>
              <a:defRPr sz="1650" b="1">
                <a:solidFill>
                  <a:srgbClr val="57D5E7"/>
                </a:solidFill>
              </a:defRPr>
            </a:lvl1pPr>
            <a:lvl2pPr>
              <a:defRPr sz="1650" b="1">
                <a:solidFill>
                  <a:srgbClr val="57D5E7"/>
                </a:solidFill>
              </a:defRPr>
            </a:lvl2pPr>
            <a:lvl3pPr>
              <a:defRPr sz="1650" b="1">
                <a:solidFill>
                  <a:srgbClr val="57D5E7"/>
                </a:solidFill>
              </a:defRPr>
            </a:lvl3pPr>
            <a:lvl4pPr>
              <a:defRPr sz="1650" b="1">
                <a:solidFill>
                  <a:srgbClr val="57D5E7"/>
                </a:solidFill>
              </a:defRPr>
            </a:lvl4pPr>
            <a:lvl5pPr>
              <a:defRPr sz="1650" b="1">
                <a:solidFill>
                  <a:srgbClr val="57D5E7"/>
                </a:solidFill>
              </a:defRPr>
            </a:lvl5pPr>
            <a:lvl6pPr>
              <a:defRPr sz="1650" b="1">
                <a:solidFill>
                  <a:srgbClr val="57D5E7"/>
                </a:solidFill>
              </a:defRPr>
            </a:lvl6pPr>
            <a:lvl7pPr>
              <a:defRPr sz="1650" b="1">
                <a:solidFill>
                  <a:srgbClr val="57D5E7"/>
                </a:solidFill>
              </a:defRPr>
            </a:lvl7pPr>
            <a:lvl8pPr>
              <a:defRPr sz="1650" b="1">
                <a:solidFill>
                  <a:srgbClr val="57D5E7"/>
                </a:solidFill>
              </a:defRPr>
            </a:lvl8pPr>
            <a:lvl9pPr>
              <a:defRPr sz="16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7D5E7"/>
                </a:solidFill>
              </a:defRPr>
            </a:pPr>
            <a:r>
              <a:rPr sz="1650" b="1">
                <a:solidFill>
                  <a:srgbClr val="57D5E7"/>
                </a:solidFill>
              </a:rPr>
              <a:t>35%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42B84E-DCDD-4624-86AB-2B5EBBB4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86100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6FBFF"/>
                </a:solidFill>
              </a:defRPr>
            </a:defPPr>
            <a:lvl1pPr>
              <a:defRPr sz="1575" b="1">
                <a:solidFill>
                  <a:srgbClr val="F6FBFF"/>
                </a:solidFill>
              </a:defRPr>
            </a:lvl1pPr>
            <a:lvl2pPr>
              <a:defRPr sz="1575" b="1">
                <a:solidFill>
                  <a:srgbClr val="F6FBFF"/>
                </a:solidFill>
              </a:defRPr>
            </a:lvl2pPr>
            <a:lvl3pPr>
              <a:defRPr sz="1575" b="1">
                <a:solidFill>
                  <a:srgbClr val="F6FBFF"/>
                </a:solidFill>
              </a:defRPr>
            </a:lvl3pPr>
            <a:lvl4pPr>
              <a:defRPr sz="1575" b="1">
                <a:solidFill>
                  <a:srgbClr val="F6FBFF"/>
                </a:solidFill>
              </a:defRPr>
            </a:lvl4pPr>
            <a:lvl5pPr>
              <a:defRPr sz="1575" b="1">
                <a:solidFill>
                  <a:srgbClr val="F6FBFF"/>
                </a:solidFill>
              </a:defRPr>
            </a:lvl5pPr>
            <a:lvl6pPr>
              <a:defRPr sz="1575" b="1">
                <a:solidFill>
                  <a:srgbClr val="F6FBFF"/>
                </a:solidFill>
              </a:defRPr>
            </a:lvl6pPr>
            <a:lvl7pPr>
              <a:defRPr sz="1575" b="1">
                <a:solidFill>
                  <a:srgbClr val="F6FBFF"/>
                </a:solidFill>
              </a:defRPr>
            </a:lvl7pPr>
            <a:lvl8pPr>
              <a:defRPr sz="1575" b="1">
                <a:solidFill>
                  <a:srgbClr val="F6FBFF"/>
                </a:solidFill>
              </a:defRPr>
            </a:lvl8pPr>
            <a:lvl9pPr>
              <a:defRPr sz="15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6FBFF"/>
                </a:solidFill>
              </a:defRPr>
            </a:pPr>
            <a:r>
              <a:rPr sz="1575" b="1">
                <a:solidFill>
                  <a:srgbClr val="F6FBFF"/>
                </a:solidFill>
              </a:rPr>
              <a:t>Wait duration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726DF-423D-44F6-9939-4981167D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05150"/>
            <a:ext cx="647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6B2423-3B8C-42D1-8278-CFF83114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05150"/>
            <a:ext cx="5551714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57D5E7"/>
          </a:solidFill>
          <a:ln xmlns:a="http://schemas.openxmlformats.org/drawingml/2006/main" w="9525">
            <a:solidFill>
              <a:srgbClr val="57D5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9CEDAB-8A54-47F9-BF5D-7079E70F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0861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7D5E7"/>
                </a:solidFill>
              </a:defRPr>
            </a:defPPr>
            <a:lvl1pPr>
              <a:defRPr sz="1650" b="1">
                <a:solidFill>
                  <a:srgbClr val="57D5E7"/>
                </a:solidFill>
              </a:defRPr>
            </a:lvl1pPr>
            <a:lvl2pPr>
              <a:defRPr sz="1650" b="1">
                <a:solidFill>
                  <a:srgbClr val="57D5E7"/>
                </a:solidFill>
              </a:defRPr>
            </a:lvl2pPr>
            <a:lvl3pPr>
              <a:defRPr sz="1650" b="1">
                <a:solidFill>
                  <a:srgbClr val="57D5E7"/>
                </a:solidFill>
              </a:defRPr>
            </a:lvl3pPr>
            <a:lvl4pPr>
              <a:defRPr sz="1650" b="1">
                <a:solidFill>
                  <a:srgbClr val="57D5E7"/>
                </a:solidFill>
              </a:defRPr>
            </a:lvl4pPr>
            <a:lvl5pPr>
              <a:defRPr sz="1650" b="1">
                <a:solidFill>
                  <a:srgbClr val="57D5E7"/>
                </a:solidFill>
              </a:defRPr>
            </a:lvl5pPr>
            <a:lvl6pPr>
              <a:defRPr sz="1650" b="1">
                <a:solidFill>
                  <a:srgbClr val="57D5E7"/>
                </a:solidFill>
              </a:defRPr>
            </a:lvl6pPr>
            <a:lvl7pPr>
              <a:defRPr sz="1650" b="1">
                <a:solidFill>
                  <a:srgbClr val="57D5E7"/>
                </a:solidFill>
              </a:defRPr>
            </a:lvl7pPr>
            <a:lvl8pPr>
              <a:defRPr sz="1650" b="1">
                <a:solidFill>
                  <a:srgbClr val="57D5E7"/>
                </a:solidFill>
              </a:defRPr>
            </a:lvl8pPr>
            <a:lvl9pPr>
              <a:defRPr sz="16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7D5E7"/>
                </a:solidFill>
              </a:defRPr>
            </a:pPr>
            <a:r>
              <a:rPr sz="1650" b="1">
                <a:solidFill>
                  <a:srgbClr val="57D5E7"/>
                </a:solidFill>
              </a:rPr>
              <a:t>30%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33D0D-5F6D-40FA-AFF9-7BFEC7D3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6FBFF"/>
                </a:solidFill>
              </a:defRPr>
            </a:defPPr>
            <a:lvl1pPr>
              <a:defRPr sz="1575" b="1">
                <a:solidFill>
                  <a:srgbClr val="F6FBFF"/>
                </a:solidFill>
              </a:defRPr>
            </a:lvl1pPr>
            <a:lvl2pPr>
              <a:defRPr sz="1575" b="1">
                <a:solidFill>
                  <a:srgbClr val="F6FBFF"/>
                </a:solidFill>
              </a:defRPr>
            </a:lvl2pPr>
            <a:lvl3pPr>
              <a:defRPr sz="1575" b="1">
                <a:solidFill>
                  <a:srgbClr val="F6FBFF"/>
                </a:solidFill>
              </a:defRPr>
            </a:lvl3pPr>
            <a:lvl4pPr>
              <a:defRPr sz="1575" b="1">
                <a:solidFill>
                  <a:srgbClr val="F6FBFF"/>
                </a:solidFill>
              </a:defRPr>
            </a:lvl4pPr>
            <a:lvl5pPr>
              <a:defRPr sz="1575" b="1">
                <a:solidFill>
                  <a:srgbClr val="F6FBFF"/>
                </a:solidFill>
              </a:defRPr>
            </a:lvl5pPr>
            <a:lvl6pPr>
              <a:defRPr sz="1575" b="1">
                <a:solidFill>
                  <a:srgbClr val="F6FBFF"/>
                </a:solidFill>
              </a:defRPr>
            </a:lvl6pPr>
            <a:lvl7pPr>
              <a:defRPr sz="1575" b="1">
                <a:solidFill>
                  <a:srgbClr val="F6FBFF"/>
                </a:solidFill>
              </a:defRPr>
            </a:lvl7pPr>
            <a:lvl8pPr>
              <a:defRPr sz="1575" b="1">
                <a:solidFill>
                  <a:srgbClr val="F6FBFF"/>
                </a:solidFill>
              </a:defRPr>
            </a:lvl8pPr>
            <a:lvl9pPr>
              <a:defRPr sz="15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6FBFF"/>
                </a:solidFill>
              </a:defRPr>
            </a:pPr>
            <a:r>
              <a:rPr sz="1575" b="1">
                <a:solidFill>
                  <a:srgbClr val="F6FBFF"/>
                </a:solidFill>
              </a:rPr>
              <a:t>Contention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FC5C3-7501-4511-8B35-1A3D8B84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895725"/>
            <a:ext cx="647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AA9233-D64B-438B-BDF6-86D763B6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895725"/>
            <a:ext cx="3701143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57D5E7"/>
          </a:solidFill>
          <a:ln xmlns:a="http://schemas.openxmlformats.org/drawingml/2006/main" w="9525">
            <a:solidFill>
              <a:srgbClr val="57D5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95736-A7D6-4D37-BF95-2F7E5C7C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7667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7D5E7"/>
                </a:solidFill>
              </a:defRPr>
            </a:defPPr>
            <a:lvl1pPr>
              <a:defRPr sz="1650" b="1">
                <a:solidFill>
                  <a:srgbClr val="57D5E7"/>
                </a:solidFill>
              </a:defRPr>
            </a:lvl1pPr>
            <a:lvl2pPr>
              <a:defRPr sz="1650" b="1">
                <a:solidFill>
                  <a:srgbClr val="57D5E7"/>
                </a:solidFill>
              </a:defRPr>
            </a:lvl2pPr>
            <a:lvl3pPr>
              <a:defRPr sz="1650" b="1">
                <a:solidFill>
                  <a:srgbClr val="57D5E7"/>
                </a:solidFill>
              </a:defRPr>
            </a:lvl3pPr>
            <a:lvl4pPr>
              <a:defRPr sz="1650" b="1">
                <a:solidFill>
                  <a:srgbClr val="57D5E7"/>
                </a:solidFill>
              </a:defRPr>
            </a:lvl4pPr>
            <a:lvl5pPr>
              <a:defRPr sz="1650" b="1">
                <a:solidFill>
                  <a:srgbClr val="57D5E7"/>
                </a:solidFill>
              </a:defRPr>
            </a:lvl5pPr>
            <a:lvl6pPr>
              <a:defRPr sz="1650" b="1">
                <a:solidFill>
                  <a:srgbClr val="57D5E7"/>
                </a:solidFill>
              </a:defRPr>
            </a:lvl6pPr>
            <a:lvl7pPr>
              <a:defRPr sz="1650" b="1">
                <a:solidFill>
                  <a:srgbClr val="57D5E7"/>
                </a:solidFill>
              </a:defRPr>
            </a:lvl7pPr>
            <a:lvl8pPr>
              <a:defRPr sz="1650" b="1">
                <a:solidFill>
                  <a:srgbClr val="57D5E7"/>
                </a:solidFill>
              </a:defRPr>
            </a:lvl8pPr>
            <a:lvl9pPr>
              <a:defRPr sz="16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7D5E7"/>
                </a:solidFill>
              </a:defRPr>
            </a:pPr>
            <a:r>
              <a:rPr sz="1650" b="1">
                <a:solidFill>
                  <a:srgbClr val="57D5E7"/>
                </a:solidFill>
              </a:rPr>
              <a:t>20%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F1F79D-F535-4530-BB27-720D4DD8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0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F6FBFF"/>
                </a:solidFill>
              </a:defRPr>
            </a:defPPr>
            <a:lvl1pPr>
              <a:defRPr sz="1575" b="1">
                <a:solidFill>
                  <a:srgbClr val="F6FBFF"/>
                </a:solidFill>
              </a:defRPr>
            </a:lvl1pPr>
            <a:lvl2pPr>
              <a:defRPr sz="1575" b="1">
                <a:solidFill>
                  <a:srgbClr val="F6FBFF"/>
                </a:solidFill>
              </a:defRPr>
            </a:lvl2pPr>
            <a:lvl3pPr>
              <a:defRPr sz="1575" b="1">
                <a:solidFill>
                  <a:srgbClr val="F6FBFF"/>
                </a:solidFill>
              </a:defRPr>
            </a:lvl3pPr>
            <a:lvl4pPr>
              <a:defRPr sz="1575" b="1">
                <a:solidFill>
                  <a:srgbClr val="F6FBFF"/>
                </a:solidFill>
              </a:defRPr>
            </a:lvl4pPr>
            <a:lvl5pPr>
              <a:defRPr sz="1575" b="1">
                <a:solidFill>
                  <a:srgbClr val="F6FBFF"/>
                </a:solidFill>
              </a:defRPr>
            </a:lvl5pPr>
            <a:lvl6pPr>
              <a:defRPr sz="1575" b="1">
                <a:solidFill>
                  <a:srgbClr val="F6FBFF"/>
                </a:solidFill>
              </a:defRPr>
            </a:lvl6pPr>
            <a:lvl7pPr>
              <a:defRPr sz="1575" b="1">
                <a:solidFill>
                  <a:srgbClr val="F6FBFF"/>
                </a:solidFill>
              </a:defRPr>
            </a:lvl7pPr>
            <a:lvl8pPr>
              <a:defRPr sz="1575" b="1">
                <a:solidFill>
                  <a:srgbClr val="F6FBFF"/>
                </a:solidFill>
              </a:defRPr>
            </a:lvl8pPr>
            <a:lvl9pPr>
              <a:defRPr sz="15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6FBFF"/>
                </a:solidFill>
              </a:defRPr>
            </a:pPr>
            <a:r>
              <a:rPr sz="1575" b="1">
                <a:solidFill>
                  <a:srgbClr val="F6FBFF"/>
                </a:solidFill>
              </a:rPr>
              <a:t>Resource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A8D3B8-340E-4644-AEDD-6A5E091A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686300"/>
            <a:ext cx="647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7F1C4F-8D89-40A7-8EF8-1B00ABCF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686300"/>
            <a:ext cx="2775857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57D5E7"/>
          </a:solidFill>
          <a:ln xmlns:a="http://schemas.openxmlformats.org/drawingml/2006/main" w="9525">
            <a:solidFill>
              <a:srgbClr val="57D5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76C94-A066-4707-A2BF-3928B254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66725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7D5E7"/>
                </a:solidFill>
              </a:defRPr>
            </a:defPPr>
            <a:lvl1pPr>
              <a:defRPr sz="1650" b="1">
                <a:solidFill>
                  <a:srgbClr val="57D5E7"/>
                </a:solidFill>
              </a:defRPr>
            </a:lvl1pPr>
            <a:lvl2pPr>
              <a:defRPr sz="1650" b="1">
                <a:solidFill>
                  <a:srgbClr val="57D5E7"/>
                </a:solidFill>
              </a:defRPr>
            </a:lvl2pPr>
            <a:lvl3pPr>
              <a:defRPr sz="1650" b="1">
                <a:solidFill>
                  <a:srgbClr val="57D5E7"/>
                </a:solidFill>
              </a:defRPr>
            </a:lvl3pPr>
            <a:lvl4pPr>
              <a:defRPr sz="1650" b="1">
                <a:solidFill>
                  <a:srgbClr val="57D5E7"/>
                </a:solidFill>
              </a:defRPr>
            </a:lvl4pPr>
            <a:lvl5pPr>
              <a:defRPr sz="1650" b="1">
                <a:solidFill>
                  <a:srgbClr val="57D5E7"/>
                </a:solidFill>
              </a:defRPr>
            </a:lvl5pPr>
            <a:lvl6pPr>
              <a:defRPr sz="1650" b="1">
                <a:solidFill>
                  <a:srgbClr val="57D5E7"/>
                </a:solidFill>
              </a:defRPr>
            </a:lvl6pPr>
            <a:lvl7pPr>
              <a:defRPr sz="1650" b="1">
                <a:solidFill>
                  <a:srgbClr val="57D5E7"/>
                </a:solidFill>
              </a:defRPr>
            </a:lvl7pPr>
            <a:lvl8pPr>
              <a:defRPr sz="1650" b="1">
                <a:solidFill>
                  <a:srgbClr val="57D5E7"/>
                </a:solidFill>
              </a:defRPr>
            </a:lvl8pPr>
            <a:lvl9pPr>
              <a:defRPr sz="16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7D5E7"/>
                </a:solidFill>
              </a:defRPr>
            </a:pPr>
            <a:r>
              <a:rPr sz="1650" b="1">
                <a:solidFill>
                  <a:srgbClr val="57D5E7"/>
                </a:solidFill>
              </a:rPr>
              <a:t>15%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90F3DE-389C-4057-A5B0-591B84C4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76900"/>
            <a:ext cx="11049000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C476"/>
          </a:solidFill>
          <a:ln xmlns:a="http://schemas.openxmlformats.org/drawingml/2006/main" w="9525">
            <a:solidFill>
              <a:srgbClr val="FFC47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85FD7B-33B1-4D32-842E-5D92BE86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53100"/>
            <a:ext cx="10744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220"/>
                </a:solidFill>
              </a:defRPr>
            </a:defPPr>
            <a:lvl1pPr>
              <a:defRPr sz="1425" b="1">
                <a:solidFill>
                  <a:srgbClr val="0B1220"/>
                </a:solidFill>
              </a:defRPr>
            </a:lvl1pPr>
            <a:lvl2pPr>
              <a:defRPr sz="1425" b="1">
                <a:solidFill>
                  <a:srgbClr val="0B1220"/>
                </a:solidFill>
              </a:defRPr>
            </a:lvl2pPr>
            <a:lvl3pPr>
              <a:defRPr sz="1425" b="1">
                <a:solidFill>
                  <a:srgbClr val="0B1220"/>
                </a:solidFill>
              </a:defRPr>
            </a:lvl3pPr>
            <a:lvl4pPr>
              <a:defRPr sz="1425" b="1">
                <a:solidFill>
                  <a:srgbClr val="0B1220"/>
                </a:solidFill>
              </a:defRPr>
            </a:lvl4pPr>
            <a:lvl5pPr>
              <a:defRPr sz="1425" b="1">
                <a:solidFill>
                  <a:srgbClr val="0B1220"/>
                </a:solidFill>
              </a:defRPr>
            </a:lvl5pPr>
            <a:lvl6pPr>
              <a:defRPr sz="1425" b="1">
                <a:solidFill>
                  <a:srgbClr val="0B1220"/>
                </a:solidFill>
              </a:defRPr>
            </a:lvl6pPr>
            <a:lvl7pPr>
              <a:defRPr sz="1425" b="1">
                <a:solidFill>
                  <a:srgbClr val="0B1220"/>
                </a:solidFill>
              </a:defRPr>
            </a:lvl7pPr>
            <a:lvl8pPr>
              <a:defRPr sz="1425" b="1">
                <a:solidFill>
                  <a:srgbClr val="0B1220"/>
                </a:solidFill>
              </a:defRPr>
            </a:lvl8pPr>
            <a:lvl9pPr>
              <a:defRPr sz="1425" b="1">
                <a:solidFill>
                  <a:srgbClr val="0B1220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Structural rule: split lock owners + one cross-resource wait -&gt; at least 72, before any cycle</a:t>
            </a:r>
          </a:p>
        </p:txBody>
      </p:sp>
    </p:spTree>
    <p:extLst>
      <p:ext uri="{BB962C8B-B14F-4D97-AF65-F5344CB8AC3E}">
        <p14:creationId xmlns:p14="http://schemas.microsoft.com/office/powerpoint/2010/main" val="16465044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3277E4-FB80-4BB1-BE0E-049B7384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PREDICTIVE DEADLOCK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704CA7-A0FB-4D64-966C-7B7AD6AD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Protected mode learns one safe order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ADE70-D118-4314-9596-031EBF29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B5697-C25F-4D06-AF7C-CEB56A50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9D537-AFDA-400E-92ED-C019C2A9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25880-0AFB-4458-984F-8180629A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348615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F0CA9E-CB42-4E10-A241-5378C36F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5717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FC476"/>
                </a:solidFill>
              </a:defRPr>
            </a:defPPr>
            <a:lvl1pPr>
              <a:defRPr sz="1725" b="1">
                <a:solidFill>
                  <a:srgbClr val="FFC476"/>
                </a:solidFill>
              </a:defRPr>
            </a:lvl1pPr>
            <a:lvl2pPr>
              <a:defRPr sz="1725" b="1">
                <a:solidFill>
                  <a:srgbClr val="FFC476"/>
                </a:solidFill>
              </a:defRPr>
            </a:lvl2pPr>
            <a:lvl3pPr>
              <a:defRPr sz="1725" b="1">
                <a:solidFill>
                  <a:srgbClr val="FFC476"/>
                </a:solidFill>
              </a:defRPr>
            </a:lvl3pPr>
            <a:lvl4pPr>
              <a:defRPr sz="1725" b="1">
                <a:solidFill>
                  <a:srgbClr val="FFC476"/>
                </a:solidFill>
              </a:defRPr>
            </a:lvl4pPr>
            <a:lvl5pPr>
              <a:defRPr sz="1725" b="1">
                <a:solidFill>
                  <a:srgbClr val="FFC476"/>
                </a:solidFill>
              </a:defRPr>
            </a:lvl5pPr>
            <a:lvl6pPr>
              <a:defRPr sz="1725" b="1">
                <a:solidFill>
                  <a:srgbClr val="FFC476"/>
                </a:solidFill>
              </a:defRPr>
            </a:lvl6pPr>
            <a:lvl7pPr>
              <a:defRPr sz="1725" b="1">
                <a:solidFill>
                  <a:srgbClr val="FFC476"/>
                </a:solidFill>
              </a:defRPr>
            </a:lvl7pPr>
            <a:lvl8pPr>
              <a:defRPr sz="1725" b="1">
                <a:solidFill>
                  <a:srgbClr val="FFC476"/>
                </a:solidFill>
              </a:defRPr>
            </a:lvl8pPr>
            <a:lvl9pPr>
              <a:defRPr sz="1725" b="1">
                <a:solidFill>
                  <a:srgbClr val="FFC47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FC476"/>
                </a:solidFill>
              </a:defRPr>
            </a:pPr>
            <a:r>
              <a:rPr sz="1725" b="1">
                <a:solidFill>
                  <a:srgbClr val="FFC476"/>
                </a:solidFill>
              </a:rPr>
              <a:t>1  PROBE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DB672-486B-4109-ABF1-CCD3EF0B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171825"/>
            <a:ext cx="300037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T1 holds A; T2 holds B.</a:t>
            </a:r>
          </a:p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T1 waits for B. No cycle.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0DD9B1-8931-429D-8FD6-8C79BBF8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05050"/>
            <a:ext cx="348615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EAF447-4A34-432D-9968-74858EB6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7D5E7"/>
                </a:solidFill>
              </a:defRPr>
            </a:defPPr>
            <a:lvl1pPr>
              <a:defRPr sz="1725" b="1">
                <a:solidFill>
                  <a:srgbClr val="57D5E7"/>
                </a:solidFill>
              </a:defRPr>
            </a:lvl1pPr>
            <a:lvl2pPr>
              <a:defRPr sz="1725" b="1">
                <a:solidFill>
                  <a:srgbClr val="57D5E7"/>
                </a:solidFill>
              </a:defRPr>
            </a:lvl2pPr>
            <a:lvl3pPr>
              <a:defRPr sz="1725" b="1">
                <a:solidFill>
                  <a:srgbClr val="57D5E7"/>
                </a:solidFill>
              </a:defRPr>
            </a:lvl3pPr>
            <a:lvl4pPr>
              <a:defRPr sz="1725" b="1">
                <a:solidFill>
                  <a:srgbClr val="57D5E7"/>
                </a:solidFill>
              </a:defRPr>
            </a:lvl4pPr>
            <a:lvl5pPr>
              <a:defRPr sz="1725" b="1">
                <a:solidFill>
                  <a:srgbClr val="57D5E7"/>
                </a:solidFill>
              </a:defRPr>
            </a:lvl5pPr>
            <a:lvl6pPr>
              <a:defRPr sz="1725" b="1">
                <a:solidFill>
                  <a:srgbClr val="57D5E7"/>
                </a:solidFill>
              </a:defRPr>
            </a:lvl6pPr>
            <a:lvl7pPr>
              <a:defRPr sz="1725" b="1">
                <a:solidFill>
                  <a:srgbClr val="57D5E7"/>
                </a:solidFill>
              </a:defRPr>
            </a:lvl7pPr>
            <a:lvl8pPr>
              <a:defRPr sz="1725" b="1">
                <a:solidFill>
                  <a:srgbClr val="57D5E7"/>
                </a:solidFill>
              </a:defRPr>
            </a:lvl8pPr>
            <a:lvl9pPr>
              <a:defRPr sz="17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57D5E7"/>
                </a:solidFill>
              </a:defRPr>
            </a:pPr>
            <a:r>
              <a:rPr sz="1725" b="1">
                <a:solidFill>
                  <a:srgbClr val="57D5E7"/>
                </a:solidFill>
              </a:rPr>
              <a:t>2  LEARN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E9B9A7-2844-4036-9DAE-F3906050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71825"/>
            <a:ext cx="300037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Observed A → B dependency</a:t>
            </a:r>
          </a:p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derives total order A, 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B3EDC-E4A0-4826-8824-B2D94587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348615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0067D4-B19A-47A1-B2A7-75A68B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5717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63D7B1"/>
                </a:solidFill>
              </a:defRPr>
            </a:defPPr>
            <a:lvl1pPr>
              <a:defRPr sz="1725" b="1">
                <a:solidFill>
                  <a:srgbClr val="63D7B1"/>
                </a:solidFill>
              </a:defRPr>
            </a:lvl1pPr>
            <a:lvl2pPr>
              <a:defRPr sz="1725" b="1">
                <a:solidFill>
                  <a:srgbClr val="63D7B1"/>
                </a:solidFill>
              </a:defRPr>
            </a:lvl2pPr>
            <a:lvl3pPr>
              <a:defRPr sz="1725" b="1">
                <a:solidFill>
                  <a:srgbClr val="63D7B1"/>
                </a:solidFill>
              </a:defRPr>
            </a:lvl3pPr>
            <a:lvl4pPr>
              <a:defRPr sz="1725" b="1">
                <a:solidFill>
                  <a:srgbClr val="63D7B1"/>
                </a:solidFill>
              </a:defRPr>
            </a:lvl4pPr>
            <a:lvl5pPr>
              <a:defRPr sz="1725" b="1">
                <a:solidFill>
                  <a:srgbClr val="63D7B1"/>
                </a:solidFill>
              </a:defRPr>
            </a:lvl5pPr>
            <a:lvl6pPr>
              <a:defRPr sz="1725" b="1">
                <a:solidFill>
                  <a:srgbClr val="63D7B1"/>
                </a:solidFill>
              </a:defRPr>
            </a:lvl6pPr>
            <a:lvl7pPr>
              <a:defRPr sz="1725" b="1">
                <a:solidFill>
                  <a:srgbClr val="63D7B1"/>
                </a:solidFill>
              </a:defRPr>
            </a:lvl7pPr>
            <a:lvl8pPr>
              <a:defRPr sz="1725" b="1">
                <a:solidFill>
                  <a:srgbClr val="63D7B1"/>
                </a:solidFill>
              </a:defRPr>
            </a:lvl8pPr>
            <a:lvl9pPr>
              <a:defRPr sz="1725" b="1">
                <a:solidFill>
                  <a:srgbClr val="63D7B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63D7B1"/>
                </a:solidFill>
              </a:defRPr>
            </a:pPr>
            <a:r>
              <a:rPr sz="1725" b="1">
                <a:solidFill>
                  <a:srgbClr val="63D7B1"/>
                </a:solidFill>
              </a:rPr>
              <a:t>3  APPLY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DF943-404B-4BDF-B6ED-6B2C7433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3171825"/>
            <a:ext cx="300037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6FBFF"/>
                </a:solidFill>
              </a:defRPr>
            </a:defPPr>
            <a:lvl1pPr>
              <a:defRPr sz="1800" b="1">
                <a:solidFill>
                  <a:srgbClr val="F6FBFF"/>
                </a:solidFill>
              </a:defRPr>
            </a:lvl1pPr>
            <a:lvl2pPr>
              <a:defRPr sz="1800" b="1">
                <a:solidFill>
                  <a:srgbClr val="F6FBFF"/>
                </a:solidFill>
              </a:defRPr>
            </a:lvl2pPr>
            <a:lvl3pPr>
              <a:defRPr sz="1800" b="1">
                <a:solidFill>
                  <a:srgbClr val="F6FBFF"/>
                </a:solidFill>
              </a:defRPr>
            </a:lvl3pPr>
            <a:lvl4pPr>
              <a:defRPr sz="1800" b="1">
                <a:solidFill>
                  <a:srgbClr val="F6FBFF"/>
                </a:solidFill>
              </a:defRPr>
            </a:lvl4pPr>
            <a:lvl5pPr>
              <a:defRPr sz="1800" b="1">
                <a:solidFill>
                  <a:srgbClr val="F6FBFF"/>
                </a:solidFill>
              </a:defRPr>
            </a:lvl5pPr>
            <a:lvl6pPr>
              <a:defRPr sz="1800" b="1">
                <a:solidFill>
                  <a:srgbClr val="F6FBFF"/>
                </a:solidFill>
              </a:defRPr>
            </a:lvl6pPr>
            <a:lvl7pPr>
              <a:defRPr sz="1800" b="1">
                <a:solidFill>
                  <a:srgbClr val="F6FBFF"/>
                </a:solidFill>
              </a:defRPr>
            </a:lvl7pPr>
            <a:lvl8pPr>
              <a:defRPr sz="1800" b="1">
                <a:solidFill>
                  <a:srgbClr val="F6FBFF"/>
                </a:solidFill>
              </a:defRPr>
            </a:lvl8pPr>
            <a:lvl9pPr>
              <a:defRPr sz="1800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Both main workers take A</a:t>
            </a:r>
          </a:p>
          <a:p xmlns:a="http://schemas.openxmlformats.org/drawingml/2006/main">
            <a:pPr>
              <a:defRPr sz="1800" b="1">
                <a:solidFill>
                  <a:srgbClr val="F6FBFF"/>
                </a:solidFill>
              </a:defRPr>
            </a:pPr>
            <a:r>
              <a:rPr sz="1800" b="1">
                <a:solidFill>
                  <a:srgbClr val="F6FBFF"/>
                </a:solidFill>
              </a:rPr>
              <a:t>before B and complete.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A3AD8-B104-475D-9153-678BFE6C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409950"/>
            <a:ext cx="228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7D5E7"/>
                </a:solidFill>
              </a:defRPr>
            </a:defPPr>
            <a:lvl1pPr>
              <a:defRPr sz="1650" b="1">
                <a:solidFill>
                  <a:srgbClr val="57D5E7"/>
                </a:solidFill>
              </a:defRPr>
            </a:lvl1pPr>
            <a:lvl2pPr>
              <a:defRPr sz="1650" b="1">
                <a:solidFill>
                  <a:srgbClr val="57D5E7"/>
                </a:solidFill>
              </a:defRPr>
            </a:lvl2pPr>
            <a:lvl3pPr>
              <a:defRPr sz="1650" b="1">
                <a:solidFill>
                  <a:srgbClr val="57D5E7"/>
                </a:solidFill>
              </a:defRPr>
            </a:lvl3pPr>
            <a:lvl4pPr>
              <a:defRPr sz="1650" b="1">
                <a:solidFill>
                  <a:srgbClr val="57D5E7"/>
                </a:solidFill>
              </a:defRPr>
            </a:lvl4pPr>
            <a:lvl5pPr>
              <a:defRPr sz="1650" b="1">
                <a:solidFill>
                  <a:srgbClr val="57D5E7"/>
                </a:solidFill>
              </a:defRPr>
            </a:lvl5pPr>
            <a:lvl6pPr>
              <a:defRPr sz="1650" b="1">
                <a:solidFill>
                  <a:srgbClr val="57D5E7"/>
                </a:solidFill>
              </a:defRPr>
            </a:lvl6pPr>
            <a:lvl7pPr>
              <a:defRPr sz="1650" b="1">
                <a:solidFill>
                  <a:srgbClr val="57D5E7"/>
                </a:solidFill>
              </a:defRPr>
            </a:lvl7pPr>
            <a:lvl8pPr>
              <a:defRPr sz="1650" b="1">
                <a:solidFill>
                  <a:srgbClr val="57D5E7"/>
                </a:solidFill>
              </a:defRPr>
            </a:lvl8pPr>
            <a:lvl9pPr>
              <a:defRPr sz="16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7D5E7"/>
                </a:solidFill>
              </a:defRPr>
            </a:pPr>
            <a:r>
              <a:rPr sz="16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E8646-24FC-4B4F-ABE9-E500E70F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09950"/>
            <a:ext cx="228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7D5E7"/>
                </a:solidFill>
              </a:defRPr>
            </a:defPPr>
            <a:lvl1pPr>
              <a:defRPr sz="1650" b="1">
                <a:solidFill>
                  <a:srgbClr val="57D5E7"/>
                </a:solidFill>
              </a:defRPr>
            </a:lvl1pPr>
            <a:lvl2pPr>
              <a:defRPr sz="1650" b="1">
                <a:solidFill>
                  <a:srgbClr val="57D5E7"/>
                </a:solidFill>
              </a:defRPr>
            </a:lvl2pPr>
            <a:lvl3pPr>
              <a:defRPr sz="1650" b="1">
                <a:solidFill>
                  <a:srgbClr val="57D5E7"/>
                </a:solidFill>
              </a:defRPr>
            </a:lvl3pPr>
            <a:lvl4pPr>
              <a:defRPr sz="1650" b="1">
                <a:solidFill>
                  <a:srgbClr val="57D5E7"/>
                </a:solidFill>
              </a:defRPr>
            </a:lvl4pPr>
            <a:lvl5pPr>
              <a:defRPr sz="1650" b="1">
                <a:solidFill>
                  <a:srgbClr val="57D5E7"/>
                </a:solidFill>
              </a:defRPr>
            </a:lvl5pPr>
            <a:lvl6pPr>
              <a:defRPr sz="1650" b="1">
                <a:solidFill>
                  <a:srgbClr val="57D5E7"/>
                </a:solidFill>
              </a:defRPr>
            </a:lvl6pPr>
            <a:lvl7pPr>
              <a:defRPr sz="1650" b="1">
                <a:solidFill>
                  <a:srgbClr val="57D5E7"/>
                </a:solidFill>
              </a:defRPr>
            </a:lvl7pPr>
            <a:lvl8pPr>
              <a:defRPr sz="1650" b="1">
                <a:solidFill>
                  <a:srgbClr val="57D5E7"/>
                </a:solidFill>
              </a:defRPr>
            </a:lvl8pPr>
            <a:lvl9pPr>
              <a:defRPr sz="16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7D5E7"/>
                </a:solidFill>
              </a:defRPr>
            </a:pPr>
            <a:r>
              <a:rPr sz="1650" b="1">
                <a:solidFill>
                  <a:srgbClr val="57D5E7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2CEC72-B2D2-41DE-A697-70A2CB00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4475"/>
            <a:ext cx="110490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9EB47-1200-464B-9E0B-CFBFD215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673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EC4D3"/>
                </a:solidFill>
              </a:defRPr>
            </a:defPPr>
            <a:lvl1pPr>
              <a:defRPr sz="1650" b="0">
                <a:solidFill>
                  <a:srgbClr val="AEC4D3"/>
                </a:solidFill>
              </a:defRPr>
            </a:lvl1pPr>
            <a:lvl2pPr>
              <a:defRPr sz="1650" b="0">
                <a:solidFill>
                  <a:srgbClr val="AEC4D3"/>
                </a:solidFill>
              </a:defRPr>
            </a:lvl2pPr>
            <a:lvl3pPr>
              <a:defRPr sz="1650" b="0">
                <a:solidFill>
                  <a:srgbClr val="AEC4D3"/>
                </a:solidFill>
              </a:defRPr>
            </a:lvl3pPr>
            <a:lvl4pPr>
              <a:defRPr sz="1650" b="0">
                <a:solidFill>
                  <a:srgbClr val="AEC4D3"/>
                </a:solidFill>
              </a:defRPr>
            </a:lvl4pPr>
            <a:lvl5pPr>
              <a:defRPr sz="1650" b="0">
                <a:solidFill>
                  <a:srgbClr val="AEC4D3"/>
                </a:solidFill>
              </a:defRPr>
            </a:lvl5pPr>
            <a:lvl6pPr>
              <a:defRPr sz="1650" b="0">
                <a:solidFill>
                  <a:srgbClr val="AEC4D3"/>
                </a:solidFill>
              </a:defRPr>
            </a:lvl6pPr>
            <a:lvl7pPr>
              <a:defRPr sz="1650" b="0">
                <a:solidFill>
                  <a:srgbClr val="AEC4D3"/>
                </a:solidFill>
              </a:defRPr>
            </a:lvl7pPr>
            <a:lvl8pPr>
              <a:defRPr sz="1650" b="0">
                <a:solidFill>
                  <a:srgbClr val="AEC4D3"/>
                </a:solidFill>
              </a:defRPr>
            </a:lvl8pPr>
            <a:lvl9pPr>
              <a:defRPr sz="1650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EC4D3"/>
                </a:solidFill>
              </a:defRPr>
            </a:pPr>
            <a:r>
              <a:rPr sz="1650" b="0">
                <a:solidFill>
                  <a:srgbClr val="AEC4D3"/>
                </a:solidFill>
              </a:rPr>
              <a:t>Policy applies before main-work lock acquisition; it does not rearrange locks already held.</a:t>
            </a:r>
          </a:p>
        </p:txBody>
      </p:sp>
    </p:spTree>
    <p:extLst>
      <p:ext uri="{BB962C8B-B14F-4D97-AF65-F5344CB8AC3E}">
        <p14:creationId xmlns:p14="http://schemas.microsoft.com/office/powerpoint/2010/main" val="477014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5D399-BABB-453E-B4D2-CE60B1F2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PREDICTIVE DEADLOCK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29E14-11E0-4F99-9C0F-EA691189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The saved controlled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10FDC-D618-4B20-848A-61050CFD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011F1-763C-476C-B97E-8A6996EA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DA2C-5624-495C-8B32-4CCAEFEF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DBFA84-7300-4AB7-9507-BC76C407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EC4D3"/>
                </a:solidFill>
              </a:defRPr>
            </a:defPPr>
            <a:lvl1pPr>
              <a:defRPr sz="1650" b="0">
                <a:solidFill>
                  <a:srgbClr val="AEC4D3"/>
                </a:solidFill>
              </a:defRPr>
            </a:lvl1pPr>
            <a:lvl2pPr>
              <a:defRPr sz="1650" b="0">
                <a:solidFill>
                  <a:srgbClr val="AEC4D3"/>
                </a:solidFill>
              </a:defRPr>
            </a:lvl2pPr>
            <a:lvl3pPr>
              <a:defRPr sz="1650" b="0">
                <a:solidFill>
                  <a:srgbClr val="AEC4D3"/>
                </a:solidFill>
              </a:defRPr>
            </a:lvl3pPr>
            <a:lvl4pPr>
              <a:defRPr sz="1650" b="0">
                <a:solidFill>
                  <a:srgbClr val="AEC4D3"/>
                </a:solidFill>
              </a:defRPr>
            </a:lvl4pPr>
            <a:lvl5pPr>
              <a:defRPr sz="1650" b="0">
                <a:solidFill>
                  <a:srgbClr val="AEC4D3"/>
                </a:solidFill>
              </a:defRPr>
            </a:lvl5pPr>
            <a:lvl6pPr>
              <a:defRPr sz="1650" b="0">
                <a:solidFill>
                  <a:srgbClr val="AEC4D3"/>
                </a:solidFill>
              </a:defRPr>
            </a:lvl6pPr>
            <a:lvl7pPr>
              <a:defRPr sz="1650" b="0">
                <a:solidFill>
                  <a:srgbClr val="AEC4D3"/>
                </a:solidFill>
              </a:defRPr>
            </a:lvl7pPr>
            <a:lvl8pPr>
              <a:defRPr sz="1650" b="0">
                <a:solidFill>
                  <a:srgbClr val="AEC4D3"/>
                </a:solidFill>
              </a:defRPr>
            </a:lvl8pPr>
            <a:lvl9pPr>
              <a:defRPr sz="1650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EC4D3"/>
                </a:solidFill>
              </a:defRPr>
            </a:pPr>
            <a:r>
              <a:rPr sz="1650" b="0">
                <a:solidFill>
                  <a:srgbClr val="AEC4D3"/>
                </a:solidFill>
              </a:rPr>
              <a:t>10 trials per mode · real threads · 3 second ceiling per trial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83F98-D68B-42A0-81DA-CE1C2222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7D5E7"/>
                </a:solidFill>
              </a:defRPr>
            </a:defPPr>
            <a:lvl1pPr>
              <a:defRPr sz="1425" b="1">
                <a:solidFill>
                  <a:srgbClr val="57D5E7"/>
                </a:solidFill>
              </a:defRPr>
            </a:lvl1pPr>
            <a:lvl2pPr>
              <a:defRPr sz="1425" b="1">
                <a:solidFill>
                  <a:srgbClr val="57D5E7"/>
                </a:solidFill>
              </a:defRPr>
            </a:lvl2pPr>
            <a:lvl3pPr>
              <a:defRPr sz="1425" b="1">
                <a:solidFill>
                  <a:srgbClr val="57D5E7"/>
                </a:solidFill>
              </a:defRPr>
            </a:lvl3pPr>
            <a:lvl4pPr>
              <a:defRPr sz="1425" b="1">
                <a:solidFill>
                  <a:srgbClr val="57D5E7"/>
                </a:solidFill>
              </a:defRPr>
            </a:lvl4pPr>
            <a:lvl5pPr>
              <a:defRPr sz="1425" b="1">
                <a:solidFill>
                  <a:srgbClr val="57D5E7"/>
                </a:solidFill>
              </a:defRPr>
            </a:lvl5pPr>
            <a:lvl6pPr>
              <a:defRPr sz="1425" b="1">
                <a:solidFill>
                  <a:srgbClr val="57D5E7"/>
                </a:solidFill>
              </a:defRPr>
            </a:lvl6pPr>
            <a:lvl7pPr>
              <a:defRPr sz="1425" b="1">
                <a:solidFill>
                  <a:srgbClr val="57D5E7"/>
                </a:solidFill>
              </a:defRPr>
            </a:lvl7pPr>
            <a:lvl8pPr>
              <a:defRPr sz="1425" b="1">
                <a:solidFill>
                  <a:srgbClr val="57D5E7"/>
                </a:solidFill>
              </a:defRPr>
            </a:lvl8pPr>
            <a:lvl9pPr>
              <a:defRPr sz="14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7D5E7"/>
                </a:solidFill>
              </a:defRPr>
            </a:pPr>
            <a:r>
              <a:rPr sz="1425" b="1">
                <a:solidFill>
                  <a:srgbClr val="57D5E7"/>
                </a:solidFill>
              </a:rPr>
              <a:t>DEADLOCK 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4099A-D650-41C6-B51D-F0D79240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05100"/>
            <a:ext cx="7810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FF084-EC56-4282-8C07-F1E908A3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05100"/>
            <a:ext cx="7810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6D83"/>
          </a:solidFill>
          <a:ln xmlns:a="http://schemas.openxmlformats.org/drawingml/2006/main" w="9525">
            <a:solidFill>
              <a:srgbClr val="FF6D8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F85EB-49C2-4442-80C6-190379D2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76525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F6D83"/>
                </a:solidFill>
              </a:defRPr>
            </a:defPPr>
            <a:lvl1pPr>
              <a:defRPr sz="1725" b="1">
                <a:solidFill>
                  <a:srgbClr val="FF6D83"/>
                </a:solidFill>
              </a:defRPr>
            </a:lvl1pPr>
            <a:lvl2pPr>
              <a:defRPr sz="1725" b="1">
                <a:solidFill>
                  <a:srgbClr val="FF6D83"/>
                </a:solidFill>
              </a:defRPr>
            </a:lvl2pPr>
            <a:lvl3pPr>
              <a:defRPr sz="1725" b="1">
                <a:solidFill>
                  <a:srgbClr val="FF6D83"/>
                </a:solidFill>
              </a:defRPr>
            </a:lvl3pPr>
            <a:lvl4pPr>
              <a:defRPr sz="1725" b="1">
                <a:solidFill>
                  <a:srgbClr val="FF6D83"/>
                </a:solidFill>
              </a:defRPr>
            </a:lvl4pPr>
            <a:lvl5pPr>
              <a:defRPr sz="1725" b="1">
                <a:solidFill>
                  <a:srgbClr val="FF6D83"/>
                </a:solidFill>
              </a:defRPr>
            </a:lvl5pPr>
            <a:lvl6pPr>
              <a:defRPr sz="1725" b="1">
                <a:solidFill>
                  <a:srgbClr val="FF6D83"/>
                </a:solidFill>
              </a:defRPr>
            </a:lvl6pPr>
            <a:lvl7pPr>
              <a:defRPr sz="1725" b="1">
                <a:solidFill>
                  <a:srgbClr val="FF6D83"/>
                </a:solidFill>
              </a:defRPr>
            </a:lvl7pPr>
            <a:lvl8pPr>
              <a:defRPr sz="1725" b="1">
                <a:solidFill>
                  <a:srgbClr val="FF6D83"/>
                </a:solidFill>
              </a:defRPr>
            </a:lvl8pPr>
            <a:lvl9pPr>
              <a:defRPr sz="1725" b="1">
                <a:solidFill>
                  <a:srgbClr val="FF6D83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F6D83"/>
                </a:solidFill>
              </a:defRPr>
            </a:pPr>
            <a:r>
              <a:rPr sz="1725" b="1">
                <a:solidFill>
                  <a:srgbClr val="FF6D83"/>
                </a:solidFill>
              </a:rPr>
              <a:t>Vulnerable  10/10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E9E1DC-23D1-4DD3-A857-3BC6C3CA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38525"/>
            <a:ext cx="7810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A0964D-AF6D-48C4-95C4-44921AFE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19475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63D7B1"/>
                </a:solidFill>
              </a:defRPr>
            </a:defPPr>
            <a:lvl1pPr>
              <a:defRPr sz="1725" b="1">
                <a:solidFill>
                  <a:srgbClr val="63D7B1"/>
                </a:solidFill>
              </a:defRPr>
            </a:lvl1pPr>
            <a:lvl2pPr>
              <a:defRPr sz="1725" b="1">
                <a:solidFill>
                  <a:srgbClr val="63D7B1"/>
                </a:solidFill>
              </a:defRPr>
            </a:lvl2pPr>
            <a:lvl3pPr>
              <a:defRPr sz="1725" b="1">
                <a:solidFill>
                  <a:srgbClr val="63D7B1"/>
                </a:solidFill>
              </a:defRPr>
            </a:lvl3pPr>
            <a:lvl4pPr>
              <a:defRPr sz="1725" b="1">
                <a:solidFill>
                  <a:srgbClr val="63D7B1"/>
                </a:solidFill>
              </a:defRPr>
            </a:lvl4pPr>
            <a:lvl5pPr>
              <a:defRPr sz="1725" b="1">
                <a:solidFill>
                  <a:srgbClr val="63D7B1"/>
                </a:solidFill>
              </a:defRPr>
            </a:lvl5pPr>
            <a:lvl6pPr>
              <a:defRPr sz="1725" b="1">
                <a:solidFill>
                  <a:srgbClr val="63D7B1"/>
                </a:solidFill>
              </a:defRPr>
            </a:lvl6pPr>
            <a:lvl7pPr>
              <a:defRPr sz="1725" b="1">
                <a:solidFill>
                  <a:srgbClr val="63D7B1"/>
                </a:solidFill>
              </a:defRPr>
            </a:lvl7pPr>
            <a:lvl8pPr>
              <a:defRPr sz="1725" b="1">
                <a:solidFill>
                  <a:srgbClr val="63D7B1"/>
                </a:solidFill>
              </a:defRPr>
            </a:lvl8pPr>
            <a:lvl9pPr>
              <a:defRPr sz="1725" b="1">
                <a:solidFill>
                  <a:srgbClr val="63D7B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63D7B1"/>
                </a:solidFill>
              </a:defRPr>
            </a:pPr>
            <a:r>
              <a:rPr sz="1725" b="1">
                <a:solidFill>
                  <a:srgbClr val="63D7B1"/>
                </a:solidFill>
              </a:rPr>
              <a:t>Protected   0/10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41E47-2B00-41FE-BA55-9634FDB8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33900"/>
            <a:ext cx="11049000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77905-2E8F-4972-A083-943896D2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73392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63D7B1"/>
                </a:solidFill>
              </a:defRPr>
            </a:defPPr>
            <a:lvl1pPr>
              <a:defRPr sz="2100" b="1">
                <a:solidFill>
                  <a:srgbClr val="63D7B1"/>
                </a:solidFill>
              </a:defRPr>
            </a:lvl1pPr>
            <a:lvl2pPr>
              <a:defRPr sz="2100" b="1">
                <a:solidFill>
                  <a:srgbClr val="63D7B1"/>
                </a:solidFill>
              </a:defRPr>
            </a:lvl2pPr>
            <a:lvl3pPr>
              <a:defRPr sz="2100" b="1">
                <a:solidFill>
                  <a:srgbClr val="63D7B1"/>
                </a:solidFill>
              </a:defRPr>
            </a:lvl3pPr>
            <a:lvl4pPr>
              <a:defRPr sz="2100" b="1">
                <a:solidFill>
                  <a:srgbClr val="63D7B1"/>
                </a:solidFill>
              </a:defRPr>
            </a:lvl4pPr>
            <a:lvl5pPr>
              <a:defRPr sz="2100" b="1">
                <a:solidFill>
                  <a:srgbClr val="63D7B1"/>
                </a:solidFill>
              </a:defRPr>
            </a:lvl5pPr>
            <a:lvl6pPr>
              <a:defRPr sz="2100" b="1">
                <a:solidFill>
                  <a:srgbClr val="63D7B1"/>
                </a:solidFill>
              </a:defRPr>
            </a:lvl6pPr>
            <a:lvl7pPr>
              <a:defRPr sz="2100" b="1">
                <a:solidFill>
                  <a:srgbClr val="63D7B1"/>
                </a:solidFill>
              </a:defRPr>
            </a:lvl7pPr>
            <a:lvl8pPr>
              <a:defRPr sz="2100" b="1">
                <a:solidFill>
                  <a:srgbClr val="63D7B1"/>
                </a:solidFill>
              </a:defRPr>
            </a:lvl8pPr>
            <a:lvl9pPr>
              <a:defRPr sz="2100" b="1">
                <a:solidFill>
                  <a:srgbClr val="63D7B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63D7B1"/>
                </a:solidFill>
              </a:defRPr>
            </a:pPr>
            <a:r>
              <a:rPr sz="2100" b="1">
                <a:solidFill>
                  <a:srgbClr val="63D7B1"/>
                </a:solidFill>
              </a:rPr>
              <a:t>Protected completion: 10/10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491B35-973C-4332-8F5B-CAA76F65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1970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6FBFF"/>
                </a:solidFill>
              </a:defRPr>
            </a:defPPr>
            <a:lvl1pPr>
              <a:defRPr sz="1500" b="0">
                <a:solidFill>
                  <a:srgbClr val="F6FBFF"/>
                </a:solidFill>
              </a:defRPr>
            </a:lvl1pPr>
            <a:lvl2pPr>
              <a:defRPr sz="1500" b="0">
                <a:solidFill>
                  <a:srgbClr val="F6FBFF"/>
                </a:solidFill>
              </a:defRPr>
            </a:lvl2pPr>
            <a:lvl3pPr>
              <a:defRPr sz="1500" b="0">
                <a:solidFill>
                  <a:srgbClr val="F6FBFF"/>
                </a:solidFill>
              </a:defRPr>
            </a:lvl3pPr>
            <a:lvl4pPr>
              <a:defRPr sz="1500" b="0">
                <a:solidFill>
                  <a:srgbClr val="F6FBFF"/>
                </a:solidFill>
              </a:defRPr>
            </a:lvl4pPr>
            <a:lvl5pPr>
              <a:defRPr sz="1500" b="0">
                <a:solidFill>
                  <a:srgbClr val="F6FBFF"/>
                </a:solidFill>
              </a:defRPr>
            </a:lvl5pPr>
            <a:lvl6pPr>
              <a:defRPr sz="1500" b="0">
                <a:solidFill>
                  <a:srgbClr val="F6FBFF"/>
                </a:solidFill>
              </a:defRPr>
            </a:lvl6pPr>
            <a:lvl7pPr>
              <a:defRPr sz="1500" b="0">
                <a:solidFill>
                  <a:srgbClr val="F6FBFF"/>
                </a:solidFill>
              </a:defRPr>
            </a:lvl7pPr>
            <a:lvl8pPr>
              <a:defRPr sz="1500" b="0">
                <a:solidFill>
                  <a:srgbClr val="F6FBFF"/>
                </a:solidFill>
              </a:defRPr>
            </a:lvl8pPr>
            <a:lvl9pPr>
              <a:defRPr sz="1500" b="0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6FBFF"/>
                </a:solidFill>
              </a:defRPr>
            </a:pPr>
            <a:r>
              <a:rPr sz="1500" b="0">
                <a:solidFill>
                  <a:srgbClr val="F6FBFF"/>
                </a:solidFill>
              </a:rPr>
              <a:t>Mean full runtime: vulnerable 813.6 ms; protected 104.6 ms</a:t>
            </a:r>
          </a:p>
        </p:txBody>
      </p:sp>
    </p:spTree>
    <p:extLst>
      <p:ext uri="{BB962C8B-B14F-4D97-AF65-F5344CB8AC3E}">
        <p14:creationId xmlns:p14="http://schemas.microsoft.com/office/powerpoint/2010/main" val="9264651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0A44A0-2F3E-43C2-A1C9-21DEDBD5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57D5E7"/>
                </a:solidFill>
              </a:defRPr>
            </a:defPPr>
            <a:lvl1pPr>
              <a:defRPr sz="1125" b="1">
                <a:solidFill>
                  <a:srgbClr val="57D5E7"/>
                </a:solidFill>
              </a:defRPr>
            </a:lvl1pPr>
            <a:lvl2pPr>
              <a:defRPr sz="1125" b="1">
                <a:solidFill>
                  <a:srgbClr val="57D5E7"/>
                </a:solidFill>
              </a:defRPr>
            </a:lvl2pPr>
            <a:lvl3pPr>
              <a:defRPr sz="1125" b="1">
                <a:solidFill>
                  <a:srgbClr val="57D5E7"/>
                </a:solidFill>
              </a:defRPr>
            </a:lvl3pPr>
            <a:lvl4pPr>
              <a:defRPr sz="1125" b="1">
                <a:solidFill>
                  <a:srgbClr val="57D5E7"/>
                </a:solidFill>
              </a:defRPr>
            </a:lvl4pPr>
            <a:lvl5pPr>
              <a:defRPr sz="1125" b="1">
                <a:solidFill>
                  <a:srgbClr val="57D5E7"/>
                </a:solidFill>
              </a:defRPr>
            </a:lvl5pPr>
            <a:lvl6pPr>
              <a:defRPr sz="1125" b="1">
                <a:solidFill>
                  <a:srgbClr val="57D5E7"/>
                </a:solidFill>
              </a:defRPr>
            </a:lvl6pPr>
            <a:lvl7pPr>
              <a:defRPr sz="1125" b="1">
                <a:solidFill>
                  <a:srgbClr val="57D5E7"/>
                </a:solidFill>
              </a:defRPr>
            </a:lvl7pPr>
            <a:lvl8pPr>
              <a:defRPr sz="1125" b="1">
                <a:solidFill>
                  <a:srgbClr val="57D5E7"/>
                </a:solidFill>
              </a:defRPr>
            </a:lvl8pPr>
            <a:lvl9pPr>
              <a:defRPr sz="112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7D5E7"/>
                </a:solidFill>
              </a:defRPr>
            </a:pPr>
            <a:r>
              <a:rPr sz="1125" b="1">
                <a:solidFill>
                  <a:srgbClr val="57D5E7"/>
                </a:solidFill>
              </a:rPr>
              <a:t>PREDICTIVE DEADLOCK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F4916-98BF-4D74-87A4-EE8D6C9F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F6FBFF"/>
                </a:solidFill>
              </a:defRPr>
            </a:defPPr>
            <a:lvl1pPr>
              <a:defRPr sz="3075" b="1">
                <a:solidFill>
                  <a:srgbClr val="F6FBFF"/>
                </a:solidFill>
              </a:defRPr>
            </a:lvl1pPr>
            <a:lvl2pPr>
              <a:defRPr sz="3075" b="1">
                <a:solidFill>
                  <a:srgbClr val="F6FBFF"/>
                </a:solidFill>
              </a:defRPr>
            </a:lvl2pPr>
            <a:lvl3pPr>
              <a:defRPr sz="3075" b="1">
                <a:solidFill>
                  <a:srgbClr val="F6FBFF"/>
                </a:solidFill>
              </a:defRPr>
            </a:lvl3pPr>
            <a:lvl4pPr>
              <a:defRPr sz="3075" b="1">
                <a:solidFill>
                  <a:srgbClr val="F6FBFF"/>
                </a:solidFill>
              </a:defRPr>
            </a:lvl4pPr>
            <a:lvl5pPr>
              <a:defRPr sz="3075" b="1">
                <a:solidFill>
                  <a:srgbClr val="F6FBFF"/>
                </a:solidFill>
              </a:defRPr>
            </a:lvl5pPr>
            <a:lvl6pPr>
              <a:defRPr sz="3075" b="1">
                <a:solidFill>
                  <a:srgbClr val="F6FBFF"/>
                </a:solidFill>
              </a:defRPr>
            </a:lvl6pPr>
            <a:lvl7pPr>
              <a:defRPr sz="3075" b="1">
                <a:solidFill>
                  <a:srgbClr val="F6FBFF"/>
                </a:solidFill>
              </a:defRPr>
            </a:lvl7pPr>
            <a:lvl8pPr>
              <a:defRPr sz="3075" b="1">
                <a:solidFill>
                  <a:srgbClr val="F6FBFF"/>
                </a:solidFill>
              </a:defRPr>
            </a:lvl8pPr>
            <a:lvl9pPr>
              <a:defRPr sz="3075" b="1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F6FBFF"/>
                </a:solidFill>
              </a:defRPr>
            </a:pPr>
            <a:r>
              <a:rPr sz="3075" b="1">
                <a:solidFill>
                  <a:srgbClr val="F6FBFF"/>
                </a:solidFill>
              </a:rPr>
              <a:t>What the experiment establishes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8B1FD-71DC-4EEA-A29C-27453BFF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4058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60426-4674-400D-BF55-76370873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EC4D3"/>
                </a:solidFill>
              </a:defRPr>
            </a:defPPr>
            <a:lvl1pPr>
              <a:defRPr sz="975" b="0">
                <a:solidFill>
                  <a:srgbClr val="AEC4D3"/>
                </a:solidFill>
              </a:defRPr>
            </a:lvl1pPr>
            <a:lvl2pPr>
              <a:defRPr sz="975" b="0">
                <a:solidFill>
                  <a:srgbClr val="AEC4D3"/>
                </a:solidFill>
              </a:defRPr>
            </a:lvl2pPr>
            <a:lvl3pPr>
              <a:defRPr sz="975" b="0">
                <a:solidFill>
                  <a:srgbClr val="AEC4D3"/>
                </a:solidFill>
              </a:defRPr>
            </a:lvl3pPr>
            <a:lvl4pPr>
              <a:defRPr sz="975" b="0">
                <a:solidFill>
                  <a:srgbClr val="AEC4D3"/>
                </a:solidFill>
              </a:defRPr>
            </a:lvl4pPr>
            <a:lvl5pPr>
              <a:defRPr sz="975" b="0">
                <a:solidFill>
                  <a:srgbClr val="AEC4D3"/>
                </a:solidFill>
              </a:defRPr>
            </a:lvl5pPr>
            <a:lvl6pPr>
              <a:defRPr sz="975" b="0">
                <a:solidFill>
                  <a:srgbClr val="AEC4D3"/>
                </a:solidFill>
              </a:defRPr>
            </a:lvl6pPr>
            <a:lvl7pPr>
              <a:defRPr sz="975" b="0">
                <a:solidFill>
                  <a:srgbClr val="AEC4D3"/>
                </a:solidFill>
              </a:defRPr>
            </a:lvl7pPr>
            <a:lvl8pPr>
              <a:defRPr sz="975" b="0">
                <a:solidFill>
                  <a:srgbClr val="AEC4D3"/>
                </a:solidFill>
              </a:defRPr>
            </a:lvl8pPr>
            <a:lvl9pPr>
              <a:defRPr sz="975" b="0">
                <a:solidFill>
                  <a:srgbClr val="AEC4D3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EC4D3"/>
                </a:solidFill>
              </a:defRPr>
            </a:pPr>
            <a:r>
              <a:rPr sz="975" b="0">
                <a:solidFill>
                  <a:srgbClr val="AEC4D3"/>
                </a:solidFill>
              </a:rPr>
              <a:t>Operating Systems case study | Midhun · Shraavanth · Lakshman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40881-9411-47E7-B824-1A18E157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7D5E7"/>
                </a:solidFill>
              </a:defRPr>
            </a:defPPr>
            <a:lvl1pPr>
              <a:defRPr sz="975" b="1">
                <a:solidFill>
                  <a:srgbClr val="57D5E7"/>
                </a:solidFill>
              </a:defRPr>
            </a:lvl1pPr>
            <a:lvl2pPr>
              <a:defRPr sz="975" b="1">
                <a:solidFill>
                  <a:srgbClr val="57D5E7"/>
                </a:solidFill>
              </a:defRPr>
            </a:lvl2pPr>
            <a:lvl3pPr>
              <a:defRPr sz="975" b="1">
                <a:solidFill>
                  <a:srgbClr val="57D5E7"/>
                </a:solidFill>
              </a:defRPr>
            </a:lvl3pPr>
            <a:lvl4pPr>
              <a:defRPr sz="975" b="1">
                <a:solidFill>
                  <a:srgbClr val="57D5E7"/>
                </a:solidFill>
              </a:defRPr>
            </a:lvl4pPr>
            <a:lvl5pPr>
              <a:defRPr sz="975" b="1">
                <a:solidFill>
                  <a:srgbClr val="57D5E7"/>
                </a:solidFill>
              </a:defRPr>
            </a:lvl5pPr>
            <a:lvl6pPr>
              <a:defRPr sz="975" b="1">
                <a:solidFill>
                  <a:srgbClr val="57D5E7"/>
                </a:solidFill>
              </a:defRPr>
            </a:lvl6pPr>
            <a:lvl7pPr>
              <a:defRPr sz="975" b="1">
                <a:solidFill>
                  <a:srgbClr val="57D5E7"/>
                </a:solidFill>
              </a:defRPr>
            </a:lvl7pPr>
            <a:lvl8pPr>
              <a:defRPr sz="975" b="1">
                <a:solidFill>
                  <a:srgbClr val="57D5E7"/>
                </a:solidFill>
              </a:defRPr>
            </a:lvl8pPr>
            <a:lvl9pPr>
              <a:defRPr sz="975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57D5E7"/>
                </a:solidFill>
              </a:defRPr>
            </a:pPr>
            <a:r>
              <a:rPr sz="975" b="1">
                <a:solidFill>
                  <a:srgbClr val="57D5E7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6E32C7-9527-432C-8E2C-1E6CD761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5238750" cy="3324225"/>
          </a:xfrm>
          <a:prstGeom xmlns:a="http://schemas.openxmlformats.org/drawingml/2006/main" prst="roundRect">
            <a:avLst>
              <a:gd name="adj" fmla="val 2292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F17AE-FCDB-4703-98AC-AFA385A3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85925"/>
            <a:ext cx="5238750" cy="3324225"/>
          </a:xfrm>
          <a:prstGeom xmlns:a="http://schemas.openxmlformats.org/drawingml/2006/main" prst="roundRect">
            <a:avLst>
              <a:gd name="adj" fmla="val 2292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D4A54-3EB0-46FE-9C98-FA9BFF5A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335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63D7B1"/>
                </a:solidFill>
              </a:defRPr>
            </a:defPPr>
            <a:lvl1pPr>
              <a:defRPr sz="1500" b="1">
                <a:solidFill>
                  <a:srgbClr val="63D7B1"/>
                </a:solidFill>
              </a:defRPr>
            </a:lvl1pPr>
            <a:lvl2pPr>
              <a:defRPr sz="1500" b="1">
                <a:solidFill>
                  <a:srgbClr val="63D7B1"/>
                </a:solidFill>
              </a:defRPr>
            </a:lvl2pPr>
            <a:lvl3pPr>
              <a:defRPr sz="1500" b="1">
                <a:solidFill>
                  <a:srgbClr val="63D7B1"/>
                </a:solidFill>
              </a:defRPr>
            </a:lvl3pPr>
            <a:lvl4pPr>
              <a:defRPr sz="1500" b="1">
                <a:solidFill>
                  <a:srgbClr val="63D7B1"/>
                </a:solidFill>
              </a:defRPr>
            </a:lvl4pPr>
            <a:lvl5pPr>
              <a:defRPr sz="1500" b="1">
                <a:solidFill>
                  <a:srgbClr val="63D7B1"/>
                </a:solidFill>
              </a:defRPr>
            </a:lvl5pPr>
            <a:lvl6pPr>
              <a:defRPr sz="1500" b="1">
                <a:solidFill>
                  <a:srgbClr val="63D7B1"/>
                </a:solidFill>
              </a:defRPr>
            </a:lvl6pPr>
            <a:lvl7pPr>
              <a:defRPr sz="1500" b="1">
                <a:solidFill>
                  <a:srgbClr val="63D7B1"/>
                </a:solidFill>
              </a:defRPr>
            </a:lvl7pPr>
            <a:lvl8pPr>
              <a:defRPr sz="1500" b="1">
                <a:solidFill>
                  <a:srgbClr val="63D7B1"/>
                </a:solidFill>
              </a:defRPr>
            </a:lvl8pPr>
            <a:lvl9pPr>
              <a:defRPr sz="1500" b="1">
                <a:solidFill>
                  <a:srgbClr val="63D7B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63D7B1"/>
                </a:solidFill>
              </a:defRPr>
            </a:pPr>
            <a:r>
              <a:rPr sz="1500" b="1">
                <a:solidFill>
                  <a:srgbClr val="63D7B1"/>
                </a:solidFill>
              </a:rPr>
              <a:t>SHOWN IN THIS PROTOTYPE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6A29C8-60A1-4FE5-8277-24081C76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4619625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6FBFF"/>
                </a:solidFill>
              </a:defRPr>
            </a:defPPr>
            <a:lvl1pPr>
              <a:defRPr sz="1725" b="0">
                <a:solidFill>
                  <a:srgbClr val="F6FBFF"/>
                </a:solidFill>
              </a:defRPr>
            </a:lvl1pPr>
            <a:lvl2pPr>
              <a:defRPr sz="1725" b="0">
                <a:solidFill>
                  <a:srgbClr val="F6FBFF"/>
                </a:solidFill>
              </a:defRPr>
            </a:lvl2pPr>
            <a:lvl3pPr>
              <a:defRPr sz="1725" b="0">
                <a:solidFill>
                  <a:srgbClr val="F6FBFF"/>
                </a:solidFill>
              </a:defRPr>
            </a:lvl3pPr>
            <a:lvl4pPr>
              <a:defRPr sz="1725" b="0">
                <a:solidFill>
                  <a:srgbClr val="F6FBFF"/>
                </a:solidFill>
              </a:defRPr>
            </a:lvl4pPr>
            <a:lvl5pPr>
              <a:defRPr sz="1725" b="0">
                <a:solidFill>
                  <a:srgbClr val="F6FBFF"/>
                </a:solidFill>
              </a:defRPr>
            </a:lvl5pPr>
            <a:lvl6pPr>
              <a:defRPr sz="1725" b="0">
                <a:solidFill>
                  <a:srgbClr val="F6FBFF"/>
                </a:solidFill>
              </a:defRPr>
            </a:lvl6pPr>
            <a:lvl7pPr>
              <a:defRPr sz="1725" b="0">
                <a:solidFill>
                  <a:srgbClr val="F6FBFF"/>
                </a:solidFill>
              </a:defRPr>
            </a:lvl7pPr>
            <a:lvl8pPr>
              <a:defRPr sz="1725" b="0">
                <a:solidFill>
                  <a:srgbClr val="F6FBFF"/>
                </a:solidFill>
              </a:defRPr>
            </a:lvl8pPr>
            <a:lvl9pPr>
              <a:defRPr sz="1725" b="0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Reproducible cycle</a:t>
            </a:r>
          </a:p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Pre-cycle warning in staged run</a:t>
            </a:r>
          </a:p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Learned shared order</a:t>
            </a:r>
          </a:p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Protected worker completion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ED45A-2E7B-44AD-B697-24177DFD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33575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FC476"/>
                </a:solidFill>
              </a:defRPr>
            </a:defPPr>
            <a:lvl1pPr>
              <a:defRPr sz="1500" b="1">
                <a:solidFill>
                  <a:srgbClr val="FFC476"/>
                </a:solidFill>
              </a:defRPr>
            </a:lvl1pPr>
            <a:lvl2pPr>
              <a:defRPr sz="1500" b="1">
                <a:solidFill>
                  <a:srgbClr val="FFC476"/>
                </a:solidFill>
              </a:defRPr>
            </a:lvl2pPr>
            <a:lvl3pPr>
              <a:defRPr sz="1500" b="1">
                <a:solidFill>
                  <a:srgbClr val="FFC476"/>
                </a:solidFill>
              </a:defRPr>
            </a:lvl3pPr>
            <a:lvl4pPr>
              <a:defRPr sz="1500" b="1">
                <a:solidFill>
                  <a:srgbClr val="FFC476"/>
                </a:solidFill>
              </a:defRPr>
            </a:lvl4pPr>
            <a:lvl5pPr>
              <a:defRPr sz="1500" b="1">
                <a:solidFill>
                  <a:srgbClr val="FFC476"/>
                </a:solidFill>
              </a:defRPr>
            </a:lvl5pPr>
            <a:lvl6pPr>
              <a:defRPr sz="1500" b="1">
                <a:solidFill>
                  <a:srgbClr val="FFC476"/>
                </a:solidFill>
              </a:defRPr>
            </a:lvl6pPr>
            <a:lvl7pPr>
              <a:defRPr sz="1500" b="1">
                <a:solidFill>
                  <a:srgbClr val="FFC476"/>
                </a:solidFill>
              </a:defRPr>
            </a:lvl7pPr>
            <a:lvl8pPr>
              <a:defRPr sz="1500" b="1">
                <a:solidFill>
                  <a:srgbClr val="FFC476"/>
                </a:solidFill>
              </a:defRPr>
            </a:lvl8pPr>
            <a:lvl9pPr>
              <a:defRPr sz="1500" b="1">
                <a:solidFill>
                  <a:srgbClr val="FFC47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C476"/>
                </a:solidFill>
              </a:defRPr>
            </a:pPr>
            <a:r>
              <a:rPr sz="1500" b="1">
                <a:solidFill>
                  <a:srgbClr val="FFC476"/>
                </a:solidFill>
              </a:rPr>
              <a:t>LIMITS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E14D49-D723-41D8-949B-DDA74153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57450"/>
            <a:ext cx="4619625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6FBFF"/>
                </a:solidFill>
              </a:defRPr>
            </a:defPPr>
            <a:lvl1pPr>
              <a:defRPr sz="1725" b="0">
                <a:solidFill>
                  <a:srgbClr val="F6FBFF"/>
                </a:solidFill>
              </a:defRPr>
            </a:lvl1pPr>
            <a:lvl2pPr>
              <a:defRPr sz="1725" b="0">
                <a:solidFill>
                  <a:srgbClr val="F6FBFF"/>
                </a:solidFill>
              </a:defRPr>
            </a:lvl2pPr>
            <a:lvl3pPr>
              <a:defRPr sz="1725" b="0">
                <a:solidFill>
                  <a:srgbClr val="F6FBFF"/>
                </a:solidFill>
              </a:defRPr>
            </a:lvl3pPr>
            <a:lvl4pPr>
              <a:defRPr sz="1725" b="0">
                <a:solidFill>
                  <a:srgbClr val="F6FBFF"/>
                </a:solidFill>
              </a:defRPr>
            </a:lvl4pPr>
            <a:lvl5pPr>
              <a:defRPr sz="1725" b="0">
                <a:solidFill>
                  <a:srgbClr val="F6FBFF"/>
                </a:solidFill>
              </a:defRPr>
            </a:lvl5pPr>
            <a:lvl6pPr>
              <a:defRPr sz="1725" b="0">
                <a:solidFill>
                  <a:srgbClr val="F6FBFF"/>
                </a:solidFill>
              </a:defRPr>
            </a:lvl6pPr>
            <a:lvl7pPr>
              <a:defRPr sz="1725" b="0">
                <a:solidFill>
                  <a:srgbClr val="F6FBFF"/>
                </a:solidFill>
              </a:defRPr>
            </a:lvl7pPr>
            <a:lvl8pPr>
              <a:defRPr sz="1725" b="0">
                <a:solidFill>
                  <a:srgbClr val="F6FBFF"/>
                </a:solidFill>
              </a:defRPr>
            </a:lvl8pPr>
            <a:lvl9pPr>
              <a:defRPr sz="1725" b="0">
                <a:solidFill>
                  <a:srgbClr val="F6FB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Two threads and two locks</a:t>
            </a:r>
          </a:p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Controlled 120 ms interval</a:t>
            </a:r>
          </a:p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No general prediction claim</a:t>
            </a:r>
          </a:p>
          <a:p xmlns:a="http://schemas.openxmlformats.org/drawingml/2006/main">
            <a:pPr>
              <a:defRPr sz="1725" b="0">
                <a:solidFill>
                  <a:srgbClr val="F6FBFF"/>
                </a:solidFill>
              </a:defRPr>
            </a:pPr>
            <a:r>
              <a:rPr sz="1725" b="0">
                <a:solidFill>
                  <a:srgbClr val="F6FBFF"/>
                </a:solidFill>
              </a:rPr>
              <a:t>- No separate process isolation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62B9E5-A8FD-4567-8929-289ED7C9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3243A"/>
          </a:solidFill>
          <a:ln xmlns:a="http://schemas.openxmlformats.org/drawingml/2006/main" w="9525">
            <a:solidFill>
              <a:srgbClr val="2840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DDFFE7-F14C-4026-BD50-03A7DC73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14975"/>
            <a:ext cx="10620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7D5E7"/>
                </a:solidFill>
              </a:defRPr>
            </a:defPPr>
            <a:lvl1pPr>
              <a:defRPr sz="1650" b="1">
                <a:solidFill>
                  <a:srgbClr val="57D5E7"/>
                </a:solidFill>
              </a:defRPr>
            </a:lvl1pPr>
            <a:lvl2pPr>
              <a:defRPr sz="1650" b="1">
                <a:solidFill>
                  <a:srgbClr val="57D5E7"/>
                </a:solidFill>
              </a:defRPr>
            </a:lvl2pPr>
            <a:lvl3pPr>
              <a:defRPr sz="1650" b="1">
                <a:solidFill>
                  <a:srgbClr val="57D5E7"/>
                </a:solidFill>
              </a:defRPr>
            </a:lvl3pPr>
            <a:lvl4pPr>
              <a:defRPr sz="1650" b="1">
                <a:solidFill>
                  <a:srgbClr val="57D5E7"/>
                </a:solidFill>
              </a:defRPr>
            </a:lvl4pPr>
            <a:lvl5pPr>
              <a:defRPr sz="1650" b="1">
                <a:solidFill>
                  <a:srgbClr val="57D5E7"/>
                </a:solidFill>
              </a:defRPr>
            </a:lvl5pPr>
            <a:lvl6pPr>
              <a:defRPr sz="1650" b="1">
                <a:solidFill>
                  <a:srgbClr val="57D5E7"/>
                </a:solidFill>
              </a:defRPr>
            </a:lvl6pPr>
            <a:lvl7pPr>
              <a:defRPr sz="1650" b="1">
                <a:solidFill>
                  <a:srgbClr val="57D5E7"/>
                </a:solidFill>
              </a:defRPr>
            </a:lvl7pPr>
            <a:lvl8pPr>
              <a:defRPr sz="1650" b="1">
                <a:solidFill>
                  <a:srgbClr val="57D5E7"/>
                </a:solidFill>
              </a:defRPr>
            </a:lvl8pPr>
            <a:lvl9pPr>
              <a:defRPr sz="1650" b="1">
                <a:solidFill>
                  <a:srgbClr val="57D5E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7D5E7"/>
                </a:solidFill>
              </a:defRPr>
            </a:pPr>
            <a:r>
              <a:rPr sz="1650" b="1">
                <a:solidFill>
                  <a:srgbClr val="57D5E7"/>
                </a:solidFill>
              </a:rPr>
              <a:t>Live app: predictive-deadlock-lab.vercel.app  |  Full evidence: GitHub repository /docs</a:t>
            </a:r>
          </a:p>
        </p:txBody>
      </p:sp>
    </p:spTree>
    <p:extLst>
      <p:ext uri="{BB962C8B-B14F-4D97-AF65-F5344CB8AC3E}">
        <p14:creationId xmlns:p14="http://schemas.microsoft.com/office/powerpoint/2010/main" val="15322999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2026-10-18T22:29:31.1440000Z</dcterms:created>
  <dcterms:modified xsi:type="dcterms:W3CDTF">2026-10-18T22:29:31.1440000Z</dcterms:modified>
</coreProperties>
</file>