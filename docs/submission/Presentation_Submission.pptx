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Vulnerable: detection + recovery (mean ms)</c:v>
                </c:pt>
              </c:strCache>
            </c:strRef>
          </c:tx>
          <c:spPr>
            <a:ln w="28575">
              <a:solidFill>
                <a:srgbClr val="C83A50"/>
              </a:solidFill>
            </a:ln>
          </c:spPr>
          <c:marker>
            <c:symbol val="circle"/>
            <c:size val="8"/>
            <c:spPr>
              <a:solidFill>
                <a:srgbClr val="C83A50"/>
              </a:solidFill>
              <a:ln>
                <a:solidFill>
                  <a:srgbClr val="C83A50"/>
                </a:solidFill>
              </a:ln>
            </c:spPr>
          </c:marker>
          <c:cat>
            <c:strRef>
              <c:f>Sheet1!$A$2:$A$6</c:f>
              <c:strCache>
                <c:ptCount val="5"/>
                <c:pt idx="0">
                  <c:v>2</c:v>
                </c:pt>
                <c:pt idx="1">
                  <c:v>4</c:v>
                </c:pt>
                <c:pt idx="2">
                  <c:v>8</c:v>
                </c:pt>
                <c:pt idx="3">
                  <c:v>16</c:v>
                </c:pt>
                <c:pt idx="4">
                  <c:v>32</c:v>
                </c:pt>
              </c:strCache>
            </c:strRef>
          </c:cat>
          <c:val>
            <c:numRef>
              <c:f>Sheet1!$B$2:$B$6</c:f>
              <c:numCache>
                <c:formatCode>General</c:formatCode>
                <c:ptCount val="5"/>
                <c:pt idx="0">
                  <c:v>45.4</c:v>
                </c:pt>
                <c:pt idx="1">
                  <c:v>107.2</c:v>
                </c:pt>
                <c:pt idx="2">
                  <c:v>229.4</c:v>
                </c:pt>
                <c:pt idx="3">
                  <c:v>473</c:v>
                </c:pt>
                <c:pt idx="4">
                  <c:v>967.8</c:v>
                </c:pt>
              </c:numCache>
            </c:numRef>
          </c:val>
          <c:smooth val="0"/>
        </c:ser>
        <c:ser>
          <c:idx val="1"/>
          <c:order val="1"/>
          <c:tx>
            <c:strRef>
              <c:f>Sheet1!$C$1</c:f>
              <c:strCache>
                <c:ptCount val="1"/>
                <c:pt idx="0">
                  <c:v>Protected: completion (mean ms)</c:v>
                </c:pt>
              </c:strCache>
            </c:strRef>
          </c:tx>
          <c:spPr>
            <a:ln w="28575">
              <a:solidFill>
                <a:srgbClr val="178F6E"/>
              </a:solidFill>
            </a:ln>
          </c:spPr>
          <c:marker>
            <c:symbol val="circle"/>
            <c:size val="8"/>
            <c:spPr>
              <a:solidFill>
                <a:srgbClr val="178F6E"/>
              </a:solidFill>
              <a:ln>
                <a:solidFill>
                  <a:srgbClr val="178F6E"/>
                </a:solidFill>
              </a:ln>
            </c:spPr>
          </c:marker>
          <c:cat>
            <c:strRef>
              <c:f>Sheet1!$A$2:$A$6</c:f>
              <c:strCache>
                <c:ptCount val="5"/>
                <c:pt idx="0">
                  <c:v>2</c:v>
                </c:pt>
                <c:pt idx="1">
                  <c:v>4</c:v>
                </c:pt>
                <c:pt idx="2">
                  <c:v>8</c:v>
                </c:pt>
                <c:pt idx="3">
                  <c:v>16</c:v>
                </c:pt>
                <c:pt idx="4">
                  <c:v>32</c:v>
                </c:pt>
              </c:strCache>
            </c:strRef>
          </c:cat>
          <c:val>
            <c:numRef>
              <c:f>Sheet1!$C$2:$C$6</c:f>
              <c:numCache>
                <c:formatCode>General</c:formatCode>
                <c:ptCount val="5"/>
                <c:pt idx="0">
                  <c:v>61.9</c:v>
                </c:pt>
                <c:pt idx="1">
                  <c:v>68.6</c:v>
                </c:pt>
                <c:pt idx="2">
                  <c:v>93.9</c:v>
                </c:pt>
                <c:pt idx="3">
                  <c:v>92.3</c:v>
                </c:pt>
                <c:pt idx="4">
                  <c:v>95.6</c:v>
                </c:pt>
              </c:numCache>
            </c:numRef>
          </c:val>
          <c:smooth val="0"/>
        </c:ser>
        <c:marker val="1"/>
        <c:smooth val="0"/>
        <c:axId val="2118791784"/>
        <c:axId val="2140495176"/>
      </c:lineChart>
      <c:catAx>
        <c:axId val="2118791784"/>
        <c:scaling>
          <c:orientation val="minMax"/>
        </c:scaling>
        <c:delete val="0"/>
        <c:axPos val="b"/>
        <c:title>
          <c:tx>
            <c:rich>
              <a:bodyPr/>
              <a:lstStyle/>
              <a:p>
                <a:r>
                  <a:rPr sz="1200"/>
                  <a:t>threads</a:t>
                </a:r>
              </a:p>
            </c:rich>
          </c:tx>
          <c:layout/>
          <c:overlay val="0"/>
        </c:title>
        <c:majorTickMark val="out"/>
        <c:minorTickMark val="none"/>
        <c:tickLblPos val="nextTo"/>
        <c:txPr>
          <a:bodyPr/>
          <a:lstStyle/>
          <a:p>
            <a:pPr>
              <a:defRPr sz="1200">
                <a:solidFill>
                  <a:srgbClr val="5B6778"/>
                </a:solidFill>
              </a:defRPr>
            </a:pPr>
          </a:p>
        </c:txPr>
        <c:crossAx val="2140495176"/>
        <c:crosses val="autoZero"/>
        <c:auto val="1"/>
        <c:lblAlgn val="ctr"/>
        <c:lblOffset val="100"/>
        <c:noMultiLvlLbl val="0"/>
      </c:catAx>
      <c:valAx>
        <c:axId val="2140495176"/>
        <c:scaling/>
        <c:delete val="0"/>
        <c:axPos val="l"/>
        <c:majorGridlines>
          <c:spPr>
            <a:ln>
              <a:solidFill>
                <a:srgbClr val="D5DCE6"/>
              </a:solidFill>
            </a:ln>
          </c:spPr>
        </c:majorGridlines>
        <c:title>
          <c:tx>
            <c:rich>
              <a:bodyPr/>
              <a:lstStyle/>
              <a:p>
                <a:r>
                  <a:rPr sz="1200"/>
                  <a:t>milliseconds</a:t>
                </a:r>
              </a:p>
            </c:rich>
          </c:tx>
          <c:layout/>
          <c:overlay val="0"/>
        </c:title>
        <c:majorTickMark val="out"/>
        <c:minorTickMark val="none"/>
        <c:tickLblPos val="nextTo"/>
        <c:spPr>
          <a:ln>
            <a:noFill/>
          </a:ln>
        </c:spPr>
        <c:txPr>
          <a:bodyPr/>
          <a:lstStyle/>
          <a:p>
            <a:pPr>
              <a:defRPr sz="1200">
                <a:solidFill>
                  <a:srgbClr val="5B6778"/>
                </a:solidFill>
              </a:defRPr>
            </a:pPr>
          </a:p>
        </c:txPr>
        <c:crossAx val="2118791784"/>
        <c:crosses val="autoZero"/>
      </c:valAx>
    </c:plotArea>
    <c:legend>
      <c:legendPos val="b"/>
      <c:layout/>
      <c:overlay val="0"/>
      <c:txPr>
        <a:bodyPr/>
        <a:lstStyle/>
        <a:p>
          <a:pPr>
            <a:defRPr sz="1200">
              <a:latin typeface="Calibri"/>
            </a:defRPr>
          </a:pPr>
        </a:p>
      </c:txPr>
    </c:legend>
    <c:plotVisOnly val="1"/>
    <c:dispBlanksAs val="gap"/>
    <c:showDLblsOverMax val="0"/>
  </c:chart>
  <c:txPr>
    <a:bodyPr/>
    <a:lstStyle/>
    <a:p>
      <a:pPr>
        <a:defRPr sz="12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question: can we observe, warn about, prevent and recover from deadlocks with real threads? Stress that every result is measured, and the warning is a heuristic in a controlled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Coffman conditions must hold. We make circular wait happen on purpose, then remove it with a global lock order, or break it at runtime by preempting one thread.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FastAPI app runs the experiments and serves the dashboard, so the same code runs locally and on Vercel. Nothing is stored between requests: each request runs its own bounded experiment and builds its own scorer.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staged schedule. The warning fires at step 3, before the cycle exists. Saved set: 10/10 deadlocked, mean warning lead 120.4 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four normalised factors and the two rules. The score only uses the current snapshot. Weights are tunable per visitor in the Analysis view and are never stored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Two-thread: the probe observes A before B and both workers adopt that order. Ring: lower-numbered lock first, so the last thread asks for R1 before RN. Results: two-thread protected 10/10 saved and 10/10 new; ring 50/50.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screenshot is a real 8-thread run paused at detection. Across the scaling set, 50/50 vulnerable runs formed a cycle through all N threads, detection took at most 8.0 ms, and 50/50 recovered with exactly one aborted thread.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 animates the real event log. Analysis shows when the warning fired and why, and re-scores live as weights change. Compare runs both modes, repeated trials and the scaling test, with CSV export.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trial is a real run with a timeout. Failed runs are counted as inconclusive, never as successes. The saved and new sets are kept in separate, dated files with every raw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 rows first: every vulnerable run deadlocked and every protected run completed in both sets. Small times differ partly because the saved set used a coarser clock.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chart of mean times from the 26 Oct scaling set. Vulnerable time grows by about 31 ms per extra thread because threads finish one after another after recovery; protected time stays near 100 ms. These are controlled runs, not a benchmark.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works are verifiable; DOIs or official pages are in the report. The key point from Tunç et al.: sound and complete deadlock prediction is intractable in general, which is why our score is presented as a heuristic.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about what the results do not show. Close with the three demonstrated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 presents their part in the demo. All automated tests pass; numbers are from the final run before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20"/>
        </a:solidFill>
        <a:effectLst/>
      </p:bgPr>
    </p:bg>
    <p:spTree>
      <p:nvGrpSpPr>
        <p:cNvPr id="1" name=""/>
        <p:cNvGrpSpPr/>
        <p:nvPr/>
      </p:nvGrpSpPr>
      <p:grpSpPr/>
      <p:sp>
        <p:nvSpPr>
          <p:cNvPr id="2" name="TextBox 1"/>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8C4D4"/>
                </a:solidFill>
                <a:latin typeface="Calibri"/>
              </a:rPr>
              <a:t>Predictive Deadlock Lab · Operating Systems case study</a:t>
            </a:r>
          </a:p>
        </p:txBody>
      </p:sp>
      <p:sp>
        <p:nvSpPr>
          <p:cNvPr id="3" name="TextBox 2"/>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B8C4D4"/>
                </a:solidFill>
                <a:latin typeface="Calibri"/>
              </a:rPr>
              <a:t>1</a:t>
            </a:r>
          </a:p>
        </p:txBody>
      </p:sp>
      <p:sp>
        <p:nvSpPr>
          <p:cNvPr id="4" name="TextBox 3"/>
          <p:cNvSpPr txBox="1"/>
          <p:nvPr/>
        </p:nvSpPr>
        <p:spPr>
          <a:xfrm>
            <a:off x="731520" y="1051560"/>
            <a:ext cx="6766560" cy="320040"/>
          </a:xfrm>
          <a:prstGeom prst="rect">
            <a:avLst/>
          </a:prstGeom>
          <a:noFill/>
        </p:spPr>
        <p:txBody>
          <a:bodyPr wrap="square" lIns="0" rIns="0" tIns="0" bIns="0" anchor="t">
            <a:spAutoFit/>
          </a:bodyPr>
          <a:lstStyle/>
          <a:p>
            <a:pPr algn="l"/>
            <a:r>
              <a:rPr sz="1400" b="1" i="0">
                <a:solidFill>
                  <a:srgbClr val="B8C4D4"/>
                </a:solidFill>
                <a:latin typeface="Calibri"/>
              </a:rPr>
              <a:t>OPERATING SYSTEMS · BCSE303L · CASE STUDY</a:t>
            </a:r>
          </a:p>
        </p:txBody>
      </p:sp>
      <p:sp>
        <p:nvSpPr>
          <p:cNvPr id="5" name="TextBox 4"/>
          <p:cNvSpPr txBox="1"/>
          <p:nvPr/>
        </p:nvSpPr>
        <p:spPr>
          <a:xfrm>
            <a:off x="731520" y="1463040"/>
            <a:ext cx="6766560" cy="1463040"/>
          </a:xfrm>
          <a:prstGeom prst="rect">
            <a:avLst/>
          </a:prstGeom>
          <a:noFill/>
        </p:spPr>
        <p:txBody>
          <a:bodyPr wrap="square" lIns="0" rIns="0" tIns="0" bIns="0" anchor="t">
            <a:spAutoFit/>
          </a:bodyPr>
          <a:lstStyle/>
          <a:p>
            <a:pPr algn="l"/>
            <a:r>
              <a:rPr sz="4400" b="1" i="0">
                <a:solidFill>
                  <a:srgbClr val="FFFFFF"/>
                </a:solidFill>
                <a:latin typeface="Cambria"/>
              </a:rPr>
              <a:t>Predictive Deadlock Prevention</a:t>
            </a:r>
          </a:p>
        </p:txBody>
      </p:sp>
      <p:sp>
        <p:nvSpPr>
          <p:cNvPr id="6" name="TextBox 5"/>
          <p:cNvSpPr txBox="1"/>
          <p:nvPr/>
        </p:nvSpPr>
        <p:spPr>
          <a:xfrm>
            <a:off x="731520" y="2971800"/>
            <a:ext cx="6309360" cy="914400"/>
          </a:xfrm>
          <a:prstGeom prst="rect">
            <a:avLst/>
          </a:prstGeom>
          <a:noFill/>
        </p:spPr>
        <p:txBody>
          <a:bodyPr wrap="square" lIns="0" rIns="0" tIns="0" bIns="0" anchor="t">
            <a:spAutoFit/>
          </a:bodyPr>
          <a:lstStyle/>
          <a:p>
            <a:pPr algn="l"/>
            <a:r>
              <a:rPr sz="1900" b="0" i="0">
                <a:solidFill>
                  <a:srgbClr val="B8C4D4"/>
                </a:solidFill>
                <a:latin typeface="Calibri"/>
              </a:rPr>
              <a:t>Contention analysis, score forecasting, lock ordering and victim recovery with real operating-system threads</a:t>
            </a:r>
          </a:p>
        </p:txBody>
      </p:sp>
      <p:sp>
        <p:nvSpPr>
          <p:cNvPr id="7" name="TextBox 6"/>
          <p:cNvSpPr txBox="1"/>
          <p:nvPr/>
        </p:nvSpPr>
        <p:spPr>
          <a:xfrm>
            <a:off x="731520" y="4343400"/>
            <a:ext cx="6949440" cy="365760"/>
          </a:xfrm>
          <a:prstGeom prst="rect">
            <a:avLst/>
          </a:prstGeom>
          <a:noFill/>
        </p:spPr>
        <p:txBody>
          <a:bodyPr wrap="square" lIns="0" rIns="0" tIns="0" bIns="0" anchor="t">
            <a:spAutoFit/>
          </a:bodyPr>
          <a:lstStyle/>
          <a:p>
            <a:pPr algn="l"/>
            <a:r>
              <a:rPr sz="1600" b="1" i="0">
                <a:solidFill>
                  <a:srgbClr val="FFFFFF"/>
                </a:solidFill>
                <a:latin typeface="Calibri"/>
              </a:rPr>
              <a:t>Midhun Gereketi</a:t>
            </a:r>
            <a:r>
              <a:rPr sz="1600" b="0" i="0">
                <a:solidFill>
                  <a:srgbClr val="B8C4D4"/>
                </a:solidFill>
                <a:latin typeface="Calibri"/>
              </a:rPr>
              <a:t>  ·  </a:t>
            </a:r>
            <a:r>
              <a:rPr sz="1600" b="1" i="0">
                <a:solidFill>
                  <a:srgbClr val="FFFFFF"/>
                </a:solidFill>
                <a:latin typeface="Calibri"/>
              </a:rPr>
              <a:t>P. Satya Mani Shraavanth</a:t>
            </a:r>
            <a:r>
              <a:rPr sz="1600" b="0" i="0">
                <a:solidFill>
                  <a:srgbClr val="B8C4D4"/>
                </a:solidFill>
                <a:latin typeface="Calibri"/>
              </a:rPr>
              <a:t>  ·  </a:t>
            </a:r>
            <a:r>
              <a:rPr sz="1600" b="1" i="0">
                <a:solidFill>
                  <a:srgbClr val="FFFFFF"/>
                </a:solidFill>
                <a:latin typeface="Calibri"/>
              </a:rPr>
              <a:t>M. Lakshman Sai</a:t>
            </a:r>
          </a:p>
        </p:txBody>
      </p:sp>
      <p:sp>
        <p:nvSpPr>
          <p:cNvPr id="8" name="TextBox 7"/>
          <p:cNvSpPr txBox="1"/>
          <p:nvPr/>
        </p:nvSpPr>
        <p:spPr>
          <a:xfrm>
            <a:off x="731520" y="4800600"/>
            <a:ext cx="6766560" cy="365760"/>
          </a:xfrm>
          <a:prstGeom prst="rect">
            <a:avLst/>
          </a:prstGeom>
          <a:noFill/>
        </p:spPr>
        <p:txBody>
          <a:bodyPr wrap="square" lIns="0" rIns="0" tIns="0" bIns="0" anchor="t">
            <a:spAutoFit/>
          </a:bodyPr>
          <a:lstStyle/>
          <a:p>
            <a:pPr algn="l"/>
            <a:r>
              <a:rPr sz="1500" b="0" i="0">
                <a:solidFill>
                  <a:srgbClr val="7FD8C0"/>
                </a:solidFill>
                <a:latin typeface="Calibri"/>
              </a:rPr>
              <a:t>Live: predictive-deadlock-lab.vercel.app</a:t>
            </a:r>
          </a:p>
        </p:txBody>
      </p:sp>
      <p:cxnSp>
        <p:nvCxnSpPr>
          <p:cNvPr id="9" name="Connector 8"/>
          <p:cNvCxnSpPr/>
          <p:nvPr/>
        </p:nvCxnSpPr>
        <p:spPr>
          <a:xfrm>
            <a:off x="9796635" y="1837943"/>
            <a:ext cx="696866" cy="402336"/>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849853" y="2830068"/>
            <a:ext cx="0" cy="804671"/>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9820392" y="4238244"/>
            <a:ext cx="696866" cy="402336"/>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8434578" y="4251960"/>
            <a:ext cx="696866" cy="402336"/>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078226" y="2857500"/>
            <a:ext cx="0" cy="804672"/>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410821" y="1851660"/>
            <a:ext cx="696866" cy="402336"/>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134856" y="1316736"/>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T1</a:t>
            </a:r>
          </a:p>
        </p:txBody>
      </p:sp>
      <p:sp>
        <p:nvSpPr>
          <p:cNvPr id="16" name="Oval 15"/>
          <p:cNvSpPr/>
          <p:nvPr/>
        </p:nvSpPr>
        <p:spPr>
          <a:xfrm>
            <a:off x="10520669" y="2116836"/>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T2</a:t>
            </a:r>
          </a:p>
        </p:txBody>
      </p:sp>
      <p:sp>
        <p:nvSpPr>
          <p:cNvPr id="17" name="Oval 16"/>
          <p:cNvSpPr/>
          <p:nvPr/>
        </p:nvSpPr>
        <p:spPr>
          <a:xfrm>
            <a:off x="10520669" y="3717035"/>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T3</a:t>
            </a:r>
          </a:p>
        </p:txBody>
      </p:sp>
      <p:sp>
        <p:nvSpPr>
          <p:cNvPr id="18" name="Oval 17"/>
          <p:cNvSpPr/>
          <p:nvPr/>
        </p:nvSpPr>
        <p:spPr>
          <a:xfrm>
            <a:off x="9134856" y="4517136"/>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T4</a:t>
            </a:r>
          </a:p>
        </p:txBody>
      </p:sp>
      <p:sp>
        <p:nvSpPr>
          <p:cNvPr id="19" name="Oval 18"/>
          <p:cNvSpPr/>
          <p:nvPr/>
        </p:nvSpPr>
        <p:spPr>
          <a:xfrm>
            <a:off x="7749042" y="3717036"/>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T5</a:t>
            </a:r>
          </a:p>
        </p:txBody>
      </p:sp>
      <p:sp>
        <p:nvSpPr>
          <p:cNvPr id="20" name="Oval 19"/>
          <p:cNvSpPr/>
          <p:nvPr/>
        </p:nvSpPr>
        <p:spPr>
          <a:xfrm>
            <a:off x="7749042" y="2116836"/>
            <a:ext cx="658368" cy="658368"/>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T6</a:t>
            </a:r>
          </a:p>
        </p:txBody>
      </p:sp>
      <p:sp>
        <p:nvSpPr>
          <p:cNvPr id="21" name="TextBox 20"/>
          <p:cNvSpPr txBox="1"/>
          <p:nvPr/>
        </p:nvSpPr>
        <p:spPr>
          <a:xfrm>
            <a:off x="8549640" y="3063239"/>
            <a:ext cx="1828800" cy="365760"/>
          </a:xfrm>
          <a:prstGeom prst="rect">
            <a:avLst/>
          </a:prstGeom>
          <a:noFill/>
        </p:spPr>
        <p:txBody>
          <a:bodyPr wrap="square" lIns="0" rIns="0" tIns="0" bIns="0" anchor="t">
            <a:spAutoFit/>
          </a:bodyPr>
          <a:lstStyle/>
          <a:p>
            <a:pPr algn="ctr"/>
            <a:r>
              <a:rPr sz="1500" b="1" i="0">
                <a:solidFill>
                  <a:srgbClr val="FF9AAA"/>
                </a:solidFill>
                <a:latin typeface="Calibri"/>
              </a:rPr>
              <a:t>circular wait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THE PROBLEM</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Deadlock needs four conditions at the same time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2</a:t>
            </a:r>
          </a:p>
        </p:txBody>
      </p:sp>
      <p:sp>
        <p:nvSpPr>
          <p:cNvPr id="6" name="Rounded Rectangle 5"/>
          <p:cNvSpPr/>
          <p:nvPr/>
        </p:nvSpPr>
        <p:spPr>
          <a:xfrm>
            <a:off x="548640" y="1600200"/>
            <a:ext cx="3291840" cy="17373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1874519"/>
            <a:ext cx="502920" cy="502920"/>
          </a:xfrm>
          <a:prstGeom prst="ellipse">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508760" y="1929384"/>
            <a:ext cx="2194560" cy="411480"/>
          </a:xfrm>
          <a:prstGeom prst="rect">
            <a:avLst/>
          </a:prstGeom>
          <a:noFill/>
        </p:spPr>
        <p:txBody>
          <a:bodyPr wrap="square" lIns="0" rIns="0" tIns="0" bIns="0" anchor="t">
            <a:spAutoFit/>
          </a:bodyPr>
          <a:lstStyle/>
          <a:p>
            <a:pPr algn="l"/>
            <a:r>
              <a:rPr sz="1900" b="1" i="0">
                <a:solidFill>
                  <a:srgbClr val="1B2433"/>
                </a:solidFill>
                <a:latin typeface="Cambria"/>
              </a:rPr>
              <a:t>Mutual exclusion</a:t>
            </a:r>
          </a:p>
        </p:txBody>
      </p:sp>
      <p:sp>
        <p:nvSpPr>
          <p:cNvPr id="9" name="TextBox 8"/>
          <p:cNvSpPr txBox="1"/>
          <p:nvPr/>
        </p:nvSpPr>
        <p:spPr>
          <a:xfrm>
            <a:off x="822959" y="2560320"/>
            <a:ext cx="2834640" cy="685800"/>
          </a:xfrm>
          <a:prstGeom prst="rect">
            <a:avLst/>
          </a:prstGeom>
          <a:noFill/>
        </p:spPr>
        <p:txBody>
          <a:bodyPr wrap="square" lIns="0" rIns="0" tIns="0" bIns="0" anchor="t">
            <a:spAutoFit/>
          </a:bodyPr>
          <a:lstStyle/>
          <a:p>
            <a:pPr algn="l"/>
            <a:r>
              <a:rPr sz="1500" b="0" i="0">
                <a:solidFill>
                  <a:srgbClr val="1B2433"/>
                </a:solidFill>
                <a:latin typeface="Calibri"/>
              </a:rPr>
              <a:t>A lock has one owner at a time</a:t>
            </a:r>
          </a:p>
        </p:txBody>
      </p:sp>
      <p:sp>
        <p:nvSpPr>
          <p:cNvPr id="10" name="Rounded Rectangle 9"/>
          <p:cNvSpPr/>
          <p:nvPr/>
        </p:nvSpPr>
        <p:spPr>
          <a:xfrm>
            <a:off x="4069080" y="1600200"/>
            <a:ext cx="3291840" cy="17373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43400" y="1874519"/>
            <a:ext cx="502920" cy="502920"/>
          </a:xfrm>
          <a:prstGeom prst="ellipse">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2" name="TextBox 11"/>
          <p:cNvSpPr txBox="1"/>
          <p:nvPr/>
        </p:nvSpPr>
        <p:spPr>
          <a:xfrm>
            <a:off x="5029200" y="1929384"/>
            <a:ext cx="2194560" cy="411480"/>
          </a:xfrm>
          <a:prstGeom prst="rect">
            <a:avLst/>
          </a:prstGeom>
          <a:noFill/>
        </p:spPr>
        <p:txBody>
          <a:bodyPr wrap="square" lIns="0" rIns="0" tIns="0" bIns="0" anchor="t">
            <a:spAutoFit/>
          </a:bodyPr>
          <a:lstStyle/>
          <a:p>
            <a:pPr algn="l"/>
            <a:r>
              <a:rPr sz="1900" b="1" i="0">
                <a:solidFill>
                  <a:srgbClr val="1B2433"/>
                </a:solidFill>
                <a:latin typeface="Cambria"/>
              </a:rPr>
              <a:t>Hold and wait</a:t>
            </a:r>
          </a:p>
        </p:txBody>
      </p:sp>
      <p:sp>
        <p:nvSpPr>
          <p:cNvPr id="13" name="TextBox 12"/>
          <p:cNvSpPr txBox="1"/>
          <p:nvPr/>
        </p:nvSpPr>
        <p:spPr>
          <a:xfrm>
            <a:off x="4343400" y="2560320"/>
            <a:ext cx="2834640" cy="685800"/>
          </a:xfrm>
          <a:prstGeom prst="rect">
            <a:avLst/>
          </a:prstGeom>
          <a:noFill/>
        </p:spPr>
        <p:txBody>
          <a:bodyPr wrap="square" lIns="0" rIns="0" tIns="0" bIns="0" anchor="t">
            <a:spAutoFit/>
          </a:bodyPr>
          <a:lstStyle/>
          <a:p>
            <a:pPr algn="l"/>
            <a:r>
              <a:rPr sz="1500" b="0" i="0">
                <a:solidFill>
                  <a:srgbClr val="1B2433"/>
                </a:solidFill>
                <a:latin typeface="Calibri"/>
              </a:rPr>
              <a:t>A thread keeps its lock while waiting for another</a:t>
            </a:r>
          </a:p>
        </p:txBody>
      </p:sp>
      <p:sp>
        <p:nvSpPr>
          <p:cNvPr id="14" name="Rounded Rectangle 13"/>
          <p:cNvSpPr/>
          <p:nvPr/>
        </p:nvSpPr>
        <p:spPr>
          <a:xfrm>
            <a:off x="548640" y="3566160"/>
            <a:ext cx="3291840" cy="17373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2959" y="3840480"/>
            <a:ext cx="502920" cy="502920"/>
          </a:xfrm>
          <a:prstGeom prst="ellipse">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6" name="TextBox 15"/>
          <p:cNvSpPr txBox="1"/>
          <p:nvPr/>
        </p:nvSpPr>
        <p:spPr>
          <a:xfrm>
            <a:off x="1508760" y="3895344"/>
            <a:ext cx="2194560" cy="411480"/>
          </a:xfrm>
          <a:prstGeom prst="rect">
            <a:avLst/>
          </a:prstGeom>
          <a:noFill/>
        </p:spPr>
        <p:txBody>
          <a:bodyPr wrap="square" lIns="0" rIns="0" tIns="0" bIns="0" anchor="t">
            <a:spAutoFit/>
          </a:bodyPr>
          <a:lstStyle/>
          <a:p>
            <a:pPr algn="l"/>
            <a:r>
              <a:rPr sz="1900" b="1" i="0">
                <a:solidFill>
                  <a:srgbClr val="1B2433"/>
                </a:solidFill>
                <a:latin typeface="Cambria"/>
              </a:rPr>
              <a:t>No preemption</a:t>
            </a:r>
          </a:p>
        </p:txBody>
      </p:sp>
      <p:sp>
        <p:nvSpPr>
          <p:cNvPr id="17" name="TextBox 16"/>
          <p:cNvSpPr txBox="1"/>
          <p:nvPr/>
        </p:nvSpPr>
        <p:spPr>
          <a:xfrm>
            <a:off x="822959" y="4526280"/>
            <a:ext cx="2834640" cy="685800"/>
          </a:xfrm>
          <a:prstGeom prst="rect">
            <a:avLst/>
          </a:prstGeom>
          <a:noFill/>
        </p:spPr>
        <p:txBody>
          <a:bodyPr wrap="square" lIns="0" rIns="0" tIns="0" bIns="0" anchor="t">
            <a:spAutoFit/>
          </a:bodyPr>
          <a:lstStyle/>
          <a:p>
            <a:pPr algn="l"/>
            <a:r>
              <a:rPr sz="1500" b="0" i="0">
                <a:solidFill>
                  <a:srgbClr val="1B2433"/>
                </a:solidFill>
                <a:latin typeface="Calibri"/>
              </a:rPr>
              <a:t>A held lock cannot be taken away</a:t>
            </a:r>
          </a:p>
        </p:txBody>
      </p:sp>
      <p:sp>
        <p:nvSpPr>
          <p:cNvPr id="18" name="Rounded Rectangle 17"/>
          <p:cNvSpPr/>
          <p:nvPr/>
        </p:nvSpPr>
        <p:spPr>
          <a:xfrm>
            <a:off x="4069080" y="3566160"/>
            <a:ext cx="3291840" cy="1737360"/>
          </a:xfrm>
          <a:prstGeom prst="roundRect">
            <a:avLst>
              <a:gd name="adj" fmla="val 8000"/>
            </a:avLst>
          </a:prstGeom>
          <a:solidFill>
            <a:srgbClr val="FBEC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343400" y="3840480"/>
            <a:ext cx="502920" cy="502920"/>
          </a:xfrm>
          <a:prstGeom prst="ellipse">
            <a:avLst/>
          </a:prstGeom>
          <a:solidFill>
            <a:srgbClr val="C83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5029200" y="3895344"/>
            <a:ext cx="2194560" cy="411480"/>
          </a:xfrm>
          <a:prstGeom prst="rect">
            <a:avLst/>
          </a:prstGeom>
          <a:noFill/>
        </p:spPr>
        <p:txBody>
          <a:bodyPr wrap="square" lIns="0" rIns="0" tIns="0" bIns="0" anchor="t">
            <a:spAutoFit/>
          </a:bodyPr>
          <a:lstStyle/>
          <a:p>
            <a:pPr algn="l"/>
            <a:r>
              <a:rPr sz="1900" b="1" i="0">
                <a:solidFill>
                  <a:srgbClr val="C83A50"/>
                </a:solidFill>
                <a:latin typeface="Cambria"/>
              </a:rPr>
              <a:t>Circular wait</a:t>
            </a:r>
          </a:p>
        </p:txBody>
      </p:sp>
      <p:sp>
        <p:nvSpPr>
          <p:cNvPr id="21" name="TextBox 20"/>
          <p:cNvSpPr txBox="1"/>
          <p:nvPr/>
        </p:nvSpPr>
        <p:spPr>
          <a:xfrm>
            <a:off x="4343400" y="4526280"/>
            <a:ext cx="2834640" cy="685800"/>
          </a:xfrm>
          <a:prstGeom prst="rect">
            <a:avLst/>
          </a:prstGeom>
          <a:noFill/>
        </p:spPr>
        <p:txBody>
          <a:bodyPr wrap="square" lIns="0" rIns="0" tIns="0" bIns="0" anchor="t">
            <a:spAutoFit/>
          </a:bodyPr>
          <a:lstStyle/>
          <a:p>
            <a:pPr algn="l"/>
            <a:r>
              <a:rPr sz="1500" b="0" i="0">
                <a:solidFill>
                  <a:srgbClr val="1B2433"/>
                </a:solidFill>
                <a:latin typeface="Calibri"/>
              </a:rPr>
              <a:t>Each thread waits for the next one in a cycle</a:t>
            </a:r>
          </a:p>
        </p:txBody>
      </p:sp>
      <p:sp>
        <p:nvSpPr>
          <p:cNvPr id="22" name="Rounded Rectangle 21"/>
          <p:cNvSpPr/>
          <p:nvPr/>
        </p:nvSpPr>
        <p:spPr>
          <a:xfrm>
            <a:off x="7863840" y="1600200"/>
            <a:ext cx="3749039" cy="3703320"/>
          </a:xfrm>
          <a:prstGeom prst="roundRect">
            <a:avLst>
              <a:gd name="adj" fmla="val 8000"/>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0" y="1810512"/>
            <a:ext cx="3291840" cy="365760"/>
          </a:xfrm>
          <a:prstGeom prst="rect">
            <a:avLst/>
          </a:prstGeom>
          <a:noFill/>
        </p:spPr>
        <p:txBody>
          <a:bodyPr wrap="square" lIns="0" rIns="0" tIns="0" bIns="0" anchor="t">
            <a:spAutoFit/>
          </a:bodyPr>
          <a:lstStyle/>
          <a:p>
            <a:pPr algn="l"/>
            <a:r>
              <a:rPr sz="1800" b="1" i="0">
                <a:solidFill>
                  <a:srgbClr val="FFFFFF"/>
                </a:solidFill>
                <a:latin typeface="Cambria"/>
              </a:rPr>
              <a:t>Opposite lock order</a:t>
            </a:r>
          </a:p>
        </p:txBody>
      </p:sp>
      <p:sp>
        <p:nvSpPr>
          <p:cNvPr id="24" name="TextBox 23"/>
          <p:cNvSpPr txBox="1"/>
          <p:nvPr/>
        </p:nvSpPr>
        <p:spPr>
          <a:xfrm>
            <a:off x="8138160" y="2286000"/>
            <a:ext cx="3291840" cy="822960"/>
          </a:xfrm>
          <a:prstGeom prst="rect">
            <a:avLst/>
          </a:prstGeom>
          <a:noFill/>
        </p:spPr>
        <p:txBody>
          <a:bodyPr wrap="square" lIns="0" rIns="0" tIns="0" bIns="0" anchor="t">
            <a:spAutoFit/>
          </a:bodyPr>
          <a:lstStyle/>
          <a:p>
            <a:pPr algn="l"/>
            <a:r>
              <a:rPr sz="2000" b="0" i="0">
                <a:solidFill>
                  <a:srgbClr val="B8C4D4"/>
                </a:solidFill>
                <a:latin typeface="Calibri"/>
              </a:rPr>
              <a:t>T1:  </a:t>
            </a:r>
            <a:r>
              <a:rPr sz="2000" b="1" i="0">
                <a:solidFill>
                  <a:srgbClr val="FFFFFF"/>
                </a:solidFill>
                <a:latin typeface="Calibri"/>
              </a:rPr>
              <a:t>A  →  B</a:t>
            </a:r>
          </a:p>
          <a:p>
            <a:pPr algn="l">
              <a:spcBef>
                <a:spcPts val="600"/>
              </a:spcBef>
            </a:pPr>
            <a:r>
              <a:rPr sz="2000" b="0" i="0">
                <a:solidFill>
                  <a:srgbClr val="B8C4D4"/>
                </a:solidFill>
                <a:latin typeface="Calibri"/>
              </a:rPr>
              <a:t>T2:  </a:t>
            </a:r>
            <a:r>
              <a:rPr sz="2000" b="1" i="0">
                <a:solidFill>
                  <a:srgbClr val="FFFFFF"/>
                </a:solidFill>
                <a:latin typeface="Calibri"/>
              </a:rPr>
              <a:t>B  →  A</a:t>
            </a:r>
          </a:p>
        </p:txBody>
      </p:sp>
      <p:sp>
        <p:nvSpPr>
          <p:cNvPr id="25" name="Oval 24"/>
          <p:cNvSpPr/>
          <p:nvPr/>
        </p:nvSpPr>
        <p:spPr>
          <a:xfrm>
            <a:off x="8458200" y="3429000"/>
            <a:ext cx="685800" cy="685800"/>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T1</a:t>
            </a:r>
          </a:p>
        </p:txBody>
      </p:sp>
      <p:sp>
        <p:nvSpPr>
          <p:cNvPr id="26" name="Oval 25"/>
          <p:cNvSpPr/>
          <p:nvPr/>
        </p:nvSpPr>
        <p:spPr>
          <a:xfrm>
            <a:off x="10378440" y="3429000"/>
            <a:ext cx="685800" cy="685800"/>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B3C0"/>
                </a:solidFill>
                <a:latin typeface="Calibri"/>
              </a:rPr>
              <a:t>T2</a:t>
            </a:r>
          </a:p>
        </p:txBody>
      </p:sp>
      <p:cxnSp>
        <p:nvCxnSpPr>
          <p:cNvPr id="27" name="Connector 26"/>
          <p:cNvCxnSpPr/>
          <p:nvPr/>
        </p:nvCxnSpPr>
        <p:spPr>
          <a:xfrm>
            <a:off x="9189720" y="3611880"/>
            <a:ext cx="1143000" cy="0"/>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9189720" y="3977639"/>
            <a:ext cx="1143000" cy="0"/>
          </a:xfrm>
          <a:prstGeom prst="line">
            <a:avLst/>
          </a:prstGeom>
          <a:ln w="31750">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189720" y="3310128"/>
            <a:ext cx="1143000" cy="274320"/>
          </a:xfrm>
          <a:prstGeom prst="rect">
            <a:avLst/>
          </a:prstGeom>
          <a:noFill/>
        </p:spPr>
        <p:txBody>
          <a:bodyPr wrap="square" lIns="0" rIns="0" tIns="0" bIns="0" anchor="t">
            <a:spAutoFit/>
          </a:bodyPr>
          <a:lstStyle/>
          <a:p>
            <a:pPr algn="ctr"/>
            <a:r>
              <a:rPr sz="1100" b="0" i="0">
                <a:solidFill>
                  <a:srgbClr val="B8C4D4"/>
                </a:solidFill>
                <a:latin typeface="Calibri"/>
              </a:rPr>
              <a:t>waits for B</a:t>
            </a:r>
          </a:p>
        </p:txBody>
      </p:sp>
      <p:sp>
        <p:nvSpPr>
          <p:cNvPr id="30" name="TextBox 29"/>
          <p:cNvSpPr txBox="1"/>
          <p:nvPr/>
        </p:nvSpPr>
        <p:spPr>
          <a:xfrm>
            <a:off x="9189720" y="4041648"/>
            <a:ext cx="1143000" cy="274320"/>
          </a:xfrm>
          <a:prstGeom prst="rect">
            <a:avLst/>
          </a:prstGeom>
          <a:noFill/>
        </p:spPr>
        <p:txBody>
          <a:bodyPr wrap="square" lIns="0" rIns="0" tIns="0" bIns="0" anchor="t">
            <a:spAutoFit/>
          </a:bodyPr>
          <a:lstStyle/>
          <a:p>
            <a:pPr algn="ctr"/>
            <a:r>
              <a:rPr sz="1100" b="0" i="0">
                <a:solidFill>
                  <a:srgbClr val="B8C4D4"/>
                </a:solidFill>
                <a:latin typeface="Calibri"/>
              </a:rPr>
              <a:t>waits for A</a:t>
            </a:r>
          </a:p>
        </p:txBody>
      </p:sp>
      <p:sp>
        <p:nvSpPr>
          <p:cNvPr id="31" name="TextBox 30"/>
          <p:cNvSpPr txBox="1"/>
          <p:nvPr/>
        </p:nvSpPr>
        <p:spPr>
          <a:xfrm>
            <a:off x="8138160" y="4617720"/>
            <a:ext cx="3291840" cy="548640"/>
          </a:xfrm>
          <a:prstGeom prst="rect">
            <a:avLst/>
          </a:prstGeom>
          <a:noFill/>
        </p:spPr>
        <p:txBody>
          <a:bodyPr wrap="square" lIns="0" rIns="0" tIns="0" bIns="0" anchor="t">
            <a:spAutoFit/>
          </a:bodyPr>
          <a:lstStyle/>
          <a:p>
            <a:pPr algn="l"/>
            <a:r>
              <a:rPr sz="1500" b="0" i="0">
                <a:solidFill>
                  <a:srgbClr val="B8C4D4"/>
                </a:solidFill>
                <a:latin typeface="Calibri"/>
              </a:rPr>
              <a:t>Each holds the lock the other needs.</a:t>
            </a:r>
          </a:p>
        </p:txBody>
      </p:sp>
      <p:sp>
        <p:nvSpPr>
          <p:cNvPr id="32" name="TextBox 31"/>
          <p:cNvSpPr txBox="1"/>
          <p:nvPr/>
        </p:nvSpPr>
        <p:spPr>
          <a:xfrm>
            <a:off x="548640" y="5715000"/>
            <a:ext cx="11064240" cy="457200"/>
          </a:xfrm>
          <a:prstGeom prst="rect">
            <a:avLst/>
          </a:prstGeom>
          <a:noFill/>
        </p:spPr>
        <p:txBody>
          <a:bodyPr wrap="square" lIns="0" rIns="0" tIns="0" bIns="0" anchor="t">
            <a:spAutoFit/>
          </a:bodyPr>
          <a:lstStyle/>
          <a:p>
            <a:pPr algn="l"/>
            <a:r>
              <a:rPr sz="1600" b="0" i="1">
                <a:solidFill>
                  <a:srgbClr val="5B6778"/>
                </a:solidFill>
                <a:latin typeface="Calibri"/>
              </a:rPr>
              <a:t>We break circular wait with one global lock order, or no preemption by aborting a victim thread.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ARCHITECTURE</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One stateless backend, real threads, one dashboard</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3</a:t>
            </a:r>
          </a:p>
        </p:txBody>
      </p:sp>
      <p:sp>
        <p:nvSpPr>
          <p:cNvPr id="6" name="Rounded Rectangle 5"/>
          <p:cNvSpPr/>
          <p:nvPr/>
        </p:nvSpPr>
        <p:spPr>
          <a:xfrm>
            <a:off x="548640" y="1783080"/>
            <a:ext cx="1920240" cy="1463040"/>
          </a:xfrm>
          <a:prstGeom prst="roundRect">
            <a:avLst>
              <a:gd name="adj" fmla="val 8000"/>
            </a:avLst>
          </a:prstGeom>
          <a:solidFill>
            <a:srgbClr val="F1F4F8"/>
          </a:solidFill>
          <a:ln w="15875">
            <a:solidFill>
              <a:srgbClr val="2F6F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1645920" cy="411480"/>
          </a:xfrm>
          <a:prstGeom prst="rect">
            <a:avLst/>
          </a:prstGeom>
          <a:noFill/>
        </p:spPr>
        <p:txBody>
          <a:bodyPr wrap="square" lIns="0" rIns="0" tIns="0" bIns="0" anchor="t">
            <a:spAutoFit/>
          </a:bodyPr>
          <a:lstStyle/>
          <a:p>
            <a:pPr algn="ctr"/>
            <a:r>
              <a:rPr sz="1700" b="1" i="0">
                <a:solidFill>
                  <a:srgbClr val="1B2433"/>
                </a:solidFill>
                <a:latin typeface="Cambria"/>
              </a:rPr>
              <a:t>Dashboard</a:t>
            </a:r>
          </a:p>
        </p:txBody>
      </p:sp>
      <p:sp>
        <p:nvSpPr>
          <p:cNvPr id="8" name="TextBox 7"/>
          <p:cNvSpPr txBox="1"/>
          <p:nvPr/>
        </p:nvSpPr>
        <p:spPr>
          <a:xfrm>
            <a:off x="685800" y="2468880"/>
            <a:ext cx="1645920" cy="640080"/>
          </a:xfrm>
          <a:prstGeom prst="rect">
            <a:avLst/>
          </a:prstGeom>
          <a:noFill/>
        </p:spPr>
        <p:txBody>
          <a:bodyPr wrap="square" lIns="0" rIns="0" tIns="0" bIns="0" anchor="t">
            <a:spAutoFit/>
          </a:bodyPr>
          <a:lstStyle/>
          <a:p>
            <a:pPr algn="ctr"/>
            <a:r>
              <a:rPr sz="1300" b="0" i="0">
                <a:solidFill>
                  <a:srgbClr val="5B6778"/>
                </a:solidFill>
                <a:latin typeface="Calibri"/>
              </a:rPr>
              <a:t>Lab · Analysis · Compare</a:t>
            </a:r>
          </a:p>
        </p:txBody>
      </p:sp>
      <p:cxnSp>
        <p:nvCxnSpPr>
          <p:cNvPr id="9" name="Connector 8"/>
          <p:cNvCxnSpPr/>
          <p:nvPr/>
        </p:nvCxnSpPr>
        <p:spPr>
          <a:xfrm>
            <a:off x="2487168" y="2514600"/>
            <a:ext cx="329184" cy="0"/>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40" y="1783080"/>
            <a:ext cx="1920240" cy="1463040"/>
          </a:xfrm>
          <a:prstGeom prst="roundRect">
            <a:avLst>
              <a:gd name="adj" fmla="val 8000"/>
            </a:avLst>
          </a:prstGeom>
          <a:solidFill>
            <a:srgbClr val="F1F4F8"/>
          </a:solidFill>
          <a:ln w="15875">
            <a:solidFill>
              <a:srgbClr val="0E14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1965960"/>
            <a:ext cx="1645920" cy="411480"/>
          </a:xfrm>
          <a:prstGeom prst="rect">
            <a:avLst/>
          </a:prstGeom>
          <a:noFill/>
        </p:spPr>
        <p:txBody>
          <a:bodyPr wrap="square" lIns="0" rIns="0" tIns="0" bIns="0" anchor="t">
            <a:spAutoFit/>
          </a:bodyPr>
          <a:lstStyle/>
          <a:p>
            <a:pPr algn="ctr"/>
            <a:r>
              <a:rPr sz="1700" b="1" i="0">
                <a:solidFill>
                  <a:srgbClr val="1B2433"/>
                </a:solidFill>
                <a:latin typeface="Cambria"/>
              </a:rPr>
              <a:t>FastAPI</a:t>
            </a:r>
          </a:p>
        </p:txBody>
      </p:sp>
      <p:sp>
        <p:nvSpPr>
          <p:cNvPr id="12" name="TextBox 11"/>
          <p:cNvSpPr txBox="1"/>
          <p:nvPr/>
        </p:nvSpPr>
        <p:spPr>
          <a:xfrm>
            <a:off x="2971800" y="2468880"/>
            <a:ext cx="1645920" cy="640080"/>
          </a:xfrm>
          <a:prstGeom prst="rect">
            <a:avLst/>
          </a:prstGeom>
          <a:noFill/>
        </p:spPr>
        <p:txBody>
          <a:bodyPr wrap="square" lIns="0" rIns="0" tIns="0" bIns="0" anchor="t">
            <a:spAutoFit/>
          </a:bodyPr>
          <a:lstStyle/>
          <a:p>
            <a:pPr algn="ctr"/>
            <a:r>
              <a:rPr sz="1300" b="0" i="0">
                <a:solidFill>
                  <a:srgbClr val="5B6778"/>
                </a:solidFill>
                <a:latin typeface="Calibri"/>
              </a:rPr>
              <a:t>Stateless, per-request scoring</a:t>
            </a:r>
          </a:p>
        </p:txBody>
      </p:sp>
      <p:cxnSp>
        <p:nvCxnSpPr>
          <p:cNvPr id="13" name="Connector 12"/>
          <p:cNvCxnSpPr/>
          <p:nvPr/>
        </p:nvCxnSpPr>
        <p:spPr>
          <a:xfrm>
            <a:off x="4773168" y="2514600"/>
            <a:ext cx="329184" cy="0"/>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20640" y="1783080"/>
            <a:ext cx="1920240" cy="1463040"/>
          </a:xfrm>
          <a:prstGeom prst="roundRect">
            <a:avLst>
              <a:gd name="adj" fmla="val 8000"/>
            </a:avLst>
          </a:prstGeom>
          <a:solidFill>
            <a:srgbClr val="F1F4F8"/>
          </a:solidFill>
          <a:ln w="15875">
            <a:solidFill>
              <a:srgbClr val="C83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1965960"/>
            <a:ext cx="1645920" cy="411480"/>
          </a:xfrm>
          <a:prstGeom prst="rect">
            <a:avLst/>
          </a:prstGeom>
          <a:noFill/>
        </p:spPr>
        <p:txBody>
          <a:bodyPr wrap="square" lIns="0" rIns="0" tIns="0" bIns="0" anchor="t">
            <a:spAutoFit/>
          </a:bodyPr>
          <a:lstStyle/>
          <a:p>
            <a:pPr algn="ctr"/>
            <a:r>
              <a:rPr sz="1700" b="1" i="0">
                <a:solidFill>
                  <a:srgbClr val="1B2433"/>
                </a:solidFill>
                <a:latin typeface="Cambria"/>
              </a:rPr>
              <a:t>Experiments</a:t>
            </a:r>
          </a:p>
        </p:txBody>
      </p:sp>
      <p:sp>
        <p:nvSpPr>
          <p:cNvPr id="16" name="TextBox 15"/>
          <p:cNvSpPr txBox="1"/>
          <p:nvPr/>
        </p:nvSpPr>
        <p:spPr>
          <a:xfrm>
            <a:off x="5257800" y="2468880"/>
            <a:ext cx="1645920" cy="640080"/>
          </a:xfrm>
          <a:prstGeom prst="rect">
            <a:avLst/>
          </a:prstGeom>
          <a:noFill/>
        </p:spPr>
        <p:txBody>
          <a:bodyPr wrap="square" lIns="0" rIns="0" tIns="0" bIns="0" anchor="t">
            <a:spAutoFit/>
          </a:bodyPr>
          <a:lstStyle/>
          <a:p>
            <a:pPr algn="ctr"/>
            <a:r>
              <a:rPr sz="1300" b="0" i="0">
                <a:solidFill>
                  <a:srgbClr val="5B6778"/>
                </a:solidFill>
                <a:latin typeface="Calibri"/>
              </a:rPr>
              <a:t>Two-thread · N-thread ring</a:t>
            </a:r>
          </a:p>
        </p:txBody>
      </p:sp>
      <p:cxnSp>
        <p:nvCxnSpPr>
          <p:cNvPr id="17" name="Connector 16"/>
          <p:cNvCxnSpPr/>
          <p:nvPr/>
        </p:nvCxnSpPr>
        <p:spPr>
          <a:xfrm>
            <a:off x="7059168" y="2514600"/>
            <a:ext cx="329184" cy="0"/>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06640" y="1783080"/>
            <a:ext cx="1920240" cy="1463040"/>
          </a:xfrm>
          <a:prstGeom prst="roundRect">
            <a:avLst>
              <a:gd name="adj" fmla="val 8000"/>
            </a:avLst>
          </a:prstGeom>
          <a:solidFill>
            <a:srgbClr val="F1F4F8"/>
          </a:solidFill>
          <a:ln w="15875">
            <a:solidFill>
              <a:srgbClr val="C78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1965960"/>
            <a:ext cx="1645920" cy="411480"/>
          </a:xfrm>
          <a:prstGeom prst="rect">
            <a:avLst/>
          </a:prstGeom>
          <a:noFill/>
        </p:spPr>
        <p:txBody>
          <a:bodyPr wrap="square" lIns="0" rIns="0" tIns="0" bIns="0" anchor="t">
            <a:spAutoFit/>
          </a:bodyPr>
          <a:lstStyle/>
          <a:p>
            <a:pPr algn="ctr"/>
            <a:r>
              <a:rPr sz="1700" b="1" i="0">
                <a:solidFill>
                  <a:srgbClr val="1B2433"/>
                </a:solidFill>
                <a:latin typeface="Cambria"/>
              </a:rPr>
              <a:t>Event log</a:t>
            </a:r>
          </a:p>
        </p:txBody>
      </p:sp>
      <p:sp>
        <p:nvSpPr>
          <p:cNvPr id="20" name="TextBox 19"/>
          <p:cNvSpPr txBox="1"/>
          <p:nvPr/>
        </p:nvSpPr>
        <p:spPr>
          <a:xfrm>
            <a:off x="7543800" y="2468880"/>
            <a:ext cx="1645920" cy="640080"/>
          </a:xfrm>
          <a:prstGeom prst="rect">
            <a:avLst/>
          </a:prstGeom>
          <a:noFill/>
        </p:spPr>
        <p:txBody>
          <a:bodyPr wrap="square" lIns="0" rIns="0" tIns="0" bIns="0" anchor="t">
            <a:spAutoFit/>
          </a:bodyPr>
          <a:lstStyle/>
          <a:p>
            <a:pPr algn="ctr"/>
            <a:r>
              <a:rPr sz="1300" b="0" i="0">
                <a:solidFill>
                  <a:srgbClr val="5B6778"/>
                </a:solidFill>
                <a:latin typeface="Calibri"/>
              </a:rPr>
              <a:t>perf_counter timestamps</a:t>
            </a:r>
          </a:p>
        </p:txBody>
      </p:sp>
      <p:cxnSp>
        <p:nvCxnSpPr>
          <p:cNvPr id="21" name="Connector 20"/>
          <p:cNvCxnSpPr/>
          <p:nvPr/>
        </p:nvCxnSpPr>
        <p:spPr>
          <a:xfrm>
            <a:off x="9345167" y="2514600"/>
            <a:ext cx="329185" cy="0"/>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92640" y="1783080"/>
            <a:ext cx="1920240" cy="1463040"/>
          </a:xfrm>
          <a:prstGeom prst="roundRect">
            <a:avLst>
              <a:gd name="adj" fmla="val 8000"/>
            </a:avLst>
          </a:prstGeom>
          <a:solidFill>
            <a:srgbClr val="F1F4F8"/>
          </a:solidFill>
          <a:ln w="15875">
            <a:solidFill>
              <a:srgbClr val="178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1965960"/>
            <a:ext cx="1645920" cy="411480"/>
          </a:xfrm>
          <a:prstGeom prst="rect">
            <a:avLst/>
          </a:prstGeom>
          <a:noFill/>
        </p:spPr>
        <p:txBody>
          <a:bodyPr wrap="square" lIns="0" rIns="0" tIns="0" bIns="0" anchor="t">
            <a:spAutoFit/>
          </a:bodyPr>
          <a:lstStyle/>
          <a:p>
            <a:pPr algn="ctr"/>
            <a:r>
              <a:rPr sz="1700" b="1" i="0">
                <a:solidFill>
                  <a:srgbClr val="1B2433"/>
                </a:solidFill>
                <a:latin typeface="Cambria"/>
              </a:rPr>
              <a:t>Analysis</a:t>
            </a:r>
          </a:p>
        </p:txBody>
      </p:sp>
      <p:sp>
        <p:nvSpPr>
          <p:cNvPr id="24" name="TextBox 23"/>
          <p:cNvSpPr txBox="1"/>
          <p:nvPr/>
        </p:nvSpPr>
        <p:spPr>
          <a:xfrm>
            <a:off x="9829800" y="2468880"/>
            <a:ext cx="1645920" cy="640080"/>
          </a:xfrm>
          <a:prstGeom prst="rect">
            <a:avLst/>
          </a:prstGeom>
          <a:noFill/>
        </p:spPr>
        <p:txBody>
          <a:bodyPr wrap="square" lIns="0" rIns="0" tIns="0" bIns="0" anchor="t">
            <a:spAutoFit/>
          </a:bodyPr>
          <a:lstStyle/>
          <a:p>
            <a:pPr algn="ctr"/>
            <a:r>
              <a:rPr sz="1300" b="0" i="0">
                <a:solidFill>
                  <a:srgbClr val="5B6778"/>
                </a:solidFill>
                <a:latin typeface="Calibri"/>
              </a:rPr>
              <a:t>Wait-For Graph · score · heatmap</a:t>
            </a:r>
          </a:p>
        </p:txBody>
      </p:sp>
      <p:cxnSp>
        <p:nvCxnSpPr>
          <p:cNvPr id="25" name="Connector 24"/>
          <p:cNvCxnSpPr/>
          <p:nvPr/>
        </p:nvCxnSpPr>
        <p:spPr>
          <a:xfrm>
            <a:off x="10652760" y="3310128"/>
            <a:ext cx="0" cy="438911"/>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508760" y="3749039"/>
            <a:ext cx="9144000" cy="0"/>
          </a:xfrm>
          <a:prstGeom prst="line">
            <a:avLst/>
          </a:prstGeom>
          <a:ln w="25400">
            <a:solidFill>
              <a:srgbClr val="5B67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1508760" y="3310128"/>
            <a:ext cx="0" cy="438911"/>
          </a:xfrm>
          <a:prstGeom prst="line">
            <a:avLst/>
          </a:prstGeom>
          <a:ln w="25400">
            <a:solidFill>
              <a:srgbClr val="5B67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926080" y="3822191"/>
            <a:ext cx="6400800" cy="320040"/>
          </a:xfrm>
          <a:prstGeom prst="rect">
            <a:avLst/>
          </a:prstGeom>
          <a:noFill/>
        </p:spPr>
        <p:txBody>
          <a:bodyPr wrap="square" lIns="0" rIns="0" tIns="0" bIns="0" anchor="t">
            <a:spAutoFit/>
          </a:bodyPr>
          <a:lstStyle/>
          <a:p>
            <a:pPr algn="ctr"/>
            <a:r>
              <a:rPr sz="1300" b="0" i="0">
                <a:solidFill>
                  <a:srgbClr val="5B6778"/>
                </a:solidFill>
                <a:latin typeface="Calibri"/>
              </a:rPr>
              <a:t>trial JSON, results and replay data back to the browser</a:t>
            </a:r>
          </a:p>
        </p:txBody>
      </p:sp>
      <p:sp>
        <p:nvSpPr>
          <p:cNvPr id="29" name="Rounded Rectangle 28"/>
          <p:cNvSpPr/>
          <p:nvPr/>
        </p:nvSpPr>
        <p:spPr>
          <a:xfrm>
            <a:off x="548640" y="4480560"/>
            <a:ext cx="3520440" cy="15087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4645152"/>
            <a:ext cx="3017520" cy="365760"/>
          </a:xfrm>
          <a:prstGeom prst="rect">
            <a:avLst/>
          </a:prstGeom>
          <a:noFill/>
        </p:spPr>
        <p:txBody>
          <a:bodyPr wrap="square" lIns="0" rIns="0" tIns="0" bIns="0" anchor="t">
            <a:spAutoFit/>
          </a:bodyPr>
          <a:lstStyle/>
          <a:p>
            <a:pPr algn="l"/>
            <a:r>
              <a:rPr sz="1700" b="1" i="0">
                <a:solidFill>
                  <a:srgbClr val="1B2433"/>
                </a:solidFill>
                <a:latin typeface="Cambria"/>
              </a:rPr>
              <a:t>Real OS threads</a:t>
            </a:r>
          </a:p>
        </p:txBody>
      </p:sp>
      <p:sp>
        <p:nvSpPr>
          <p:cNvPr id="31" name="TextBox 30"/>
          <p:cNvSpPr txBox="1"/>
          <p:nvPr/>
        </p:nvSpPr>
        <p:spPr>
          <a:xfrm>
            <a:off x="822959" y="5074920"/>
            <a:ext cx="3017520" cy="822960"/>
          </a:xfrm>
          <a:prstGeom prst="rect">
            <a:avLst/>
          </a:prstGeom>
          <a:noFill/>
        </p:spPr>
        <p:txBody>
          <a:bodyPr wrap="square" lIns="0" rIns="0" tIns="0" bIns="0" anchor="t">
            <a:spAutoFit/>
          </a:bodyPr>
          <a:lstStyle/>
          <a:p>
            <a:pPr algn="l"/>
            <a:r>
              <a:rPr sz="1400" b="0" i="0">
                <a:solidFill>
                  <a:srgbClr val="1B2433"/>
                </a:solidFill>
                <a:latin typeface="Calibri"/>
              </a:rPr>
              <a:t>Python threads and mutexes; every run reports distinct OS thread ids.</a:t>
            </a:r>
          </a:p>
        </p:txBody>
      </p:sp>
      <p:sp>
        <p:nvSpPr>
          <p:cNvPr id="32" name="Rounded Rectangle 31"/>
          <p:cNvSpPr/>
          <p:nvPr/>
        </p:nvSpPr>
        <p:spPr>
          <a:xfrm>
            <a:off x="4297679" y="4480560"/>
            <a:ext cx="3520440" cy="15087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1999" y="4645152"/>
            <a:ext cx="3017520" cy="365760"/>
          </a:xfrm>
          <a:prstGeom prst="rect">
            <a:avLst/>
          </a:prstGeom>
          <a:noFill/>
        </p:spPr>
        <p:txBody>
          <a:bodyPr wrap="square" lIns="0" rIns="0" tIns="0" bIns="0" anchor="t">
            <a:spAutoFit/>
          </a:bodyPr>
          <a:lstStyle/>
          <a:p>
            <a:pPr algn="l"/>
            <a:r>
              <a:rPr sz="1700" b="1" i="0">
                <a:solidFill>
                  <a:srgbClr val="1B2433"/>
                </a:solidFill>
                <a:latin typeface="Cambria"/>
              </a:rPr>
              <a:t>Bounded, cancellable waits</a:t>
            </a:r>
          </a:p>
        </p:txBody>
      </p:sp>
      <p:sp>
        <p:nvSpPr>
          <p:cNvPr id="34" name="TextBox 33"/>
          <p:cNvSpPr txBox="1"/>
          <p:nvPr/>
        </p:nvSpPr>
        <p:spPr>
          <a:xfrm>
            <a:off x="4571999" y="5074920"/>
            <a:ext cx="3017520" cy="822960"/>
          </a:xfrm>
          <a:prstGeom prst="rect">
            <a:avLst/>
          </a:prstGeom>
          <a:noFill/>
        </p:spPr>
        <p:txBody>
          <a:bodyPr wrap="square" lIns="0" rIns="0" tIns="0" bIns="0" anchor="t">
            <a:spAutoFit/>
          </a:bodyPr>
          <a:lstStyle/>
          <a:p>
            <a:pPr algn="l"/>
            <a:r>
              <a:rPr sz="1400" b="0" i="0">
                <a:solidFill>
                  <a:srgbClr val="1B2433"/>
                </a:solidFill>
                <a:latin typeface="Calibri"/>
              </a:rPr>
              <a:t>Every lock wait has a timeout; the supervisor can cancel a victim's wait.</a:t>
            </a:r>
          </a:p>
        </p:txBody>
      </p:sp>
      <p:sp>
        <p:nvSpPr>
          <p:cNvPr id="35" name="Rounded Rectangle 34"/>
          <p:cNvSpPr/>
          <p:nvPr/>
        </p:nvSpPr>
        <p:spPr>
          <a:xfrm>
            <a:off x="8046719" y="4480560"/>
            <a:ext cx="3520440" cy="150876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4645152"/>
            <a:ext cx="3017520" cy="365760"/>
          </a:xfrm>
          <a:prstGeom prst="rect">
            <a:avLst/>
          </a:prstGeom>
          <a:noFill/>
        </p:spPr>
        <p:txBody>
          <a:bodyPr wrap="square" lIns="0" rIns="0" tIns="0" bIns="0" anchor="t">
            <a:spAutoFit/>
          </a:bodyPr>
          <a:lstStyle/>
          <a:p>
            <a:pPr algn="l"/>
            <a:r>
              <a:rPr sz="1700" b="1" i="0">
                <a:solidFill>
                  <a:srgbClr val="1B2433"/>
                </a:solidFill>
                <a:latin typeface="Cambria"/>
              </a:rPr>
              <a:t>Same code everywhere</a:t>
            </a:r>
          </a:p>
        </p:txBody>
      </p:sp>
      <p:sp>
        <p:nvSpPr>
          <p:cNvPr id="37" name="TextBox 36"/>
          <p:cNvSpPr txBox="1"/>
          <p:nvPr/>
        </p:nvSpPr>
        <p:spPr>
          <a:xfrm>
            <a:off x="8321040" y="5074920"/>
            <a:ext cx="3017520" cy="822960"/>
          </a:xfrm>
          <a:prstGeom prst="rect">
            <a:avLst/>
          </a:prstGeom>
          <a:noFill/>
        </p:spPr>
        <p:txBody>
          <a:bodyPr wrap="square" lIns="0" rIns="0" tIns="0" bIns="0" anchor="t">
            <a:spAutoFit/>
          </a:bodyPr>
          <a:lstStyle/>
          <a:p>
            <a:pPr algn="l"/>
            <a:r>
              <a:rPr sz="1400" b="0" i="0">
                <a:solidFill>
                  <a:srgbClr val="1B2433"/>
                </a:solidFill>
                <a:latin typeface="Calibri"/>
              </a:rPr>
              <a:t>uvicorn locally, app.py on Vercel; no server-side state between requests.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ORIGINAL TWO-THREAD EXPERIMENT</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Two threads, two locks: the cycle forms on cue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4</a:t>
            </a:r>
          </a:p>
        </p:txBody>
      </p:sp>
      <p:sp>
        <p:nvSpPr>
          <p:cNvPr id="6" name="Oval 5"/>
          <p:cNvSpPr/>
          <p:nvPr/>
        </p:nvSpPr>
        <p:spPr>
          <a:xfrm>
            <a:off x="548640" y="1645920"/>
            <a:ext cx="548640" cy="548640"/>
          </a:xfrm>
          <a:prstGeom prst="ellipse">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TextBox 6"/>
          <p:cNvSpPr txBox="1"/>
          <p:nvPr/>
        </p:nvSpPr>
        <p:spPr>
          <a:xfrm>
            <a:off x="1280160" y="1627632"/>
            <a:ext cx="5120640" cy="365760"/>
          </a:xfrm>
          <a:prstGeom prst="rect">
            <a:avLst/>
          </a:prstGeom>
          <a:noFill/>
        </p:spPr>
        <p:txBody>
          <a:bodyPr wrap="square" lIns="0" rIns="0" tIns="0" bIns="0" anchor="t">
            <a:spAutoFit/>
          </a:bodyPr>
          <a:lstStyle/>
          <a:p>
            <a:pPr algn="l"/>
            <a:r>
              <a:rPr sz="1800" b="1" i="0">
                <a:solidFill>
                  <a:srgbClr val="1B2433"/>
                </a:solidFill>
                <a:latin typeface="Calibri"/>
              </a:rPr>
              <a:t>T1 takes A</a:t>
            </a:r>
          </a:p>
        </p:txBody>
      </p:sp>
      <p:sp>
        <p:nvSpPr>
          <p:cNvPr id="8" name="TextBox 7"/>
          <p:cNvSpPr txBox="1"/>
          <p:nvPr/>
        </p:nvSpPr>
        <p:spPr>
          <a:xfrm>
            <a:off x="1280160" y="2029968"/>
            <a:ext cx="5120640" cy="320040"/>
          </a:xfrm>
          <a:prstGeom prst="rect">
            <a:avLst/>
          </a:prstGeom>
          <a:noFill/>
        </p:spPr>
        <p:txBody>
          <a:bodyPr wrap="square" lIns="0" rIns="0" tIns="0" bIns="0" anchor="t">
            <a:spAutoFit/>
          </a:bodyPr>
          <a:lstStyle/>
          <a:p>
            <a:pPr algn="l"/>
            <a:r>
              <a:rPr sz="1400" b="0" i="0">
                <a:solidFill>
                  <a:srgbClr val="5B6778"/>
                </a:solidFill>
                <a:latin typeface="Calibri"/>
              </a:rPr>
              <a:t>score low</a:t>
            </a:r>
          </a:p>
        </p:txBody>
      </p:sp>
      <p:sp>
        <p:nvSpPr>
          <p:cNvPr id="9" name="Oval 8"/>
          <p:cNvSpPr/>
          <p:nvPr/>
        </p:nvSpPr>
        <p:spPr>
          <a:xfrm>
            <a:off x="548640" y="2670048"/>
            <a:ext cx="548640" cy="548640"/>
          </a:xfrm>
          <a:prstGeom prst="ellipse">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280160" y="2651760"/>
            <a:ext cx="5120640" cy="365760"/>
          </a:xfrm>
          <a:prstGeom prst="rect">
            <a:avLst/>
          </a:prstGeom>
          <a:noFill/>
        </p:spPr>
        <p:txBody>
          <a:bodyPr wrap="square" lIns="0" rIns="0" tIns="0" bIns="0" anchor="t">
            <a:spAutoFit/>
          </a:bodyPr>
          <a:lstStyle/>
          <a:p>
            <a:pPr algn="l"/>
            <a:r>
              <a:rPr sz="1800" b="1" i="0">
                <a:solidFill>
                  <a:srgbClr val="1B2433"/>
                </a:solidFill>
                <a:latin typeface="Calibri"/>
              </a:rPr>
              <a:t>T2 takes B</a:t>
            </a:r>
          </a:p>
        </p:txBody>
      </p:sp>
      <p:sp>
        <p:nvSpPr>
          <p:cNvPr id="11" name="TextBox 10"/>
          <p:cNvSpPr txBox="1"/>
          <p:nvPr/>
        </p:nvSpPr>
        <p:spPr>
          <a:xfrm>
            <a:off x="1280160" y="3054096"/>
            <a:ext cx="5120640" cy="320040"/>
          </a:xfrm>
          <a:prstGeom prst="rect">
            <a:avLst/>
          </a:prstGeom>
          <a:noFill/>
        </p:spPr>
        <p:txBody>
          <a:bodyPr wrap="square" lIns="0" rIns="0" tIns="0" bIns="0" anchor="t">
            <a:spAutoFit/>
          </a:bodyPr>
          <a:lstStyle/>
          <a:p>
            <a:pPr algn="l"/>
            <a:r>
              <a:rPr sz="1400" b="0" i="0">
                <a:solidFill>
                  <a:srgbClr val="5B6778"/>
                </a:solidFill>
                <a:latin typeface="Calibri"/>
              </a:rPr>
              <a:t>both locks held</a:t>
            </a:r>
          </a:p>
        </p:txBody>
      </p:sp>
      <p:sp>
        <p:nvSpPr>
          <p:cNvPr id="12" name="Oval 11"/>
          <p:cNvSpPr/>
          <p:nvPr/>
        </p:nvSpPr>
        <p:spPr>
          <a:xfrm>
            <a:off x="548640" y="3694176"/>
            <a:ext cx="548640" cy="548640"/>
          </a:xfrm>
          <a:prstGeom prst="ellipse">
            <a:avLst/>
          </a:prstGeom>
          <a:solidFill>
            <a:srgbClr val="C78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3" name="TextBox 12"/>
          <p:cNvSpPr txBox="1"/>
          <p:nvPr/>
        </p:nvSpPr>
        <p:spPr>
          <a:xfrm>
            <a:off x="1280160" y="3675888"/>
            <a:ext cx="5120640" cy="365760"/>
          </a:xfrm>
          <a:prstGeom prst="rect">
            <a:avLst/>
          </a:prstGeom>
          <a:noFill/>
        </p:spPr>
        <p:txBody>
          <a:bodyPr wrap="square" lIns="0" rIns="0" tIns="0" bIns="0" anchor="t">
            <a:spAutoFit/>
          </a:bodyPr>
          <a:lstStyle/>
          <a:p>
            <a:pPr algn="l"/>
            <a:r>
              <a:rPr sz="1800" b="1" i="0">
                <a:solidFill>
                  <a:srgbClr val="1B2433"/>
                </a:solidFill>
                <a:latin typeface="Calibri"/>
              </a:rPr>
              <a:t>T1 requests B and must wait</a:t>
            </a:r>
          </a:p>
        </p:txBody>
      </p:sp>
      <p:sp>
        <p:nvSpPr>
          <p:cNvPr id="14" name="TextBox 13"/>
          <p:cNvSpPr txBox="1"/>
          <p:nvPr/>
        </p:nvSpPr>
        <p:spPr>
          <a:xfrm>
            <a:off x="1280160" y="4078224"/>
            <a:ext cx="5120640" cy="320040"/>
          </a:xfrm>
          <a:prstGeom prst="rect">
            <a:avLst/>
          </a:prstGeom>
          <a:noFill/>
        </p:spPr>
        <p:txBody>
          <a:bodyPr wrap="square" lIns="0" rIns="0" tIns="0" bIns="0" anchor="t">
            <a:spAutoFit/>
          </a:bodyPr>
          <a:lstStyle/>
          <a:p>
            <a:pPr algn="l"/>
            <a:r>
              <a:rPr sz="1400" b="0" i="0">
                <a:solidFill>
                  <a:srgbClr val="C78414"/>
                </a:solidFill>
                <a:latin typeface="Calibri"/>
              </a:rPr>
              <a:t>warning: score 72 (lock-order rule)</a:t>
            </a:r>
          </a:p>
        </p:txBody>
      </p:sp>
      <p:sp>
        <p:nvSpPr>
          <p:cNvPr id="15" name="Oval 14"/>
          <p:cNvSpPr/>
          <p:nvPr/>
        </p:nvSpPr>
        <p:spPr>
          <a:xfrm>
            <a:off x="548640" y="4718304"/>
            <a:ext cx="548640" cy="548640"/>
          </a:xfrm>
          <a:prstGeom prst="ellipse">
            <a:avLst/>
          </a:prstGeom>
          <a:solidFill>
            <a:srgbClr val="C83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6" name="TextBox 15"/>
          <p:cNvSpPr txBox="1"/>
          <p:nvPr/>
        </p:nvSpPr>
        <p:spPr>
          <a:xfrm>
            <a:off x="1280160" y="4700016"/>
            <a:ext cx="5120640" cy="365760"/>
          </a:xfrm>
          <a:prstGeom prst="rect">
            <a:avLst/>
          </a:prstGeom>
          <a:noFill/>
        </p:spPr>
        <p:txBody>
          <a:bodyPr wrap="square" lIns="0" rIns="0" tIns="0" bIns="0" anchor="t">
            <a:spAutoFit/>
          </a:bodyPr>
          <a:lstStyle/>
          <a:p>
            <a:pPr algn="l"/>
            <a:r>
              <a:rPr sz="1800" b="1" i="0">
                <a:solidFill>
                  <a:srgbClr val="1B2433"/>
                </a:solidFill>
                <a:latin typeface="Calibri"/>
              </a:rPr>
              <a:t>T2 requests A: cycle T1 → T2 → T1</a:t>
            </a:r>
          </a:p>
        </p:txBody>
      </p:sp>
      <p:sp>
        <p:nvSpPr>
          <p:cNvPr id="17" name="TextBox 16"/>
          <p:cNvSpPr txBox="1"/>
          <p:nvPr/>
        </p:nvSpPr>
        <p:spPr>
          <a:xfrm>
            <a:off x="1280160" y="5102352"/>
            <a:ext cx="5120640" cy="320040"/>
          </a:xfrm>
          <a:prstGeom prst="rect">
            <a:avLst/>
          </a:prstGeom>
          <a:noFill/>
        </p:spPr>
        <p:txBody>
          <a:bodyPr wrap="square" lIns="0" rIns="0" tIns="0" bIns="0" anchor="t">
            <a:spAutoFit/>
          </a:bodyPr>
          <a:lstStyle/>
          <a:p>
            <a:pPr algn="l"/>
            <a:r>
              <a:rPr sz="1400" b="0" i="0">
                <a:solidFill>
                  <a:srgbClr val="C83A50"/>
                </a:solidFill>
                <a:latin typeface="Calibri"/>
              </a:rPr>
              <a:t>deadlock confirmed: score 96</a:t>
            </a:r>
          </a:p>
        </p:txBody>
      </p:sp>
      <p:sp>
        <p:nvSpPr>
          <p:cNvPr id="18" name="Rounded Rectangle 17"/>
          <p:cNvSpPr/>
          <p:nvPr/>
        </p:nvSpPr>
        <p:spPr>
          <a:xfrm>
            <a:off x="6903720" y="1600200"/>
            <a:ext cx="4709160" cy="3611880"/>
          </a:xfrm>
          <a:prstGeom prst="roundRect">
            <a:avLst>
              <a:gd name="adj" fmla="val 8000"/>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1810512"/>
            <a:ext cx="4206240" cy="365760"/>
          </a:xfrm>
          <a:prstGeom prst="rect">
            <a:avLst/>
          </a:prstGeom>
          <a:noFill/>
        </p:spPr>
        <p:txBody>
          <a:bodyPr wrap="square" lIns="0" rIns="0" tIns="0" bIns="0" anchor="t">
            <a:spAutoFit/>
          </a:bodyPr>
          <a:lstStyle/>
          <a:p>
            <a:pPr algn="l"/>
            <a:r>
              <a:rPr sz="1700" b="1" i="0">
                <a:solidFill>
                  <a:srgbClr val="FFFFFF"/>
                </a:solidFill>
                <a:latin typeface="Cambria"/>
              </a:rPr>
              <a:t>Wait-For Graph at step 4</a:t>
            </a:r>
          </a:p>
        </p:txBody>
      </p:sp>
      <p:sp>
        <p:nvSpPr>
          <p:cNvPr id="20" name="Oval 19"/>
          <p:cNvSpPr/>
          <p:nvPr/>
        </p:nvSpPr>
        <p:spPr>
          <a:xfrm>
            <a:off x="7543800" y="2926080"/>
            <a:ext cx="868680" cy="868680"/>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B3C0"/>
                </a:solidFill>
                <a:latin typeface="Calibri"/>
              </a:rPr>
              <a:t>T1</a:t>
            </a:r>
          </a:p>
        </p:txBody>
      </p:sp>
      <p:sp>
        <p:nvSpPr>
          <p:cNvPr id="21" name="Oval 20"/>
          <p:cNvSpPr/>
          <p:nvPr/>
        </p:nvSpPr>
        <p:spPr>
          <a:xfrm>
            <a:off x="10104120" y="2926080"/>
            <a:ext cx="868680" cy="868680"/>
          </a:xfrm>
          <a:prstGeom prst="ellipse">
            <a:avLst/>
          </a:prstGeom>
          <a:solidFill>
            <a:srgbClr val="3A142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B3C0"/>
                </a:solidFill>
                <a:latin typeface="Calibri"/>
              </a:rPr>
              <a:t>T2</a:t>
            </a:r>
          </a:p>
        </p:txBody>
      </p:sp>
      <p:cxnSp>
        <p:nvCxnSpPr>
          <p:cNvPr id="22" name="Connector 21"/>
          <p:cNvCxnSpPr/>
          <p:nvPr/>
        </p:nvCxnSpPr>
        <p:spPr>
          <a:xfrm>
            <a:off x="8458200" y="3154680"/>
            <a:ext cx="1600200" cy="0"/>
          </a:xfrm>
          <a:prstGeom prst="line">
            <a:avLst/>
          </a:prstGeom>
          <a:ln w="34925">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8458200" y="3611880"/>
            <a:ext cx="1600200" cy="0"/>
          </a:xfrm>
          <a:prstGeom prst="line">
            <a:avLst/>
          </a:prstGeom>
          <a:ln w="34925">
            <a:solidFill>
              <a:srgbClr val="C83A5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83879" y="2761488"/>
            <a:ext cx="2194560" cy="320040"/>
          </a:xfrm>
          <a:prstGeom prst="rect">
            <a:avLst/>
          </a:prstGeom>
          <a:noFill/>
        </p:spPr>
        <p:txBody>
          <a:bodyPr wrap="square" lIns="0" rIns="0" tIns="0" bIns="0" anchor="t">
            <a:spAutoFit/>
          </a:bodyPr>
          <a:lstStyle/>
          <a:p>
            <a:pPr algn="ctr"/>
            <a:r>
              <a:rPr sz="1200" b="0" i="0">
                <a:solidFill>
                  <a:srgbClr val="B8C4D4"/>
                </a:solidFill>
                <a:latin typeface="Calibri"/>
              </a:rPr>
              <a:t>waits for B (held by T2)</a:t>
            </a:r>
          </a:p>
        </p:txBody>
      </p:sp>
      <p:sp>
        <p:nvSpPr>
          <p:cNvPr id="25" name="TextBox 24"/>
          <p:cNvSpPr txBox="1"/>
          <p:nvPr/>
        </p:nvSpPr>
        <p:spPr>
          <a:xfrm>
            <a:off x="8183879" y="3703320"/>
            <a:ext cx="2194560" cy="320040"/>
          </a:xfrm>
          <a:prstGeom prst="rect">
            <a:avLst/>
          </a:prstGeom>
          <a:noFill/>
        </p:spPr>
        <p:txBody>
          <a:bodyPr wrap="square" lIns="0" rIns="0" tIns="0" bIns="0" anchor="t">
            <a:spAutoFit/>
          </a:bodyPr>
          <a:lstStyle/>
          <a:p>
            <a:pPr algn="ctr"/>
            <a:r>
              <a:rPr sz="1200" b="0" i="0">
                <a:solidFill>
                  <a:srgbClr val="B8C4D4"/>
                </a:solidFill>
                <a:latin typeface="Calibri"/>
              </a:rPr>
              <a:t>waits for A (held by T1)</a:t>
            </a:r>
          </a:p>
        </p:txBody>
      </p:sp>
      <p:sp>
        <p:nvSpPr>
          <p:cNvPr id="26" name="TextBox 25"/>
          <p:cNvSpPr txBox="1"/>
          <p:nvPr/>
        </p:nvSpPr>
        <p:spPr>
          <a:xfrm>
            <a:off x="7178040" y="4434840"/>
            <a:ext cx="4206240" cy="594360"/>
          </a:xfrm>
          <a:prstGeom prst="rect">
            <a:avLst/>
          </a:prstGeom>
          <a:noFill/>
        </p:spPr>
        <p:txBody>
          <a:bodyPr wrap="square" lIns="0" rIns="0" tIns="0" bIns="0" anchor="t">
            <a:spAutoFit/>
          </a:bodyPr>
          <a:lstStyle/>
          <a:p>
            <a:pPr algn="l"/>
            <a:r>
              <a:rPr sz="1400" b="0" i="0">
                <a:solidFill>
                  <a:srgbClr val="B8C4D4"/>
                </a:solidFill>
                <a:latin typeface="Calibri"/>
              </a:rPr>
              <a:t>A cycle with single-instance locks is a confirmed deadlock.</a:t>
            </a:r>
          </a:p>
        </p:txBody>
      </p:sp>
      <p:sp>
        <p:nvSpPr>
          <p:cNvPr id="27" name="TextBox 26"/>
          <p:cNvSpPr txBox="1"/>
          <p:nvPr/>
        </p:nvSpPr>
        <p:spPr>
          <a:xfrm>
            <a:off x="548640" y="5669280"/>
            <a:ext cx="11064240" cy="411480"/>
          </a:xfrm>
          <a:prstGeom prst="rect">
            <a:avLst/>
          </a:prstGeom>
          <a:noFill/>
        </p:spPr>
        <p:txBody>
          <a:bodyPr wrap="square" lIns="0" rIns="0" tIns="0" bIns="0" anchor="t">
            <a:spAutoFit/>
          </a:bodyPr>
          <a:lstStyle/>
          <a:p>
            <a:pPr algn="l"/>
            <a:r>
              <a:rPr sz="1600" b="1" i="0">
                <a:solidFill>
                  <a:srgbClr val="1B2433"/>
                </a:solidFill>
                <a:latin typeface="Calibri"/>
              </a:rPr>
              <a:t>Saved set: </a:t>
            </a:r>
            <a:r>
              <a:rPr sz="1600" b="0" i="0">
                <a:solidFill>
                  <a:srgbClr val="1B2433"/>
                </a:solidFill>
                <a:latin typeface="Calibri"/>
              </a:rPr>
              <a:t>10/10 vulnerable runs deadlocked; the warning came 120.4 ms before the cycle on average.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SCORE FORECASTING</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The risk score is an early warning, not a proof</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5</a:t>
            </a:r>
          </a:p>
        </p:txBody>
      </p:sp>
      <p:sp>
        <p:nvSpPr>
          <p:cNvPr id="6" name="Rounded Rectangle 5"/>
          <p:cNvSpPr/>
          <p:nvPr/>
        </p:nvSpPr>
        <p:spPr>
          <a:xfrm>
            <a:off x="548640" y="1600200"/>
            <a:ext cx="6035040" cy="777240"/>
          </a:xfrm>
          <a:prstGeom prst="roundRect">
            <a:avLst>
              <a:gd name="adj" fmla="val 8000"/>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5669280" cy="777240"/>
          </a:xfrm>
          <a:prstGeom prst="rect">
            <a:avLst/>
          </a:prstGeom>
          <a:noFill/>
        </p:spPr>
        <p:txBody>
          <a:bodyPr wrap="square" lIns="0" rIns="0" tIns="0" bIns="0" anchor="ctr">
            <a:spAutoFit/>
          </a:bodyPr>
          <a:lstStyle/>
          <a:p>
            <a:pPr algn="l"/>
            <a:r>
              <a:rPr sz="1700" b="1" i="0">
                <a:solidFill>
                  <a:srgbClr val="FFFFFF"/>
                </a:solidFill>
                <a:latin typeface="Calibri"/>
              </a:rPr>
              <a:t>Score = w_b·Blocked + w_w·Wait + w_c·Contention + w_r·Conflict</a:t>
            </a:r>
          </a:p>
        </p:txBody>
      </p:sp>
      <p:sp>
        <p:nvSpPr>
          <p:cNvPr id="8" name="TextBox 7"/>
          <p:cNvSpPr txBox="1"/>
          <p:nvPr/>
        </p:nvSpPr>
        <p:spPr>
          <a:xfrm>
            <a:off x="548640" y="2697480"/>
            <a:ext cx="3931920" cy="320040"/>
          </a:xfrm>
          <a:prstGeom prst="rect">
            <a:avLst/>
          </a:prstGeom>
          <a:noFill/>
        </p:spPr>
        <p:txBody>
          <a:bodyPr wrap="square" lIns="0" rIns="0" tIns="0" bIns="0" anchor="t">
            <a:spAutoFit/>
          </a:bodyPr>
          <a:lstStyle/>
          <a:p>
            <a:pPr algn="l"/>
            <a:r>
              <a:rPr sz="1500" b="0" i="0">
                <a:solidFill>
                  <a:srgbClr val="1B2433"/>
                </a:solidFill>
                <a:latin typeface="Calibri"/>
              </a:rPr>
              <a:t>Blocked threads</a:t>
            </a:r>
          </a:p>
        </p:txBody>
      </p:sp>
      <p:sp>
        <p:nvSpPr>
          <p:cNvPr id="9" name="TextBox 8"/>
          <p:cNvSpPr txBox="1"/>
          <p:nvPr/>
        </p:nvSpPr>
        <p:spPr>
          <a:xfrm>
            <a:off x="5989320" y="2697480"/>
            <a:ext cx="594360" cy="320040"/>
          </a:xfrm>
          <a:prstGeom prst="rect">
            <a:avLst/>
          </a:prstGeom>
          <a:noFill/>
        </p:spPr>
        <p:txBody>
          <a:bodyPr wrap="square" lIns="0" rIns="0" tIns="0" bIns="0" anchor="t">
            <a:spAutoFit/>
          </a:bodyPr>
          <a:lstStyle/>
          <a:p>
            <a:pPr algn="r"/>
            <a:r>
              <a:rPr sz="1500" b="1" i="0">
                <a:solidFill>
                  <a:srgbClr val="1B2433"/>
                </a:solidFill>
                <a:latin typeface="Calibri"/>
              </a:rPr>
              <a:t>0.35</a:t>
            </a:r>
          </a:p>
        </p:txBody>
      </p:sp>
      <p:sp>
        <p:nvSpPr>
          <p:cNvPr id="10" name="Rounded Rectangle 9"/>
          <p:cNvSpPr/>
          <p:nvPr/>
        </p:nvSpPr>
        <p:spPr>
          <a:xfrm>
            <a:off x="548640" y="3063240"/>
            <a:ext cx="5486400" cy="146304"/>
          </a:xfrm>
          <a:prstGeom prst="roundRect">
            <a:avLst>
              <a:gd name="adj" fmla="val 50000"/>
            </a:avLst>
          </a:prstGeom>
          <a:solidFill>
            <a:srgbClr val="D5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3063240"/>
            <a:ext cx="5486399" cy="146304"/>
          </a:xfrm>
          <a:prstGeom prst="roundRect">
            <a:avLst>
              <a:gd name="adj" fmla="val 50000"/>
            </a:avLst>
          </a:prstGeom>
          <a:solidFill>
            <a:srgbClr val="2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410712"/>
            <a:ext cx="3931920" cy="320040"/>
          </a:xfrm>
          <a:prstGeom prst="rect">
            <a:avLst/>
          </a:prstGeom>
          <a:noFill/>
        </p:spPr>
        <p:txBody>
          <a:bodyPr wrap="square" lIns="0" rIns="0" tIns="0" bIns="0" anchor="t">
            <a:spAutoFit/>
          </a:bodyPr>
          <a:lstStyle/>
          <a:p>
            <a:pPr algn="l"/>
            <a:r>
              <a:rPr sz="1500" b="0" i="0">
                <a:solidFill>
                  <a:srgbClr val="1B2433"/>
                </a:solidFill>
                <a:latin typeface="Calibri"/>
              </a:rPr>
              <a:t>Longest wait (full at 800 ms)</a:t>
            </a:r>
          </a:p>
        </p:txBody>
      </p:sp>
      <p:sp>
        <p:nvSpPr>
          <p:cNvPr id="13" name="TextBox 12"/>
          <p:cNvSpPr txBox="1"/>
          <p:nvPr/>
        </p:nvSpPr>
        <p:spPr>
          <a:xfrm>
            <a:off x="5989320" y="3410712"/>
            <a:ext cx="594360" cy="320040"/>
          </a:xfrm>
          <a:prstGeom prst="rect">
            <a:avLst/>
          </a:prstGeom>
          <a:noFill/>
        </p:spPr>
        <p:txBody>
          <a:bodyPr wrap="square" lIns="0" rIns="0" tIns="0" bIns="0" anchor="t">
            <a:spAutoFit/>
          </a:bodyPr>
          <a:lstStyle/>
          <a:p>
            <a:pPr algn="r"/>
            <a:r>
              <a:rPr sz="1500" b="1" i="0">
                <a:solidFill>
                  <a:srgbClr val="1B2433"/>
                </a:solidFill>
                <a:latin typeface="Calibri"/>
              </a:rPr>
              <a:t>0.30</a:t>
            </a:r>
          </a:p>
        </p:txBody>
      </p:sp>
      <p:sp>
        <p:nvSpPr>
          <p:cNvPr id="14" name="Rounded Rectangle 13"/>
          <p:cNvSpPr/>
          <p:nvPr/>
        </p:nvSpPr>
        <p:spPr>
          <a:xfrm>
            <a:off x="548640" y="3776472"/>
            <a:ext cx="5486400" cy="146304"/>
          </a:xfrm>
          <a:prstGeom prst="roundRect">
            <a:avLst>
              <a:gd name="adj" fmla="val 50000"/>
            </a:avLst>
          </a:prstGeom>
          <a:solidFill>
            <a:srgbClr val="D5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8640" y="3776472"/>
            <a:ext cx="4702628" cy="146304"/>
          </a:xfrm>
          <a:prstGeom prst="roundRect">
            <a:avLst>
              <a:gd name="adj" fmla="val 50000"/>
            </a:avLst>
          </a:prstGeom>
          <a:solidFill>
            <a:srgbClr val="C95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123944"/>
            <a:ext cx="3931920" cy="320040"/>
          </a:xfrm>
          <a:prstGeom prst="rect">
            <a:avLst/>
          </a:prstGeom>
          <a:noFill/>
        </p:spPr>
        <p:txBody>
          <a:bodyPr wrap="square" lIns="0" rIns="0" tIns="0" bIns="0" anchor="t">
            <a:spAutoFit/>
          </a:bodyPr>
          <a:lstStyle/>
          <a:p>
            <a:pPr algn="l"/>
            <a:r>
              <a:rPr sz="1500" b="0" i="0">
                <a:solidFill>
                  <a:srgbClr val="1B2433"/>
                </a:solidFill>
                <a:latin typeface="Calibri"/>
              </a:rPr>
              <a:t>Contention events (full at 5)</a:t>
            </a:r>
          </a:p>
        </p:txBody>
      </p:sp>
      <p:sp>
        <p:nvSpPr>
          <p:cNvPr id="17" name="TextBox 16"/>
          <p:cNvSpPr txBox="1"/>
          <p:nvPr/>
        </p:nvSpPr>
        <p:spPr>
          <a:xfrm>
            <a:off x="5989320" y="4123944"/>
            <a:ext cx="594360" cy="320040"/>
          </a:xfrm>
          <a:prstGeom prst="rect">
            <a:avLst/>
          </a:prstGeom>
          <a:noFill/>
        </p:spPr>
        <p:txBody>
          <a:bodyPr wrap="square" lIns="0" rIns="0" tIns="0" bIns="0" anchor="t">
            <a:spAutoFit/>
          </a:bodyPr>
          <a:lstStyle/>
          <a:p>
            <a:pPr algn="r"/>
            <a:r>
              <a:rPr sz="1500" b="1" i="0">
                <a:solidFill>
                  <a:srgbClr val="1B2433"/>
                </a:solidFill>
                <a:latin typeface="Calibri"/>
              </a:rPr>
              <a:t>0.20</a:t>
            </a:r>
          </a:p>
        </p:txBody>
      </p:sp>
      <p:sp>
        <p:nvSpPr>
          <p:cNvPr id="18" name="Rounded Rectangle 17"/>
          <p:cNvSpPr/>
          <p:nvPr/>
        </p:nvSpPr>
        <p:spPr>
          <a:xfrm>
            <a:off x="548640" y="4489704"/>
            <a:ext cx="5486400" cy="146304"/>
          </a:xfrm>
          <a:prstGeom prst="roundRect">
            <a:avLst>
              <a:gd name="adj" fmla="val 50000"/>
            </a:avLst>
          </a:prstGeom>
          <a:solidFill>
            <a:srgbClr val="D5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4489704"/>
            <a:ext cx="3135085" cy="146304"/>
          </a:xfrm>
          <a:prstGeom prst="roundRect">
            <a:avLst>
              <a:gd name="adj" fmla="val 50000"/>
            </a:avLst>
          </a:prstGeom>
          <a:solidFill>
            <a:srgbClr val="178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37176"/>
            <a:ext cx="3931920" cy="320040"/>
          </a:xfrm>
          <a:prstGeom prst="rect">
            <a:avLst/>
          </a:prstGeom>
          <a:noFill/>
        </p:spPr>
        <p:txBody>
          <a:bodyPr wrap="square" lIns="0" rIns="0" tIns="0" bIns="0" anchor="t">
            <a:spAutoFit/>
          </a:bodyPr>
          <a:lstStyle/>
          <a:p>
            <a:pPr algn="l"/>
            <a:r>
              <a:rPr sz="1500" b="0" i="0">
                <a:solidFill>
                  <a:srgbClr val="1B2433"/>
                </a:solidFill>
                <a:latin typeface="Calibri"/>
              </a:rPr>
              <a:t>Lock conflict (A and B held apart)</a:t>
            </a:r>
          </a:p>
        </p:txBody>
      </p:sp>
      <p:sp>
        <p:nvSpPr>
          <p:cNvPr id="21" name="TextBox 20"/>
          <p:cNvSpPr txBox="1"/>
          <p:nvPr/>
        </p:nvSpPr>
        <p:spPr>
          <a:xfrm>
            <a:off x="5989320" y="4837176"/>
            <a:ext cx="594360" cy="320040"/>
          </a:xfrm>
          <a:prstGeom prst="rect">
            <a:avLst/>
          </a:prstGeom>
          <a:noFill/>
        </p:spPr>
        <p:txBody>
          <a:bodyPr wrap="square" lIns="0" rIns="0" tIns="0" bIns="0" anchor="t">
            <a:spAutoFit/>
          </a:bodyPr>
          <a:lstStyle/>
          <a:p>
            <a:pPr algn="r"/>
            <a:r>
              <a:rPr sz="1500" b="1" i="0">
                <a:solidFill>
                  <a:srgbClr val="1B2433"/>
                </a:solidFill>
                <a:latin typeface="Calibri"/>
              </a:rPr>
              <a:t>0.15</a:t>
            </a:r>
          </a:p>
        </p:txBody>
      </p:sp>
      <p:sp>
        <p:nvSpPr>
          <p:cNvPr id="22" name="Rounded Rectangle 21"/>
          <p:cNvSpPr/>
          <p:nvPr/>
        </p:nvSpPr>
        <p:spPr>
          <a:xfrm>
            <a:off x="548640" y="5202936"/>
            <a:ext cx="5486400" cy="146304"/>
          </a:xfrm>
          <a:prstGeom prst="roundRect">
            <a:avLst>
              <a:gd name="adj" fmla="val 50000"/>
            </a:avLst>
          </a:prstGeom>
          <a:solidFill>
            <a:srgbClr val="D5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48640" y="5202936"/>
            <a:ext cx="2351314" cy="146304"/>
          </a:xfrm>
          <a:prstGeom prst="roundRect">
            <a:avLst>
              <a:gd name="adj" fmla="val 50000"/>
            </a:avLst>
          </a:prstGeom>
          <a:solidFill>
            <a:srgbClr val="C78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995160" y="1600200"/>
            <a:ext cx="46177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0" y="1600200"/>
            <a:ext cx="1097280" cy="914400"/>
          </a:xfrm>
          <a:prstGeom prst="rect">
            <a:avLst/>
          </a:prstGeom>
          <a:noFill/>
        </p:spPr>
        <p:txBody>
          <a:bodyPr wrap="square" lIns="0" rIns="0" tIns="0" bIns="0" anchor="ctr">
            <a:spAutoFit/>
          </a:bodyPr>
          <a:lstStyle/>
          <a:p>
            <a:pPr algn="l"/>
            <a:r>
              <a:rPr sz="2600" b="1" i="0">
                <a:solidFill>
                  <a:srgbClr val="C78414"/>
                </a:solidFill>
                <a:latin typeface="Cambria"/>
              </a:rPr>
              <a:t>≥ 72</a:t>
            </a:r>
          </a:p>
        </p:txBody>
      </p:sp>
      <p:sp>
        <p:nvSpPr>
          <p:cNvPr id="26" name="TextBox 25"/>
          <p:cNvSpPr txBox="1"/>
          <p:nvPr/>
        </p:nvSpPr>
        <p:spPr>
          <a:xfrm>
            <a:off x="8366760" y="1600200"/>
            <a:ext cx="3108960" cy="914400"/>
          </a:xfrm>
          <a:prstGeom prst="rect">
            <a:avLst/>
          </a:prstGeom>
          <a:noFill/>
        </p:spPr>
        <p:txBody>
          <a:bodyPr wrap="square" lIns="0" rIns="0" tIns="0" bIns="0" anchor="ctr">
            <a:spAutoFit/>
          </a:bodyPr>
          <a:lstStyle/>
          <a:p>
            <a:pPr algn="l"/>
            <a:r>
              <a:rPr sz="1400" b="0" i="0">
                <a:solidFill>
                  <a:srgbClr val="1B2433"/>
                </a:solidFill>
                <a:latin typeface="Calibri"/>
              </a:rPr>
              <a:t>Different threads hold A and B and one waits (lock-order rule)</a:t>
            </a:r>
          </a:p>
        </p:txBody>
      </p:sp>
      <p:sp>
        <p:nvSpPr>
          <p:cNvPr id="27" name="Rounded Rectangle 26"/>
          <p:cNvSpPr/>
          <p:nvPr/>
        </p:nvSpPr>
        <p:spPr>
          <a:xfrm>
            <a:off x="6995160" y="2679191"/>
            <a:ext cx="46177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2679191"/>
            <a:ext cx="1097280" cy="914400"/>
          </a:xfrm>
          <a:prstGeom prst="rect">
            <a:avLst/>
          </a:prstGeom>
          <a:noFill/>
        </p:spPr>
        <p:txBody>
          <a:bodyPr wrap="square" lIns="0" rIns="0" tIns="0" bIns="0" anchor="ctr">
            <a:spAutoFit/>
          </a:bodyPr>
          <a:lstStyle/>
          <a:p>
            <a:pPr algn="l"/>
            <a:r>
              <a:rPr sz="2600" b="1" i="0">
                <a:solidFill>
                  <a:srgbClr val="C83A50"/>
                </a:solidFill>
                <a:latin typeface="Cambria"/>
              </a:rPr>
              <a:t>≥ 96</a:t>
            </a:r>
          </a:p>
        </p:txBody>
      </p:sp>
      <p:sp>
        <p:nvSpPr>
          <p:cNvPr id="29" name="TextBox 28"/>
          <p:cNvSpPr txBox="1"/>
          <p:nvPr/>
        </p:nvSpPr>
        <p:spPr>
          <a:xfrm>
            <a:off x="8366760" y="2679191"/>
            <a:ext cx="3108960" cy="914400"/>
          </a:xfrm>
          <a:prstGeom prst="rect">
            <a:avLst/>
          </a:prstGeom>
          <a:noFill/>
        </p:spPr>
        <p:txBody>
          <a:bodyPr wrap="square" lIns="0" rIns="0" tIns="0" bIns="0" anchor="ctr">
            <a:spAutoFit/>
          </a:bodyPr>
          <a:lstStyle/>
          <a:p>
            <a:pPr algn="l"/>
            <a:r>
              <a:rPr sz="1400" b="0" i="0">
                <a:solidFill>
                  <a:srgbClr val="1B2433"/>
                </a:solidFill>
                <a:latin typeface="Calibri"/>
              </a:rPr>
              <a:t>A cycle is confirmed in the Wait-For Graph</a:t>
            </a:r>
          </a:p>
        </p:txBody>
      </p:sp>
      <p:sp>
        <p:nvSpPr>
          <p:cNvPr id="30" name="Rounded Rectangle 29"/>
          <p:cNvSpPr/>
          <p:nvPr/>
        </p:nvSpPr>
        <p:spPr>
          <a:xfrm>
            <a:off x="6995160" y="3758183"/>
            <a:ext cx="46177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3758183"/>
            <a:ext cx="1097280" cy="914400"/>
          </a:xfrm>
          <a:prstGeom prst="rect">
            <a:avLst/>
          </a:prstGeom>
          <a:noFill/>
        </p:spPr>
        <p:txBody>
          <a:bodyPr wrap="square" lIns="0" rIns="0" tIns="0" bIns="0" anchor="ctr">
            <a:spAutoFit/>
          </a:bodyPr>
          <a:lstStyle/>
          <a:p>
            <a:pPr algn="l"/>
            <a:r>
              <a:rPr sz="2600" b="1" i="0">
                <a:solidFill>
                  <a:srgbClr val="2F6FC4"/>
                </a:solidFill>
                <a:latin typeface="Cambria"/>
              </a:rPr>
              <a:t>70</a:t>
            </a:r>
          </a:p>
        </p:txBody>
      </p:sp>
      <p:sp>
        <p:nvSpPr>
          <p:cNvPr id="32" name="TextBox 31"/>
          <p:cNvSpPr txBox="1"/>
          <p:nvPr/>
        </p:nvSpPr>
        <p:spPr>
          <a:xfrm>
            <a:off x="8366760" y="3758183"/>
            <a:ext cx="3108960" cy="914400"/>
          </a:xfrm>
          <a:prstGeom prst="rect">
            <a:avLst/>
          </a:prstGeom>
          <a:noFill/>
        </p:spPr>
        <p:txBody>
          <a:bodyPr wrap="square" lIns="0" rIns="0" tIns="0" bIns="0" anchor="ctr">
            <a:spAutoFit/>
          </a:bodyPr>
          <a:lstStyle/>
          <a:p>
            <a:pPr algn="l"/>
            <a:r>
              <a:rPr sz="1400" b="0" i="0">
                <a:solidFill>
                  <a:srgbClr val="1B2433"/>
                </a:solidFill>
                <a:latin typeface="Calibri"/>
              </a:rPr>
              <a:t>Default warning threshold; tunable</a:t>
            </a:r>
          </a:p>
        </p:txBody>
      </p:sp>
      <p:sp>
        <p:nvSpPr>
          <p:cNvPr id="33" name="Rounded Rectangle 32"/>
          <p:cNvSpPr/>
          <p:nvPr/>
        </p:nvSpPr>
        <p:spPr>
          <a:xfrm>
            <a:off x="6995160" y="4892040"/>
            <a:ext cx="4617720" cy="1188720"/>
          </a:xfrm>
          <a:prstGeom prst="roundRect">
            <a:avLst>
              <a:gd name="adj" fmla="val 8000"/>
            </a:avLst>
          </a:prstGeom>
          <a:solidFill>
            <a:srgbClr val="E8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0" y="5029200"/>
            <a:ext cx="4206240" cy="914400"/>
          </a:xfrm>
          <a:prstGeom prst="rect">
            <a:avLst/>
          </a:prstGeom>
          <a:noFill/>
        </p:spPr>
        <p:txBody>
          <a:bodyPr wrap="square" lIns="0" rIns="0" tIns="0" bIns="0" anchor="t">
            <a:spAutoFit/>
          </a:bodyPr>
          <a:lstStyle/>
          <a:p>
            <a:pPr algn="l"/>
            <a:r>
              <a:rPr sz="1400" b="1" i="0">
                <a:solidFill>
                  <a:srgbClr val="178F6E"/>
                </a:solidFill>
                <a:latin typeface="Calibri"/>
              </a:rPr>
              <a:t>Per visitor: </a:t>
            </a:r>
            <a:r>
              <a:rPr sz="1400" b="0" i="0">
                <a:solidFill>
                  <a:srgbClr val="1B2433"/>
                </a:solidFill>
                <a:latin typeface="Calibri"/>
              </a:rPr>
              <a:t>weights live in your browser and travel with your own requests; the server stores nothing.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PREVENTION</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One global lock order removes circular wait</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6</a:t>
            </a:r>
          </a:p>
        </p:txBody>
      </p:sp>
      <p:sp>
        <p:nvSpPr>
          <p:cNvPr id="6" name="Rounded Rectangle 5"/>
          <p:cNvSpPr/>
          <p:nvPr/>
        </p:nvSpPr>
        <p:spPr>
          <a:xfrm>
            <a:off x="548640" y="1600200"/>
            <a:ext cx="5349240" cy="41605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548640" cy="548640"/>
          </a:xfrm>
          <a:prstGeom prst="ellipse">
            <a:avLst/>
          </a:prstGeom>
          <a:solidFill>
            <a:srgbClr val="178F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8" name="TextBox 7"/>
          <p:cNvSpPr txBox="1"/>
          <p:nvPr/>
        </p:nvSpPr>
        <p:spPr>
          <a:xfrm>
            <a:off x="1600200" y="1892807"/>
            <a:ext cx="4114800" cy="411480"/>
          </a:xfrm>
          <a:prstGeom prst="rect">
            <a:avLst/>
          </a:prstGeom>
          <a:noFill/>
        </p:spPr>
        <p:txBody>
          <a:bodyPr wrap="square" lIns="0" rIns="0" tIns="0" bIns="0" anchor="t">
            <a:spAutoFit/>
          </a:bodyPr>
          <a:lstStyle/>
          <a:p>
            <a:pPr algn="l"/>
            <a:r>
              <a:rPr sz="2000" b="1" i="0">
                <a:solidFill>
                  <a:srgbClr val="1B2433"/>
                </a:solidFill>
                <a:latin typeface="Cambria"/>
              </a:rPr>
              <a:t>Two threads: learned order</a:t>
            </a:r>
          </a:p>
        </p:txBody>
      </p:sp>
      <p:sp>
        <p:nvSpPr>
          <p:cNvPr id="9" name="TextBox 8"/>
          <p:cNvSpPr txBox="1"/>
          <p:nvPr/>
        </p:nvSpPr>
        <p:spPr>
          <a:xfrm>
            <a:off x="914400" y="2606040"/>
            <a:ext cx="4663440" cy="2194560"/>
          </a:xfrm>
          <a:prstGeom prst="rect">
            <a:avLst/>
          </a:prstGeom>
          <a:noFill/>
        </p:spPr>
        <p:txBody>
          <a:bodyPr wrap="square" lIns="0" rIns="0" tIns="0" bIns="0">
            <a:spAutoFit/>
          </a:bodyPr>
          <a:lstStyle/>
          <a:p>
            <a:pPr marL="256032" indent="-256032">
              <a:buClr>
                <a:srgbClr val="178F6E"/>
              </a:buClr>
              <a:buFont typeface="Arial"/>
              <a:buChar char="•"/>
            </a:pPr>
            <a:r>
              <a:rPr sz="1600">
                <a:solidFill>
                  <a:srgbClr val="1B2433"/>
                </a:solidFill>
                <a:latin typeface="Calibri"/>
              </a:rPr>
              <a:t>A short probe lets T1 hold A while it waits for B, then stops before a cycle can form.</a:t>
            </a:r>
          </a:p>
          <a:p>
            <a:pPr marL="256032" indent="-256032">
              <a:spcBef>
                <a:spcPts val="1000"/>
              </a:spcBef>
              <a:buClr>
                <a:srgbClr val="178F6E"/>
              </a:buClr>
              <a:buFont typeface="Arial"/>
              <a:buChar char="•"/>
            </a:pPr>
            <a:r>
              <a:rPr sz="1600">
                <a:solidFill>
                  <a:srgbClr val="1B2433"/>
                </a:solidFill>
                <a:latin typeface="Calibri"/>
              </a:rPr>
              <a:t>The policy derives the order A → B from that observation.</a:t>
            </a:r>
          </a:p>
          <a:p>
            <a:pPr marL="256032" indent="-256032">
              <a:spcBef>
                <a:spcPts val="1000"/>
              </a:spcBef>
              <a:buClr>
                <a:srgbClr val="178F6E"/>
              </a:buClr>
              <a:buFont typeface="Arial"/>
              <a:buChar char="•"/>
            </a:pPr>
            <a:r>
              <a:rPr sz="1600">
                <a:solidFill>
                  <a:srgbClr val="1B2433"/>
                </a:solidFill>
                <a:latin typeface="Calibri"/>
              </a:rPr>
              <a:t>Both workers request A, then B, before taking any lock.</a:t>
            </a:r>
          </a:p>
        </p:txBody>
      </p:sp>
      <p:sp>
        <p:nvSpPr>
          <p:cNvPr id="10" name="Rounded Rectangle 9"/>
          <p:cNvSpPr/>
          <p:nvPr/>
        </p:nvSpPr>
        <p:spPr>
          <a:xfrm>
            <a:off x="868680" y="4892040"/>
            <a:ext cx="4709160" cy="640080"/>
          </a:xfrm>
          <a:prstGeom prst="roundRect">
            <a:avLst>
              <a:gd name="adj" fmla="val 8000"/>
            </a:avLst>
          </a:prstGeom>
          <a:solidFill>
            <a:srgbClr val="FFFFFF"/>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92040"/>
            <a:ext cx="4389120" cy="640080"/>
          </a:xfrm>
          <a:prstGeom prst="rect">
            <a:avLst/>
          </a:prstGeom>
          <a:noFill/>
        </p:spPr>
        <p:txBody>
          <a:bodyPr wrap="square" lIns="0" rIns="0" tIns="0" bIns="0" anchor="ctr">
            <a:spAutoFit/>
          </a:bodyPr>
          <a:lstStyle/>
          <a:p>
            <a:pPr algn="l"/>
            <a:r>
              <a:rPr sz="1600" b="1" i="0">
                <a:solidFill>
                  <a:srgbClr val="178F6E"/>
                </a:solidFill>
                <a:latin typeface="Calibri"/>
              </a:rPr>
              <a:t>10/10 saved · 10/10 new runs completed</a:t>
            </a:r>
          </a:p>
        </p:txBody>
      </p:sp>
      <p:sp>
        <p:nvSpPr>
          <p:cNvPr id="12" name="Rounded Rectangle 11"/>
          <p:cNvSpPr/>
          <p:nvPr/>
        </p:nvSpPr>
        <p:spPr>
          <a:xfrm>
            <a:off x="6263640" y="1600200"/>
            <a:ext cx="5349240" cy="41605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79" y="1828800"/>
            <a:ext cx="548640" cy="548640"/>
          </a:xfrm>
          <a:prstGeom prst="ellipse">
            <a:avLst/>
          </a:prstGeom>
          <a:solidFill>
            <a:srgbClr val="178F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315200" y="1892807"/>
            <a:ext cx="4114800" cy="411480"/>
          </a:xfrm>
          <a:prstGeom prst="rect">
            <a:avLst/>
          </a:prstGeom>
          <a:noFill/>
        </p:spPr>
        <p:txBody>
          <a:bodyPr wrap="square" lIns="0" rIns="0" tIns="0" bIns="0" anchor="t">
            <a:spAutoFit/>
          </a:bodyPr>
          <a:lstStyle/>
          <a:p>
            <a:pPr algn="l"/>
            <a:r>
              <a:rPr sz="2000" b="1" i="0">
                <a:solidFill>
                  <a:srgbClr val="1B2433"/>
                </a:solidFill>
                <a:latin typeface="Cambria"/>
              </a:rPr>
              <a:t>N-thread ring: ordered acquisition</a:t>
            </a:r>
          </a:p>
        </p:txBody>
      </p:sp>
      <p:sp>
        <p:nvSpPr>
          <p:cNvPr id="15" name="TextBox 14"/>
          <p:cNvSpPr txBox="1"/>
          <p:nvPr/>
        </p:nvSpPr>
        <p:spPr>
          <a:xfrm>
            <a:off x="6629400" y="2606040"/>
            <a:ext cx="4663440" cy="2194560"/>
          </a:xfrm>
          <a:prstGeom prst="rect">
            <a:avLst/>
          </a:prstGeom>
          <a:noFill/>
        </p:spPr>
        <p:txBody>
          <a:bodyPr wrap="square" lIns="0" rIns="0" tIns="0" bIns="0">
            <a:spAutoFit/>
          </a:bodyPr>
          <a:lstStyle/>
          <a:p>
            <a:pPr marL="256032" indent="-256032">
              <a:buClr>
                <a:srgbClr val="178F6E"/>
              </a:buClr>
              <a:buFont typeface="Arial"/>
              <a:buChar char="•"/>
            </a:pPr>
            <a:r>
              <a:rPr sz="1600">
                <a:solidFill>
                  <a:srgbClr val="1B2433"/>
                </a:solidFill>
                <a:latin typeface="Calibri"/>
              </a:rPr>
              <a:t>Thread Ti needs locks Ri and Ri+1 (last thread wraps to R1).</a:t>
            </a:r>
          </a:p>
          <a:p>
            <a:pPr marL="256032" indent="-256032">
              <a:spcBef>
                <a:spcPts val="1000"/>
              </a:spcBef>
              <a:buClr>
                <a:srgbClr val="178F6E"/>
              </a:buClr>
              <a:buFont typeface="Arial"/>
              <a:buChar char="•"/>
            </a:pPr>
            <a:r>
              <a:rPr sz="1600">
                <a:solidFill>
                  <a:srgbClr val="1B2433"/>
                </a:solidFill>
                <a:latin typeface="Calibri"/>
              </a:rPr>
              <a:t>Every thread takes its lower-numbered lock first.</a:t>
            </a:r>
          </a:p>
          <a:p>
            <a:pPr marL="256032" indent="-256032">
              <a:spcBef>
                <a:spcPts val="1000"/>
              </a:spcBef>
              <a:buClr>
                <a:srgbClr val="178F6E"/>
              </a:buClr>
              <a:buFont typeface="Arial"/>
              <a:buChar char="•"/>
            </a:pPr>
            <a:r>
              <a:rPr sz="1600">
                <a:solidFill>
                  <a:srgbClr val="1B2433"/>
                </a:solidFill>
                <a:latin typeface="Calibri"/>
              </a:rPr>
              <a:t>The last thread asks for R1 before RN, so the circle cannot close.</a:t>
            </a:r>
          </a:p>
        </p:txBody>
      </p:sp>
      <p:sp>
        <p:nvSpPr>
          <p:cNvPr id="16" name="Rounded Rectangle 15"/>
          <p:cNvSpPr/>
          <p:nvPr/>
        </p:nvSpPr>
        <p:spPr>
          <a:xfrm>
            <a:off x="6583679" y="4892040"/>
            <a:ext cx="4709160" cy="640080"/>
          </a:xfrm>
          <a:prstGeom prst="roundRect">
            <a:avLst>
              <a:gd name="adj" fmla="val 8000"/>
            </a:avLst>
          </a:prstGeom>
          <a:solidFill>
            <a:srgbClr val="FFFFFF"/>
          </a:solidFill>
          <a:ln w="1587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59" y="4892040"/>
            <a:ext cx="4389120" cy="640080"/>
          </a:xfrm>
          <a:prstGeom prst="rect">
            <a:avLst/>
          </a:prstGeom>
          <a:noFill/>
        </p:spPr>
        <p:txBody>
          <a:bodyPr wrap="square" lIns="0" rIns="0" tIns="0" bIns="0" anchor="ctr">
            <a:spAutoFit/>
          </a:bodyPr>
          <a:lstStyle/>
          <a:p>
            <a:pPr algn="l"/>
            <a:r>
              <a:rPr sz="1600" b="1" i="0">
                <a:solidFill>
                  <a:srgbClr val="178F6E"/>
                </a:solidFill>
                <a:latin typeface="Calibri"/>
              </a:rPr>
              <a:t>50/50 runs completed every thread</a:t>
            </a:r>
          </a:p>
        </p:txBody>
      </p:sp>
      <p:sp>
        <p:nvSpPr>
          <p:cNvPr id="18" name="TextBox 17"/>
          <p:cNvSpPr txBox="1"/>
          <p:nvPr/>
        </p:nvSpPr>
        <p:spPr>
          <a:xfrm>
            <a:off x="548640" y="5897880"/>
            <a:ext cx="11064240" cy="365760"/>
          </a:xfrm>
          <a:prstGeom prst="rect">
            <a:avLst/>
          </a:prstGeom>
          <a:noFill/>
        </p:spPr>
        <p:txBody>
          <a:bodyPr wrap="square" lIns="0" rIns="0" tIns="0" bIns="0" anchor="t">
            <a:spAutoFit/>
          </a:bodyPr>
          <a:lstStyle/>
          <a:p>
            <a:pPr algn="l"/>
            <a:r>
              <a:rPr sz="1500" b="0" i="1">
                <a:solidFill>
                  <a:srgbClr val="5B6778"/>
                </a:solidFill>
                <a:latin typeface="Calibri"/>
              </a:rPr>
              <a:t>If every thread acquires locks in the same order, no thread can hold a later lock while waiting for an earlier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CONFIGURABLE 2–32 THREADS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N-thread ring: detect the cycle, abort a victim, unwind</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7</a:t>
            </a:r>
          </a:p>
        </p:txBody>
      </p:sp>
      <p:pic>
        <p:nvPicPr>
          <p:cNvPr id="6" name="Picture 5" descr="replay-deadlock.png"/>
          <p:cNvPicPr>
            <a:picLocks noChangeAspect="1"/>
          </p:cNvPicPr>
          <p:nvPr/>
        </p:nvPicPr>
        <p:blipFill>
          <a:blip r:embed="rId3"/>
          <a:stretch>
            <a:fillRect/>
          </a:stretch>
        </p:blipFill>
        <p:spPr>
          <a:xfrm>
            <a:off x="548640" y="1508760"/>
            <a:ext cx="5560555" cy="4754880"/>
          </a:xfrm>
          <a:prstGeom prst="rect">
            <a:avLst/>
          </a:prstGeom>
        </p:spPr>
      </p:pic>
      <p:sp>
        <p:nvSpPr>
          <p:cNvPr id="7" name="Oval 6"/>
          <p:cNvSpPr/>
          <p:nvPr/>
        </p:nvSpPr>
        <p:spPr>
          <a:xfrm>
            <a:off x="6400800" y="1645920"/>
            <a:ext cx="548640" cy="548640"/>
          </a:xfrm>
          <a:prstGeom prst="ellipse">
            <a:avLst/>
          </a:prstGeom>
          <a:solidFill>
            <a:srgbClr val="C83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7132320" y="1627632"/>
            <a:ext cx="4480560" cy="1280160"/>
          </a:xfrm>
          <a:prstGeom prst="rect">
            <a:avLst/>
          </a:prstGeom>
          <a:noFill/>
        </p:spPr>
        <p:txBody>
          <a:bodyPr wrap="square" lIns="0" rIns="0" tIns="0" bIns="0" anchor="t">
            <a:spAutoFit/>
          </a:bodyPr>
          <a:lstStyle/>
          <a:p>
            <a:pPr algn="l"/>
            <a:r>
              <a:rPr sz="1700" b="1" i="0">
                <a:solidFill>
                  <a:srgbClr val="1B2433"/>
                </a:solidFill>
                <a:latin typeface="Calibri"/>
              </a:rPr>
              <a:t>Every thread holds its lock and waits for the next</a:t>
            </a:r>
          </a:p>
          <a:p>
            <a:pPr algn="l">
              <a:spcBef>
                <a:spcPts val="600"/>
              </a:spcBef>
            </a:pPr>
            <a:r>
              <a:rPr sz="1500" b="0" i="0">
                <a:solidFill>
                  <a:srgbClr val="C83A50"/>
                </a:solidFill>
                <a:latin typeface="Calibri"/>
              </a:rPr>
              <a:t>Cycle through all N threads in 50/50 runs</a:t>
            </a:r>
          </a:p>
        </p:txBody>
      </p:sp>
      <p:sp>
        <p:nvSpPr>
          <p:cNvPr id="9" name="Oval 8"/>
          <p:cNvSpPr/>
          <p:nvPr/>
        </p:nvSpPr>
        <p:spPr>
          <a:xfrm>
            <a:off x="6400800" y="3108960"/>
            <a:ext cx="548640" cy="548640"/>
          </a:xfrm>
          <a:prstGeom prst="ellipse">
            <a:avLst/>
          </a:prstGeom>
          <a:solidFill>
            <a:srgbClr val="C784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7132320" y="3090672"/>
            <a:ext cx="4480560" cy="1280160"/>
          </a:xfrm>
          <a:prstGeom prst="rect">
            <a:avLst/>
          </a:prstGeom>
          <a:noFill/>
        </p:spPr>
        <p:txBody>
          <a:bodyPr wrap="square" lIns="0" rIns="0" tIns="0" bIns="0" anchor="t">
            <a:spAutoFit/>
          </a:bodyPr>
          <a:lstStyle/>
          <a:p>
            <a:pPr algn="l"/>
            <a:r>
              <a:rPr sz="1700" b="1" i="0">
                <a:solidFill>
                  <a:srgbClr val="1B2433"/>
                </a:solidFill>
                <a:latin typeface="Calibri"/>
              </a:rPr>
              <a:t>Supervisor scans a consistent snapshot every 1 ms</a:t>
            </a:r>
          </a:p>
          <a:p>
            <a:pPr algn="l">
              <a:spcBef>
                <a:spcPts val="600"/>
              </a:spcBef>
            </a:pPr>
            <a:r>
              <a:rPr sz="1500" b="0" i="0">
                <a:solidFill>
                  <a:srgbClr val="C78414"/>
                </a:solidFill>
                <a:latin typeface="Calibri"/>
              </a:rPr>
              <a:t>Detected within 8.0 ms (2–32 threads)</a:t>
            </a:r>
          </a:p>
        </p:txBody>
      </p:sp>
      <p:sp>
        <p:nvSpPr>
          <p:cNvPr id="11" name="Oval 10"/>
          <p:cNvSpPr/>
          <p:nvPr/>
        </p:nvSpPr>
        <p:spPr>
          <a:xfrm>
            <a:off x="6400800" y="4572000"/>
            <a:ext cx="548640" cy="548640"/>
          </a:xfrm>
          <a:prstGeom prst="ellipse">
            <a:avLst/>
          </a:prstGeom>
          <a:solidFill>
            <a:srgbClr val="178F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7132320" y="4553712"/>
            <a:ext cx="4480560" cy="1280160"/>
          </a:xfrm>
          <a:prstGeom prst="rect">
            <a:avLst/>
          </a:prstGeom>
          <a:noFill/>
        </p:spPr>
        <p:txBody>
          <a:bodyPr wrap="square" lIns="0" rIns="0" tIns="0" bIns="0" anchor="t">
            <a:spAutoFit/>
          </a:bodyPr>
          <a:lstStyle/>
          <a:p>
            <a:pPr algn="l"/>
            <a:r>
              <a:rPr sz="1700" b="1" i="0">
                <a:solidFill>
                  <a:srgbClr val="1B2433"/>
                </a:solidFill>
                <a:latin typeface="Calibri"/>
              </a:rPr>
              <a:t>Abort the highest-numbered thread; others finish in turn</a:t>
            </a:r>
          </a:p>
          <a:p>
            <a:pPr algn="l">
              <a:spcBef>
                <a:spcPts val="600"/>
              </a:spcBef>
            </a:pPr>
            <a:r>
              <a:rPr sz="1500" b="0" i="0">
                <a:solidFill>
                  <a:srgbClr val="178F6E"/>
                </a:solidFill>
                <a:latin typeface="Calibri"/>
              </a:rPr>
              <a:t>50/50 runs: N−1 finished, 1 aborted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THE DASHBOARD</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Replay, Analysis and Compare make every run inspectable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8</a:t>
            </a:r>
          </a:p>
        </p:txBody>
      </p:sp>
      <p:sp>
        <p:nvSpPr>
          <p:cNvPr id="6" name="Oval 5"/>
          <p:cNvSpPr/>
          <p:nvPr/>
        </p:nvSpPr>
        <p:spPr>
          <a:xfrm>
            <a:off x="548640" y="1645920"/>
            <a:ext cx="548640" cy="548640"/>
          </a:xfrm>
          <a:prstGeom prst="ellipse">
            <a:avLst/>
          </a:prstGeom>
          <a:solidFill>
            <a:srgbClr val="C83A5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R</a:t>
            </a:r>
          </a:p>
        </p:txBody>
      </p:sp>
      <p:sp>
        <p:nvSpPr>
          <p:cNvPr id="7" name="TextBox 6"/>
          <p:cNvSpPr txBox="1"/>
          <p:nvPr/>
        </p:nvSpPr>
        <p:spPr>
          <a:xfrm>
            <a:off x="1280160" y="1627632"/>
            <a:ext cx="3108960" cy="365760"/>
          </a:xfrm>
          <a:prstGeom prst="rect">
            <a:avLst/>
          </a:prstGeom>
          <a:noFill/>
        </p:spPr>
        <p:txBody>
          <a:bodyPr wrap="square" lIns="0" rIns="0" tIns="0" bIns="0" anchor="t">
            <a:spAutoFit/>
          </a:bodyPr>
          <a:lstStyle/>
          <a:p>
            <a:pPr algn="l"/>
            <a:r>
              <a:rPr sz="1900" b="1" i="0">
                <a:solidFill>
                  <a:srgbClr val="1B2433"/>
                </a:solidFill>
                <a:latin typeface="Cambria"/>
              </a:rPr>
              <a:t>Replay</a:t>
            </a:r>
          </a:p>
        </p:txBody>
      </p:sp>
      <p:sp>
        <p:nvSpPr>
          <p:cNvPr id="8" name="TextBox 7"/>
          <p:cNvSpPr txBox="1"/>
          <p:nvPr/>
        </p:nvSpPr>
        <p:spPr>
          <a:xfrm>
            <a:off x="1280160" y="2057400"/>
            <a:ext cx="3291840" cy="914400"/>
          </a:xfrm>
          <a:prstGeom prst="rect">
            <a:avLst/>
          </a:prstGeom>
          <a:noFill/>
        </p:spPr>
        <p:txBody>
          <a:bodyPr wrap="square" lIns="0" rIns="0" tIns="0" bIns="0" anchor="t">
            <a:spAutoFit/>
          </a:bodyPr>
          <a:lstStyle/>
          <a:p>
            <a:pPr algn="l"/>
            <a:r>
              <a:rPr sz="1400" b="0" i="0">
                <a:solidFill>
                  <a:srgbClr val="1B2433"/>
                </a:solidFill>
                <a:latin typeface="Calibri"/>
              </a:rPr>
              <a:t>Lock tiles move between threads; the deadlock flashes; recovery unwinds step by step.</a:t>
            </a:r>
          </a:p>
        </p:txBody>
      </p:sp>
      <p:sp>
        <p:nvSpPr>
          <p:cNvPr id="9" name="Oval 8"/>
          <p:cNvSpPr/>
          <p:nvPr/>
        </p:nvSpPr>
        <p:spPr>
          <a:xfrm>
            <a:off x="548640" y="3108960"/>
            <a:ext cx="548640" cy="548640"/>
          </a:xfrm>
          <a:prstGeom prst="ellipse">
            <a:avLst/>
          </a:prstGeom>
          <a:solidFill>
            <a:srgbClr val="2F6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a:t>
            </a:r>
          </a:p>
        </p:txBody>
      </p:sp>
      <p:sp>
        <p:nvSpPr>
          <p:cNvPr id="10" name="TextBox 9"/>
          <p:cNvSpPr txBox="1"/>
          <p:nvPr/>
        </p:nvSpPr>
        <p:spPr>
          <a:xfrm>
            <a:off x="1280160" y="3090672"/>
            <a:ext cx="3108960" cy="365760"/>
          </a:xfrm>
          <a:prstGeom prst="rect">
            <a:avLst/>
          </a:prstGeom>
          <a:noFill/>
        </p:spPr>
        <p:txBody>
          <a:bodyPr wrap="square" lIns="0" rIns="0" tIns="0" bIns="0" anchor="t">
            <a:spAutoFit/>
          </a:bodyPr>
          <a:lstStyle/>
          <a:p>
            <a:pPr algn="l"/>
            <a:r>
              <a:rPr sz="1900" b="1" i="0">
                <a:solidFill>
                  <a:srgbClr val="1B2433"/>
                </a:solidFill>
                <a:latin typeface="Cambria"/>
              </a:rPr>
              <a:t>Analysis</a:t>
            </a:r>
          </a:p>
        </p:txBody>
      </p:sp>
      <p:sp>
        <p:nvSpPr>
          <p:cNvPr id="11" name="TextBox 10"/>
          <p:cNvSpPr txBox="1"/>
          <p:nvPr/>
        </p:nvSpPr>
        <p:spPr>
          <a:xfrm>
            <a:off x="1280160" y="3520440"/>
            <a:ext cx="3291840" cy="914400"/>
          </a:xfrm>
          <a:prstGeom prst="rect">
            <a:avLst/>
          </a:prstGeom>
          <a:noFill/>
        </p:spPr>
        <p:txBody>
          <a:bodyPr wrap="square" lIns="0" rIns="0" tIns="0" bIns="0" anchor="t">
            <a:spAutoFit/>
          </a:bodyPr>
          <a:lstStyle/>
          <a:p>
            <a:pPr algn="l"/>
            <a:r>
              <a:rPr sz="1400" b="0" i="0">
                <a:solidFill>
                  <a:srgbClr val="1B2433"/>
                </a:solidFill>
                <a:latin typeface="Calibri"/>
              </a:rPr>
              <a:t>Peak score, first warning, lead time, per-event factor breakdown, live weight tuning.</a:t>
            </a:r>
          </a:p>
        </p:txBody>
      </p:sp>
      <p:sp>
        <p:nvSpPr>
          <p:cNvPr id="12" name="Oval 11"/>
          <p:cNvSpPr/>
          <p:nvPr/>
        </p:nvSpPr>
        <p:spPr>
          <a:xfrm>
            <a:off x="548640" y="4572000"/>
            <a:ext cx="548640" cy="548640"/>
          </a:xfrm>
          <a:prstGeom prst="ellipse">
            <a:avLst/>
          </a:prstGeom>
          <a:solidFill>
            <a:srgbClr val="178F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C</a:t>
            </a:r>
          </a:p>
        </p:txBody>
      </p:sp>
      <p:sp>
        <p:nvSpPr>
          <p:cNvPr id="13" name="TextBox 12"/>
          <p:cNvSpPr txBox="1"/>
          <p:nvPr/>
        </p:nvSpPr>
        <p:spPr>
          <a:xfrm>
            <a:off x="1280160" y="4553712"/>
            <a:ext cx="3108960" cy="365760"/>
          </a:xfrm>
          <a:prstGeom prst="rect">
            <a:avLst/>
          </a:prstGeom>
          <a:noFill/>
        </p:spPr>
        <p:txBody>
          <a:bodyPr wrap="square" lIns="0" rIns="0" tIns="0" bIns="0" anchor="t">
            <a:spAutoFit/>
          </a:bodyPr>
          <a:lstStyle/>
          <a:p>
            <a:pPr algn="l"/>
            <a:r>
              <a:rPr sz="1900" b="1" i="0">
                <a:solidFill>
                  <a:srgbClr val="1B2433"/>
                </a:solidFill>
                <a:latin typeface="Cambria"/>
              </a:rPr>
              <a:t>Compare</a:t>
            </a:r>
          </a:p>
        </p:txBody>
      </p:sp>
      <p:sp>
        <p:nvSpPr>
          <p:cNvPr id="14" name="TextBox 13"/>
          <p:cNvSpPr txBox="1"/>
          <p:nvPr/>
        </p:nvSpPr>
        <p:spPr>
          <a:xfrm>
            <a:off x="1280160" y="4983480"/>
            <a:ext cx="3291840" cy="914400"/>
          </a:xfrm>
          <a:prstGeom prst="rect">
            <a:avLst/>
          </a:prstGeom>
          <a:noFill/>
        </p:spPr>
        <p:txBody>
          <a:bodyPr wrap="square" lIns="0" rIns="0" tIns="0" bIns="0" anchor="t">
            <a:spAutoFit/>
          </a:bodyPr>
          <a:lstStyle/>
          <a:p>
            <a:pPr algn="l"/>
            <a:r>
              <a:rPr sz="1400" b="0" i="0">
                <a:solidFill>
                  <a:srgbClr val="1B2433"/>
                </a:solidFill>
                <a:latin typeface="Calibri"/>
              </a:rPr>
              <a:t>Both modes side by side, repeated trials, 2–32 thread scaling, CSV export.</a:t>
            </a:r>
          </a:p>
        </p:txBody>
      </p:sp>
      <p:pic>
        <p:nvPicPr>
          <p:cNvPr id="15" name="Picture 14" descr="analysis-chart.png"/>
          <p:cNvPicPr>
            <a:picLocks noChangeAspect="1"/>
          </p:cNvPicPr>
          <p:nvPr/>
        </p:nvPicPr>
        <p:blipFill>
          <a:blip r:embed="rId3"/>
          <a:stretch>
            <a:fillRect/>
          </a:stretch>
        </p:blipFill>
        <p:spPr>
          <a:xfrm>
            <a:off x="4892040" y="1600200"/>
            <a:ext cx="6720840" cy="2755758"/>
          </a:xfrm>
          <a:prstGeom prst="rect">
            <a:avLst/>
          </a:prstGeom>
        </p:spPr>
      </p:pic>
      <p:pic>
        <p:nvPicPr>
          <p:cNvPr id="16" name="Picture 15" descr="analysis-findings.png"/>
          <p:cNvPicPr>
            <a:picLocks noChangeAspect="1"/>
          </p:cNvPicPr>
          <p:nvPr/>
        </p:nvPicPr>
        <p:blipFill>
          <a:blip r:embed="rId4"/>
          <a:stretch>
            <a:fillRect/>
          </a:stretch>
        </p:blipFill>
        <p:spPr>
          <a:xfrm>
            <a:off x="4892040" y="4493118"/>
            <a:ext cx="6720840" cy="599311"/>
          </a:xfrm>
          <a:prstGeom prst="rect">
            <a:avLst/>
          </a:prstGeom>
        </p:spPr>
      </p:pic>
      <p:sp>
        <p:nvSpPr>
          <p:cNvPr id="17" name="TextBox 16"/>
          <p:cNvSpPr txBox="1"/>
          <p:nvPr/>
        </p:nvSpPr>
        <p:spPr>
          <a:xfrm>
            <a:off x="4892040" y="5202157"/>
            <a:ext cx="6720840" cy="365760"/>
          </a:xfrm>
          <a:prstGeom prst="rect">
            <a:avLst/>
          </a:prstGeom>
          <a:noFill/>
        </p:spPr>
        <p:txBody>
          <a:bodyPr wrap="square" lIns="0" rIns="0" tIns="0" bIns="0" anchor="t">
            <a:spAutoFit/>
          </a:bodyPr>
          <a:lstStyle/>
          <a:p>
            <a:pPr algn="l"/>
            <a:r>
              <a:rPr sz="1200" b="0" i="1">
                <a:solidFill>
                  <a:srgbClr val="5B6778"/>
                </a:solidFill>
                <a:latin typeface="Calibri"/>
              </a:rPr>
              <a:t>Live two-thread trial in the Analysis view: key findings and the risk chart (warning 121 ms before the deadlock).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METHOD</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Evaluation protocol: repeated, bounded, fully recorded</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9</a:t>
            </a:r>
          </a:p>
        </p:txBody>
      </p:sp>
      <p:sp>
        <p:nvSpPr>
          <p:cNvPr id="6" name="Rounded Rectangle 5"/>
          <p:cNvSpPr/>
          <p:nvPr/>
        </p:nvSpPr>
        <p:spPr>
          <a:xfrm>
            <a:off x="548640" y="1600200"/>
            <a:ext cx="5349240" cy="32461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10512"/>
            <a:ext cx="4754880" cy="411480"/>
          </a:xfrm>
          <a:prstGeom prst="rect">
            <a:avLst/>
          </a:prstGeom>
          <a:noFill/>
        </p:spPr>
        <p:txBody>
          <a:bodyPr wrap="square" lIns="0" rIns="0" tIns="0" bIns="0" anchor="t">
            <a:spAutoFit/>
          </a:bodyPr>
          <a:lstStyle/>
          <a:p>
            <a:pPr algn="l"/>
            <a:r>
              <a:rPr sz="2000" b="1" i="0">
                <a:solidFill>
                  <a:srgbClr val="1B2433"/>
                </a:solidFill>
                <a:latin typeface="Cambria"/>
              </a:rPr>
              <a:t>Two-thread experiment</a:t>
            </a:r>
          </a:p>
        </p:txBody>
      </p:sp>
      <p:sp>
        <p:nvSpPr>
          <p:cNvPr id="8" name="TextBox 7"/>
          <p:cNvSpPr txBox="1"/>
          <p:nvPr/>
        </p:nvSpPr>
        <p:spPr>
          <a:xfrm>
            <a:off x="868680" y="2377440"/>
            <a:ext cx="4754880" cy="2377440"/>
          </a:xfrm>
          <a:prstGeom prst="rect">
            <a:avLst/>
          </a:prstGeom>
          <a:noFill/>
        </p:spPr>
        <p:txBody>
          <a:bodyPr wrap="square" lIns="0" rIns="0" tIns="0" bIns="0">
            <a:spAutoFit/>
          </a:bodyPr>
          <a:lstStyle/>
          <a:p>
            <a:pPr marL="256032" indent="-256032">
              <a:buClr>
                <a:srgbClr val="2F6FC4"/>
              </a:buClr>
              <a:buFont typeface="Arial"/>
              <a:buChar char="•"/>
            </a:pPr>
            <a:r>
              <a:rPr sz="1600">
                <a:solidFill>
                  <a:srgbClr val="1B2433"/>
                </a:solidFill>
                <a:latin typeface="Calibri"/>
              </a:rPr>
              <a:t>10 trials per mode, 3 s cap per trial</a:t>
            </a:r>
          </a:p>
          <a:p>
            <a:pPr marL="256032" indent="-256032">
              <a:spcBef>
                <a:spcPts val="1000"/>
              </a:spcBef>
              <a:buClr>
                <a:srgbClr val="2F6FC4"/>
              </a:buClr>
              <a:buFont typeface="Arial"/>
              <a:buChar char="•"/>
            </a:pPr>
            <a:r>
              <a:rPr sz="1600">
                <a:solidFill>
                  <a:srgbClr val="1B2433"/>
                </a:solidFill>
                <a:latin typeface="Calibri"/>
              </a:rPr>
              <a:t>120 ms observation window before the conflicting request</a:t>
            </a:r>
          </a:p>
          <a:p>
            <a:pPr marL="256032" indent="-256032">
              <a:spcBef>
                <a:spcPts val="1000"/>
              </a:spcBef>
              <a:buClr>
                <a:srgbClr val="2F6FC4"/>
              </a:buClr>
              <a:buFont typeface="Arial"/>
              <a:buChar char="•"/>
            </a:pPr>
            <a:r>
              <a:rPr sz="1600">
                <a:solidFill>
                  <a:srgbClr val="1B2433"/>
                </a:solidFill>
                <a:latin typeface="Calibri"/>
              </a:rPr>
              <a:t>Deadlock rate, completion rate, warning lead, detection latency</a:t>
            </a:r>
          </a:p>
          <a:p>
            <a:pPr marL="256032" indent="-256032">
              <a:spcBef>
                <a:spcPts val="1000"/>
              </a:spcBef>
              <a:buClr>
                <a:srgbClr val="2F6FC4"/>
              </a:buClr>
              <a:buFont typeface="Arial"/>
              <a:buChar char="•"/>
            </a:pPr>
            <a:r>
              <a:rPr sz="1600">
                <a:solidFill>
                  <a:srgbClr val="1B2433"/>
                </a:solidFill>
                <a:latin typeface="Calibri"/>
              </a:rPr>
              <a:t>Failed runs counted as inconclusive</a:t>
            </a:r>
          </a:p>
        </p:txBody>
      </p:sp>
      <p:sp>
        <p:nvSpPr>
          <p:cNvPr id="9" name="Rounded Rectangle 8"/>
          <p:cNvSpPr/>
          <p:nvPr/>
        </p:nvSpPr>
        <p:spPr>
          <a:xfrm>
            <a:off x="6263640" y="1600200"/>
            <a:ext cx="5349240" cy="324612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79" y="1810512"/>
            <a:ext cx="4754880" cy="411480"/>
          </a:xfrm>
          <a:prstGeom prst="rect">
            <a:avLst/>
          </a:prstGeom>
          <a:noFill/>
        </p:spPr>
        <p:txBody>
          <a:bodyPr wrap="square" lIns="0" rIns="0" tIns="0" bIns="0" anchor="t">
            <a:spAutoFit/>
          </a:bodyPr>
          <a:lstStyle/>
          <a:p>
            <a:pPr algn="l"/>
            <a:r>
              <a:rPr sz="2000" b="1" i="0">
                <a:solidFill>
                  <a:srgbClr val="1B2433"/>
                </a:solidFill>
                <a:latin typeface="Cambria"/>
              </a:rPr>
              <a:t>N-thread scaling</a:t>
            </a:r>
          </a:p>
        </p:txBody>
      </p:sp>
      <p:sp>
        <p:nvSpPr>
          <p:cNvPr id="11" name="TextBox 10"/>
          <p:cNvSpPr txBox="1"/>
          <p:nvPr/>
        </p:nvSpPr>
        <p:spPr>
          <a:xfrm>
            <a:off x="6583679" y="2377440"/>
            <a:ext cx="4754880" cy="2377440"/>
          </a:xfrm>
          <a:prstGeom prst="rect">
            <a:avLst/>
          </a:prstGeom>
          <a:noFill/>
        </p:spPr>
        <p:txBody>
          <a:bodyPr wrap="square" lIns="0" rIns="0" tIns="0" bIns="0">
            <a:spAutoFit/>
          </a:bodyPr>
          <a:lstStyle/>
          <a:p>
            <a:pPr marL="256032" indent="-256032">
              <a:buClr>
                <a:srgbClr val="2F6FC4"/>
              </a:buClr>
              <a:buFont typeface="Arial"/>
              <a:buChar char="•"/>
            </a:pPr>
            <a:r>
              <a:rPr sz="1600">
                <a:solidFill>
                  <a:srgbClr val="1B2433"/>
                </a:solidFill>
                <a:latin typeface="Calibri"/>
              </a:rPr>
              <a:t>Sizes 2, 4, 8, 16, 32; 10 trials per size and mode</a:t>
            </a:r>
          </a:p>
          <a:p>
            <a:pPr marL="256032" indent="-256032">
              <a:spcBef>
                <a:spcPts val="1000"/>
              </a:spcBef>
              <a:buClr>
                <a:srgbClr val="2F6FC4"/>
              </a:buClr>
              <a:buFont typeface="Arial"/>
              <a:buChar char="•"/>
            </a:pPr>
            <a:r>
              <a:rPr sz="1600">
                <a:solidFill>
                  <a:srgbClr val="1B2433"/>
                </a:solidFill>
                <a:latin typeface="Calibri"/>
              </a:rPr>
              <a:t>Modes alternate so drift affects both equally</a:t>
            </a:r>
          </a:p>
          <a:p>
            <a:pPr marL="256032" indent="-256032">
              <a:spcBef>
                <a:spcPts val="1000"/>
              </a:spcBef>
              <a:buClr>
                <a:srgbClr val="2F6FC4"/>
              </a:buClr>
              <a:buFont typeface="Arial"/>
              <a:buChar char="•"/>
            </a:pPr>
            <a:r>
              <a:rPr sz="1600">
                <a:solidFill>
                  <a:srgbClr val="1B2433"/>
                </a:solidFill>
                <a:latin typeface="Calibri"/>
              </a:rPr>
              <a:t>Vulnerable time = detection + victim abort + others finishing</a:t>
            </a:r>
          </a:p>
          <a:p>
            <a:pPr marL="256032" indent="-256032">
              <a:spcBef>
                <a:spcPts val="1000"/>
              </a:spcBef>
              <a:buClr>
                <a:srgbClr val="2F6FC4"/>
              </a:buClr>
              <a:buFont typeface="Arial"/>
              <a:buChar char="•"/>
            </a:pPr>
            <a:r>
              <a:rPr sz="1600">
                <a:solidFill>
                  <a:srgbClr val="1B2433"/>
                </a:solidFill>
                <a:latin typeface="Calibri"/>
              </a:rPr>
              <a:t>Protected time = every thread completed</a:t>
            </a:r>
          </a:p>
        </p:txBody>
      </p:sp>
      <p:sp>
        <p:nvSpPr>
          <p:cNvPr id="12" name="Rounded Rectangle 11"/>
          <p:cNvSpPr/>
          <p:nvPr/>
        </p:nvSpPr>
        <p:spPr>
          <a:xfrm>
            <a:off x="548640" y="5120640"/>
            <a:ext cx="11064240" cy="960120"/>
          </a:xfrm>
          <a:prstGeom prst="roundRect">
            <a:avLst>
              <a:gd name="adj" fmla="val 8000"/>
            </a:avLst>
          </a:prstGeom>
          <a:solidFill>
            <a:srgbClr val="0E14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120640"/>
            <a:ext cx="10515600" cy="960120"/>
          </a:xfrm>
          <a:prstGeom prst="rect">
            <a:avLst/>
          </a:prstGeom>
          <a:noFill/>
        </p:spPr>
        <p:txBody>
          <a:bodyPr wrap="square" lIns="0" rIns="0" tIns="0" bIns="0" anchor="ctr">
            <a:spAutoFit/>
          </a:bodyPr>
          <a:lstStyle/>
          <a:p>
            <a:pPr algn="l"/>
            <a:r>
              <a:rPr sz="1500" b="1" i="0">
                <a:solidFill>
                  <a:srgbClr val="FFFFFF"/>
                </a:solidFill>
                <a:latin typeface="Calibri"/>
              </a:rPr>
              <a:t>Saved set </a:t>
            </a:r>
            <a:r>
              <a:rPr sz="1500" b="0" i="0">
                <a:solidFill>
                  <a:srgbClr val="B8C4D4"/>
                </a:solidFill>
                <a:latin typeface="Calibri"/>
              </a:rPr>
              <a:t>collected 15 Oct 2026 (docs/results.json)   ·   </a:t>
            </a:r>
            <a:r>
              <a:rPr sz="1500" b="1" i="0">
                <a:solidFill>
                  <a:srgbClr val="FFFFFF"/>
                </a:solidFill>
                <a:latin typeface="Calibri"/>
              </a:rPr>
              <a:t>New sets </a:t>
            </a:r>
            <a:r>
              <a:rPr sz="1500" b="0" i="0">
                <a:solidFill>
                  <a:srgbClr val="B8C4D4"/>
                </a:solidFill>
                <a:latin typeface="Calibri"/>
              </a:rPr>
              <a:t>collected 26 Oct 2026 (two-thread re-run and scaling) in separate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RESULTS</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Two-thread results: saved and new sets agree</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10</a:t>
            </a:r>
          </a:p>
        </p:txBody>
      </p:sp>
      <p:graphicFrame>
        <p:nvGraphicFramePr>
          <p:cNvPr id="6" name="Table 5"/>
          <p:cNvGraphicFramePr>
            <a:graphicFrameLocks noGrp="1"/>
          </p:cNvGraphicFramePr>
          <p:nvPr/>
        </p:nvGraphicFramePr>
        <p:xfrm>
          <a:off x="548640" y="1554480"/>
          <a:ext cx="11064240" cy="3867912"/>
        </p:xfrm>
        <a:graphic>
          <a:graphicData uri="http://schemas.openxmlformats.org/drawingml/2006/table">
            <a:tbl>
              <a:tblPr firstRow="1" bandRow="1">
                <a:tableStyleId>{5C22544A-7EE6-4342-B048-85BDC9FD1C3A}</a:tableStyleId>
              </a:tblPr>
              <a:tblGrid>
                <a:gridCol w="3017520"/>
                <a:gridCol w="2011680"/>
                <a:gridCol w="2011680"/>
                <a:gridCol w="2011680"/>
                <a:gridCol w="2011680"/>
              </a:tblGrid>
              <a:tr h="429768">
                <a:tc>
                  <a:txBody>
                    <a:bodyPr wrap="square"/>
                    <a:lstStyle/>
                    <a:p>
                      <a:pPr algn="l"/>
                      <a:r>
                        <a:rPr sz="1400" b="1">
                          <a:solidFill>
                            <a:srgbClr val="FFFFFF"/>
                          </a:solidFill>
                          <a:latin typeface="Calibri"/>
                        </a:rPr>
                        <a:t>Metric</a:t>
                      </a:r>
                    </a:p>
                  </a:txBody>
                  <a:tcPr marL="73152" marR="73152" marT="27432" marB="27432" anchor="ctr">
                    <a:solidFill>
                      <a:srgbClr val="0E1420"/>
                    </a:solidFill>
                  </a:tcPr>
                </a:tc>
                <a:tc>
                  <a:txBody>
                    <a:bodyPr wrap="square"/>
                    <a:lstStyle/>
                    <a:p>
                      <a:pPr algn="ctr"/>
                      <a:r>
                        <a:rPr sz="1400" b="1">
                          <a:solidFill>
                            <a:srgbClr val="FFFFFF"/>
                          </a:solidFill>
                          <a:latin typeface="Calibri"/>
                        </a:rPr>
                        <a:t>Saved · vulnerable</a:t>
                      </a:r>
                    </a:p>
                  </a:txBody>
                  <a:tcPr marL="73152" marR="73152" marT="27432" marB="27432" anchor="ctr">
                    <a:solidFill>
                      <a:srgbClr val="0E1420"/>
                    </a:solidFill>
                  </a:tcPr>
                </a:tc>
                <a:tc>
                  <a:txBody>
                    <a:bodyPr wrap="square"/>
                    <a:lstStyle/>
                    <a:p>
                      <a:pPr algn="ctr"/>
                      <a:r>
                        <a:rPr sz="1400" b="1">
                          <a:solidFill>
                            <a:srgbClr val="FFFFFF"/>
                          </a:solidFill>
                          <a:latin typeface="Calibri"/>
                        </a:rPr>
                        <a:t>Saved · protected</a:t>
                      </a:r>
                    </a:p>
                  </a:txBody>
                  <a:tcPr marL="73152" marR="73152" marT="27432" marB="27432" anchor="ctr">
                    <a:solidFill>
                      <a:srgbClr val="0E1420"/>
                    </a:solidFill>
                  </a:tcPr>
                </a:tc>
                <a:tc>
                  <a:txBody>
                    <a:bodyPr wrap="square"/>
                    <a:lstStyle/>
                    <a:p>
                      <a:pPr algn="ctr"/>
                      <a:r>
                        <a:rPr sz="1400" b="1">
                          <a:solidFill>
                            <a:srgbClr val="FFFFFF"/>
                          </a:solidFill>
                          <a:latin typeface="Calibri"/>
                        </a:rPr>
                        <a:t>New · vulnerable</a:t>
                      </a:r>
                    </a:p>
                  </a:txBody>
                  <a:tcPr marL="73152" marR="73152" marT="27432" marB="27432" anchor="ctr">
                    <a:solidFill>
                      <a:srgbClr val="0E1420"/>
                    </a:solidFill>
                  </a:tcPr>
                </a:tc>
                <a:tc>
                  <a:txBody>
                    <a:bodyPr wrap="square"/>
                    <a:lstStyle/>
                    <a:p>
                      <a:pPr algn="ctr"/>
                      <a:r>
                        <a:rPr sz="1400" b="1">
                          <a:solidFill>
                            <a:srgbClr val="FFFFFF"/>
                          </a:solidFill>
                          <a:latin typeface="Calibri"/>
                        </a:rPr>
                        <a:t>New · protected</a:t>
                      </a:r>
                    </a:p>
                  </a:txBody>
                  <a:tcPr marL="73152" marR="73152" marT="27432" marB="27432" anchor="ctr">
                    <a:solidFill>
                      <a:srgbClr val="0E1420"/>
                    </a:solidFill>
                  </a:tcPr>
                </a:tc>
              </a:tr>
              <a:tr h="429768">
                <a:tc>
                  <a:txBody>
                    <a:bodyPr wrap="square"/>
                    <a:lstStyle/>
                    <a:p>
                      <a:pPr algn="l"/>
                      <a:r>
                        <a:rPr sz="1400" b="1">
                          <a:solidFill>
                            <a:srgbClr val="1B2433"/>
                          </a:solidFill>
                          <a:latin typeface="Calibri"/>
                        </a:rPr>
                        <a:t>Trials</a:t>
                      </a:r>
                    </a:p>
                  </a:txBody>
                  <a:tcPr marL="73152" marR="73152" marT="27432" marB="27432" anchor="ctr">
                    <a:solidFill>
                      <a:srgbClr val="FFFFFF"/>
                    </a:solidFill>
                  </a:tcPr>
                </a:tc>
                <a:tc>
                  <a:txBody>
                    <a:bodyPr wrap="square"/>
                    <a:lstStyle/>
                    <a:p>
                      <a:pPr algn="ctr"/>
                      <a:r>
                        <a:rPr sz="1400" b="0">
                          <a:solidFill>
                            <a:srgbClr val="1B2433"/>
                          </a:solidFill>
                          <a:latin typeface="Calibri"/>
                        </a:rPr>
                        <a:t>10</a:t>
                      </a:r>
                    </a:p>
                  </a:txBody>
                  <a:tcPr marL="73152" marR="73152" marT="27432" marB="27432" anchor="ctr">
                    <a:solidFill>
                      <a:srgbClr val="FFFFFF"/>
                    </a:solidFill>
                  </a:tcPr>
                </a:tc>
                <a:tc>
                  <a:txBody>
                    <a:bodyPr wrap="square"/>
                    <a:lstStyle/>
                    <a:p>
                      <a:pPr algn="ctr"/>
                      <a:r>
                        <a:rPr sz="1400" b="0">
                          <a:solidFill>
                            <a:srgbClr val="1B2433"/>
                          </a:solidFill>
                          <a:latin typeface="Calibri"/>
                        </a:rPr>
                        <a:t>10</a:t>
                      </a:r>
                    </a:p>
                  </a:txBody>
                  <a:tcPr marL="73152" marR="73152" marT="27432" marB="27432" anchor="ctr">
                    <a:solidFill>
                      <a:srgbClr val="FFFFFF"/>
                    </a:solidFill>
                  </a:tcPr>
                </a:tc>
                <a:tc>
                  <a:txBody>
                    <a:bodyPr wrap="square"/>
                    <a:lstStyle/>
                    <a:p>
                      <a:pPr algn="ctr"/>
                      <a:r>
                        <a:rPr sz="1400" b="0">
                          <a:solidFill>
                            <a:srgbClr val="1B2433"/>
                          </a:solidFill>
                          <a:latin typeface="Calibri"/>
                        </a:rPr>
                        <a:t>10</a:t>
                      </a:r>
                    </a:p>
                  </a:txBody>
                  <a:tcPr marL="73152" marR="73152" marT="27432" marB="27432" anchor="ctr">
                    <a:solidFill>
                      <a:srgbClr val="FFFFFF"/>
                    </a:solidFill>
                  </a:tcPr>
                </a:tc>
                <a:tc>
                  <a:txBody>
                    <a:bodyPr wrap="square"/>
                    <a:lstStyle/>
                    <a:p>
                      <a:pPr algn="ctr"/>
                      <a:r>
                        <a:rPr sz="1400" b="0">
                          <a:solidFill>
                            <a:srgbClr val="1B2433"/>
                          </a:solidFill>
                          <a:latin typeface="Calibri"/>
                        </a:rPr>
                        <a:t>10</a:t>
                      </a:r>
                    </a:p>
                  </a:txBody>
                  <a:tcPr marL="73152" marR="73152" marT="27432" marB="27432" anchor="ctr">
                    <a:solidFill>
                      <a:srgbClr val="FFFFFF"/>
                    </a:solidFill>
                  </a:tcPr>
                </a:tc>
              </a:tr>
              <a:tr h="429768">
                <a:tc>
                  <a:txBody>
                    <a:bodyPr wrap="square"/>
                    <a:lstStyle/>
                    <a:p>
                      <a:pPr algn="l"/>
                      <a:r>
                        <a:rPr sz="1400" b="1">
                          <a:solidFill>
                            <a:srgbClr val="1B2433"/>
                          </a:solidFill>
                          <a:latin typeface="Calibri"/>
                        </a:rPr>
                        <a:t>Deadlocked / completed</a:t>
                      </a:r>
                    </a:p>
                  </a:txBody>
                  <a:tcPr marL="73152" marR="73152" marT="27432" marB="27432" anchor="ctr">
                    <a:solidFill>
                      <a:srgbClr val="F1F4F8"/>
                    </a:solidFill>
                  </a:tcPr>
                </a:tc>
                <a:tc>
                  <a:txBody>
                    <a:bodyPr wrap="square"/>
                    <a:lstStyle/>
                    <a:p>
                      <a:pPr algn="ctr"/>
                      <a:r>
                        <a:rPr sz="1400" b="0">
                          <a:solidFill>
                            <a:srgbClr val="1B2433"/>
                          </a:solidFill>
                          <a:latin typeface="Calibri"/>
                        </a:rPr>
                        <a:t>10 / 0</a:t>
                      </a:r>
                    </a:p>
                  </a:txBody>
                  <a:tcPr marL="73152" marR="73152" marT="27432" marB="27432" anchor="ctr">
                    <a:solidFill>
                      <a:srgbClr val="F1F4F8"/>
                    </a:solidFill>
                  </a:tcPr>
                </a:tc>
                <a:tc>
                  <a:txBody>
                    <a:bodyPr wrap="square"/>
                    <a:lstStyle/>
                    <a:p>
                      <a:pPr algn="ctr"/>
                      <a:r>
                        <a:rPr sz="1400" b="0">
                          <a:solidFill>
                            <a:srgbClr val="1B2433"/>
                          </a:solidFill>
                          <a:latin typeface="Calibri"/>
                        </a:rPr>
                        <a:t>0 / 10</a:t>
                      </a:r>
                    </a:p>
                  </a:txBody>
                  <a:tcPr marL="73152" marR="73152" marT="27432" marB="27432" anchor="ctr">
                    <a:solidFill>
                      <a:srgbClr val="F1F4F8"/>
                    </a:solidFill>
                  </a:tcPr>
                </a:tc>
                <a:tc>
                  <a:txBody>
                    <a:bodyPr wrap="square"/>
                    <a:lstStyle/>
                    <a:p>
                      <a:pPr algn="ctr"/>
                      <a:r>
                        <a:rPr sz="1400" b="0">
                          <a:solidFill>
                            <a:srgbClr val="1B2433"/>
                          </a:solidFill>
                          <a:latin typeface="Calibri"/>
                        </a:rPr>
                        <a:t>10 / 0</a:t>
                      </a:r>
                    </a:p>
                  </a:txBody>
                  <a:tcPr marL="73152" marR="73152" marT="27432" marB="27432" anchor="ctr">
                    <a:solidFill>
                      <a:srgbClr val="F1F4F8"/>
                    </a:solidFill>
                  </a:tcPr>
                </a:tc>
                <a:tc>
                  <a:txBody>
                    <a:bodyPr wrap="square"/>
                    <a:lstStyle/>
                    <a:p>
                      <a:pPr algn="ctr"/>
                      <a:r>
                        <a:rPr sz="1400" b="0">
                          <a:solidFill>
                            <a:srgbClr val="1B2433"/>
                          </a:solidFill>
                          <a:latin typeface="Calibri"/>
                        </a:rPr>
                        <a:t>0 / 10</a:t>
                      </a:r>
                    </a:p>
                  </a:txBody>
                  <a:tcPr marL="73152" marR="73152" marT="27432" marB="27432" anchor="ctr">
                    <a:solidFill>
                      <a:srgbClr val="F1F4F8"/>
                    </a:solidFill>
                  </a:tcPr>
                </a:tc>
              </a:tr>
              <a:tr h="429768">
                <a:tc>
                  <a:txBody>
                    <a:bodyPr wrap="square"/>
                    <a:lstStyle/>
                    <a:p>
                      <a:pPr algn="l"/>
                      <a:r>
                        <a:rPr sz="1400" b="1">
                          <a:solidFill>
                            <a:srgbClr val="1B2433"/>
                          </a:solidFill>
                          <a:latin typeface="Calibri"/>
                        </a:rPr>
                        <a:t>Inconclusive</a:t>
                      </a:r>
                    </a:p>
                  </a:txBody>
                  <a:tcPr marL="73152" marR="73152" marT="27432" marB="27432" anchor="ctr">
                    <a:solidFill>
                      <a:srgbClr val="FFFFFF"/>
                    </a:solidFill>
                  </a:tcPr>
                </a:tc>
                <a:tc>
                  <a:txBody>
                    <a:bodyPr wrap="square"/>
                    <a:lstStyle/>
                    <a:p>
                      <a:pPr algn="ctr"/>
                      <a:r>
                        <a:rPr sz="1400" b="0">
                          <a:solidFill>
                            <a:srgbClr val="1B2433"/>
                          </a:solidFill>
                          <a:latin typeface="Calibri"/>
                        </a:rPr>
                        <a:t>0</a:t>
                      </a:r>
                    </a:p>
                  </a:txBody>
                  <a:tcPr marL="73152" marR="73152" marT="27432" marB="27432" anchor="ctr">
                    <a:solidFill>
                      <a:srgbClr val="FFFFFF"/>
                    </a:solidFill>
                  </a:tcPr>
                </a:tc>
                <a:tc>
                  <a:txBody>
                    <a:bodyPr wrap="square"/>
                    <a:lstStyle/>
                    <a:p>
                      <a:pPr algn="ctr"/>
                      <a:r>
                        <a:rPr sz="1400" b="0">
                          <a:solidFill>
                            <a:srgbClr val="1B2433"/>
                          </a:solidFill>
                          <a:latin typeface="Calibri"/>
                        </a:rPr>
                        <a:t>0</a:t>
                      </a:r>
                    </a:p>
                  </a:txBody>
                  <a:tcPr marL="73152" marR="73152" marT="27432" marB="27432" anchor="ctr">
                    <a:solidFill>
                      <a:srgbClr val="FFFFFF"/>
                    </a:solidFill>
                  </a:tcPr>
                </a:tc>
                <a:tc>
                  <a:txBody>
                    <a:bodyPr wrap="square"/>
                    <a:lstStyle/>
                    <a:p>
                      <a:pPr algn="ctr"/>
                      <a:r>
                        <a:rPr sz="1400" b="0">
                          <a:solidFill>
                            <a:srgbClr val="1B2433"/>
                          </a:solidFill>
                          <a:latin typeface="Calibri"/>
                        </a:rPr>
                        <a:t>0</a:t>
                      </a:r>
                    </a:p>
                  </a:txBody>
                  <a:tcPr marL="73152" marR="73152" marT="27432" marB="27432" anchor="ctr">
                    <a:solidFill>
                      <a:srgbClr val="FFFFFF"/>
                    </a:solidFill>
                  </a:tcPr>
                </a:tc>
                <a:tc>
                  <a:txBody>
                    <a:bodyPr wrap="square"/>
                    <a:lstStyle/>
                    <a:p>
                      <a:pPr algn="ctr"/>
                      <a:r>
                        <a:rPr sz="1400" b="0">
                          <a:solidFill>
                            <a:srgbClr val="1B2433"/>
                          </a:solidFill>
                          <a:latin typeface="Calibri"/>
                        </a:rPr>
                        <a:t>0</a:t>
                      </a:r>
                    </a:p>
                  </a:txBody>
                  <a:tcPr marL="73152" marR="73152" marT="27432" marB="27432" anchor="ctr">
                    <a:solidFill>
                      <a:srgbClr val="FFFFFF"/>
                    </a:solidFill>
                  </a:tcPr>
                </a:tc>
              </a:tr>
              <a:tr h="429768">
                <a:tc>
                  <a:txBody>
                    <a:bodyPr wrap="square"/>
                    <a:lstStyle/>
                    <a:p>
                      <a:pPr algn="l"/>
                      <a:r>
                        <a:rPr sz="1400" b="1">
                          <a:solidFill>
                            <a:srgbClr val="1B2433"/>
                          </a:solidFill>
                          <a:latin typeface="Calibri"/>
                        </a:rPr>
                        <a:t>Mean runtime</a:t>
                      </a:r>
                    </a:p>
                  </a:txBody>
                  <a:tcPr marL="73152" marR="73152" marT="27432" marB="27432" anchor="ctr">
                    <a:solidFill>
                      <a:srgbClr val="F1F4F8"/>
                    </a:solidFill>
                  </a:tcPr>
                </a:tc>
                <a:tc>
                  <a:txBody>
                    <a:bodyPr wrap="square"/>
                    <a:lstStyle/>
                    <a:p>
                      <a:pPr algn="ctr"/>
                      <a:r>
                        <a:rPr sz="1400" b="0">
                          <a:solidFill>
                            <a:srgbClr val="1B2433"/>
                          </a:solidFill>
                          <a:latin typeface="Calibri"/>
                        </a:rPr>
                        <a:t>813.6 ms</a:t>
                      </a:r>
                    </a:p>
                  </a:txBody>
                  <a:tcPr marL="73152" marR="73152" marT="27432" marB="27432" anchor="ctr">
                    <a:solidFill>
                      <a:srgbClr val="F1F4F8"/>
                    </a:solidFill>
                  </a:tcPr>
                </a:tc>
                <a:tc>
                  <a:txBody>
                    <a:bodyPr wrap="square"/>
                    <a:lstStyle/>
                    <a:p>
                      <a:pPr algn="ctr"/>
                      <a:r>
                        <a:rPr sz="1400" b="0">
                          <a:solidFill>
                            <a:srgbClr val="1B2433"/>
                          </a:solidFill>
                          <a:latin typeface="Calibri"/>
                        </a:rPr>
                        <a:t>104.6 ms</a:t>
                      </a:r>
                    </a:p>
                  </a:txBody>
                  <a:tcPr marL="73152" marR="73152" marT="27432" marB="27432" anchor="ctr">
                    <a:solidFill>
                      <a:srgbClr val="F1F4F8"/>
                    </a:solidFill>
                  </a:tcPr>
                </a:tc>
                <a:tc>
                  <a:txBody>
                    <a:bodyPr wrap="square"/>
                    <a:lstStyle/>
                    <a:p>
                      <a:pPr algn="ctr"/>
                      <a:r>
                        <a:rPr sz="1400" b="0">
                          <a:solidFill>
                            <a:srgbClr val="1B2433"/>
                          </a:solidFill>
                          <a:latin typeface="Calibri"/>
                        </a:rPr>
                        <a:t>813.4 ms</a:t>
                      </a:r>
                    </a:p>
                  </a:txBody>
                  <a:tcPr marL="73152" marR="73152" marT="27432" marB="27432" anchor="ctr">
                    <a:solidFill>
                      <a:srgbClr val="F1F4F8"/>
                    </a:solidFill>
                  </a:tcPr>
                </a:tc>
                <a:tc>
                  <a:txBody>
                    <a:bodyPr wrap="square"/>
                    <a:lstStyle/>
                    <a:p>
                      <a:pPr algn="ctr"/>
                      <a:r>
                        <a:rPr sz="1400" b="0">
                          <a:solidFill>
                            <a:srgbClr val="1B2433"/>
                          </a:solidFill>
                          <a:latin typeface="Calibri"/>
                        </a:rPr>
                        <a:t>103.9 ms</a:t>
                      </a:r>
                    </a:p>
                  </a:txBody>
                  <a:tcPr marL="73152" marR="73152" marT="27432" marB="27432" anchor="ctr">
                    <a:solidFill>
                      <a:srgbClr val="F1F4F8"/>
                    </a:solidFill>
                  </a:tcPr>
                </a:tc>
              </a:tr>
              <a:tr h="429768">
                <a:tc>
                  <a:txBody>
                    <a:bodyPr wrap="square"/>
                    <a:lstStyle/>
                    <a:p>
                      <a:pPr algn="l"/>
                      <a:r>
                        <a:rPr sz="1400" b="1">
                          <a:solidFill>
                            <a:srgbClr val="1B2433"/>
                          </a:solidFill>
                          <a:latin typeface="Calibri"/>
                        </a:rPr>
                        <a:t>Mean peak wait</a:t>
                      </a:r>
                    </a:p>
                  </a:txBody>
                  <a:tcPr marL="73152" marR="73152" marT="27432" marB="27432" anchor="ctr">
                    <a:solidFill>
                      <a:srgbClr val="FFFFFF"/>
                    </a:solidFill>
                  </a:tcPr>
                </a:tc>
                <a:tc>
                  <a:txBody>
                    <a:bodyPr wrap="square"/>
                    <a:lstStyle/>
                    <a:p>
                      <a:pPr algn="ctr"/>
                      <a:r>
                        <a:rPr sz="1400" b="0">
                          <a:solidFill>
                            <a:srgbClr val="1B2433"/>
                          </a:solidFill>
                          <a:latin typeface="Calibri"/>
                        </a:rPr>
                        <a:t>809.0 ms</a:t>
                      </a:r>
                    </a:p>
                  </a:txBody>
                  <a:tcPr marL="73152" marR="73152" marT="27432" marB="27432" anchor="ctr">
                    <a:solidFill>
                      <a:srgbClr val="FFFFFF"/>
                    </a:solidFill>
                  </a:tcPr>
                </a:tc>
                <a:tc>
                  <a:txBody>
                    <a:bodyPr wrap="square"/>
                    <a:lstStyle/>
                    <a:p>
                      <a:pPr algn="ctr"/>
                      <a:r>
                        <a:rPr sz="1400" b="0">
                          <a:solidFill>
                            <a:srgbClr val="1B2433"/>
                          </a:solidFill>
                          <a:latin typeface="Calibri"/>
                        </a:rPr>
                        <a:t>28.9 ms</a:t>
                      </a:r>
                    </a:p>
                  </a:txBody>
                  <a:tcPr marL="73152" marR="73152" marT="27432" marB="27432" anchor="ctr">
                    <a:solidFill>
                      <a:srgbClr val="FFFFFF"/>
                    </a:solidFill>
                  </a:tcPr>
                </a:tc>
                <a:tc>
                  <a:txBody>
                    <a:bodyPr wrap="square"/>
                    <a:lstStyle/>
                    <a:p>
                      <a:pPr algn="ctr"/>
                      <a:r>
                        <a:rPr sz="1400" b="0">
                          <a:solidFill>
                            <a:srgbClr val="1B2433"/>
                          </a:solidFill>
                          <a:latin typeface="Calibri"/>
                        </a:rPr>
                        <a:t>808.4 ms</a:t>
                      </a:r>
                    </a:p>
                  </a:txBody>
                  <a:tcPr marL="73152" marR="73152" marT="27432" marB="27432" anchor="ctr">
                    <a:solidFill>
                      <a:srgbClr val="FFFFFF"/>
                    </a:solidFill>
                  </a:tcPr>
                </a:tc>
                <a:tc>
                  <a:txBody>
                    <a:bodyPr wrap="square"/>
                    <a:lstStyle/>
                    <a:p>
                      <a:pPr algn="ctr"/>
                      <a:r>
                        <a:rPr sz="1400" b="0">
                          <a:solidFill>
                            <a:srgbClr val="1B2433"/>
                          </a:solidFill>
                          <a:latin typeface="Calibri"/>
                        </a:rPr>
                        <a:t>29.4 ms</a:t>
                      </a:r>
                    </a:p>
                  </a:txBody>
                  <a:tcPr marL="73152" marR="73152" marT="27432" marB="27432" anchor="ctr">
                    <a:solidFill>
                      <a:srgbClr val="FFFFFF"/>
                    </a:solidFill>
                  </a:tcPr>
                </a:tc>
              </a:tr>
              <a:tr h="429768">
                <a:tc>
                  <a:txBody>
                    <a:bodyPr wrap="square"/>
                    <a:lstStyle/>
                    <a:p>
                      <a:pPr algn="l"/>
                      <a:r>
                        <a:rPr sz="1400" b="1">
                          <a:solidFill>
                            <a:srgbClr val="1B2433"/>
                          </a:solidFill>
                          <a:latin typeface="Calibri"/>
                        </a:rPr>
                        <a:t>Mean peak score</a:t>
                      </a:r>
                    </a:p>
                  </a:txBody>
                  <a:tcPr marL="73152" marR="73152" marT="27432" marB="27432" anchor="ctr">
                    <a:solidFill>
                      <a:srgbClr val="F1F4F8"/>
                    </a:solidFill>
                  </a:tcPr>
                </a:tc>
                <a:tc>
                  <a:txBody>
                    <a:bodyPr wrap="square"/>
                    <a:lstStyle/>
                    <a:p>
                      <a:pPr algn="ctr"/>
                      <a:r>
                        <a:rPr sz="1400" b="0">
                          <a:solidFill>
                            <a:srgbClr val="1B2433"/>
                          </a:solidFill>
                          <a:latin typeface="Calibri"/>
                        </a:rPr>
                        <a:t>96</a:t>
                      </a:r>
                    </a:p>
                  </a:txBody>
                  <a:tcPr marL="73152" marR="73152" marT="27432" marB="27432" anchor="ctr">
                    <a:solidFill>
                      <a:srgbClr val="F1F4F8"/>
                    </a:solidFill>
                  </a:tcPr>
                </a:tc>
                <a:tc>
                  <a:txBody>
                    <a:bodyPr wrap="square"/>
                    <a:lstStyle/>
                    <a:p>
                      <a:pPr algn="ctr"/>
                      <a:r>
                        <a:rPr sz="1400" b="0">
                          <a:solidFill>
                            <a:srgbClr val="1B2433"/>
                          </a:solidFill>
                          <a:latin typeface="Calibri"/>
                        </a:rPr>
                        <a:t>72</a:t>
                      </a:r>
                    </a:p>
                  </a:txBody>
                  <a:tcPr marL="73152" marR="73152" marT="27432" marB="27432" anchor="ctr">
                    <a:solidFill>
                      <a:srgbClr val="F1F4F8"/>
                    </a:solidFill>
                  </a:tcPr>
                </a:tc>
                <a:tc>
                  <a:txBody>
                    <a:bodyPr wrap="square"/>
                    <a:lstStyle/>
                    <a:p>
                      <a:pPr algn="ctr"/>
                      <a:r>
                        <a:rPr sz="1400" b="0">
                          <a:solidFill>
                            <a:srgbClr val="1B2433"/>
                          </a:solidFill>
                          <a:latin typeface="Calibri"/>
                        </a:rPr>
                        <a:t>96</a:t>
                      </a:r>
                    </a:p>
                  </a:txBody>
                  <a:tcPr marL="73152" marR="73152" marT="27432" marB="27432" anchor="ctr">
                    <a:solidFill>
                      <a:srgbClr val="F1F4F8"/>
                    </a:solidFill>
                  </a:tcPr>
                </a:tc>
                <a:tc>
                  <a:txBody>
                    <a:bodyPr wrap="square"/>
                    <a:lstStyle/>
                    <a:p>
                      <a:pPr algn="ctr"/>
                      <a:r>
                        <a:rPr sz="1400" b="0">
                          <a:solidFill>
                            <a:srgbClr val="1B2433"/>
                          </a:solidFill>
                          <a:latin typeface="Calibri"/>
                        </a:rPr>
                        <a:t>72</a:t>
                      </a:r>
                    </a:p>
                  </a:txBody>
                  <a:tcPr marL="73152" marR="73152" marT="27432" marB="27432" anchor="ctr">
                    <a:solidFill>
                      <a:srgbClr val="F1F4F8"/>
                    </a:solidFill>
                  </a:tcPr>
                </a:tc>
              </a:tr>
              <a:tr h="429768">
                <a:tc>
                  <a:txBody>
                    <a:bodyPr wrap="square"/>
                    <a:lstStyle/>
                    <a:p>
                      <a:pPr algn="l"/>
                      <a:r>
                        <a:rPr sz="1400" b="1">
                          <a:solidFill>
                            <a:srgbClr val="1B2433"/>
                          </a:solidFill>
                          <a:latin typeface="Calibri"/>
                        </a:rPr>
                        <a:t>Warning lead before cycle</a:t>
                      </a:r>
                    </a:p>
                  </a:txBody>
                  <a:tcPr marL="73152" marR="73152" marT="27432" marB="27432" anchor="ctr">
                    <a:solidFill>
                      <a:srgbClr val="FFFFFF"/>
                    </a:solidFill>
                  </a:tcPr>
                </a:tc>
                <a:tc>
                  <a:txBody>
                    <a:bodyPr wrap="square"/>
                    <a:lstStyle/>
                    <a:p>
                      <a:pPr algn="ctr"/>
                      <a:r>
                        <a:rPr sz="1400" b="0">
                          <a:solidFill>
                            <a:srgbClr val="1B2433"/>
                          </a:solidFill>
                          <a:latin typeface="Calibri"/>
                        </a:rPr>
                        <a:t>120.4 ms</a:t>
                      </a:r>
                    </a:p>
                  </a:txBody>
                  <a:tcPr marL="73152" marR="73152" marT="27432" marB="27432" anchor="ctr">
                    <a:solidFill>
                      <a:srgbClr val="FFFFFF"/>
                    </a:solidFill>
                  </a:tcPr>
                </a:tc>
                <a:tc>
                  <a:txBody>
                    <a:bodyPr wrap="square"/>
                    <a:lstStyle/>
                    <a:p>
                      <a:pPr algn="ctr"/>
                      <a:r>
                        <a:rPr sz="1400" b="0">
                          <a:solidFill>
                            <a:srgbClr val="1B2433"/>
                          </a:solidFill>
                          <a:latin typeface="Calibri"/>
                        </a:rPr>
                        <a:t>n/a</a:t>
                      </a:r>
                    </a:p>
                  </a:txBody>
                  <a:tcPr marL="73152" marR="73152" marT="27432" marB="27432" anchor="ctr">
                    <a:solidFill>
                      <a:srgbClr val="FFFFFF"/>
                    </a:solidFill>
                  </a:tcPr>
                </a:tc>
                <a:tc>
                  <a:txBody>
                    <a:bodyPr wrap="square"/>
                    <a:lstStyle/>
                    <a:p>
                      <a:pPr algn="ctr"/>
                      <a:r>
                        <a:rPr sz="1400" b="0">
                          <a:solidFill>
                            <a:srgbClr val="1B2433"/>
                          </a:solidFill>
                          <a:latin typeface="Calibri"/>
                        </a:rPr>
                        <a:t>121.6 ms</a:t>
                      </a:r>
                    </a:p>
                  </a:txBody>
                  <a:tcPr marL="73152" marR="73152" marT="27432" marB="27432" anchor="ctr">
                    <a:solidFill>
                      <a:srgbClr val="FFFFFF"/>
                    </a:solidFill>
                  </a:tcPr>
                </a:tc>
                <a:tc>
                  <a:txBody>
                    <a:bodyPr wrap="square"/>
                    <a:lstStyle/>
                    <a:p>
                      <a:pPr algn="ctr"/>
                      <a:r>
                        <a:rPr sz="1400" b="0">
                          <a:solidFill>
                            <a:srgbClr val="1B2433"/>
                          </a:solidFill>
                          <a:latin typeface="Calibri"/>
                        </a:rPr>
                        <a:t>n/a</a:t>
                      </a:r>
                    </a:p>
                  </a:txBody>
                  <a:tcPr marL="73152" marR="73152" marT="27432" marB="27432" anchor="ctr">
                    <a:solidFill>
                      <a:srgbClr val="FFFFFF"/>
                    </a:solidFill>
                  </a:tcPr>
                </a:tc>
              </a:tr>
              <a:tr h="429768">
                <a:tc>
                  <a:txBody>
                    <a:bodyPr wrap="square"/>
                    <a:lstStyle/>
                    <a:p>
                      <a:pPr algn="l"/>
                      <a:r>
                        <a:rPr sz="1400" b="1">
                          <a:solidFill>
                            <a:srgbClr val="1B2433"/>
                          </a:solidFill>
                          <a:latin typeface="Calibri"/>
                        </a:rPr>
                        <a:t>Detection latency</a:t>
                      </a:r>
                    </a:p>
                  </a:txBody>
                  <a:tcPr marL="73152" marR="73152" marT="27432" marB="27432" anchor="ctr">
                    <a:solidFill>
                      <a:srgbClr val="F1F4F8"/>
                    </a:solidFill>
                  </a:tcPr>
                </a:tc>
                <a:tc>
                  <a:txBody>
                    <a:bodyPr wrap="square"/>
                    <a:lstStyle/>
                    <a:p>
                      <a:pPr algn="ctr"/>
                      <a:r>
                        <a:rPr sz="1400" b="0">
                          <a:solidFill>
                            <a:srgbClr val="1B2433"/>
                          </a:solidFill>
                          <a:latin typeface="Calibri"/>
                        </a:rPr>
                        <a:t>4.6 ms</a:t>
                      </a:r>
                    </a:p>
                  </a:txBody>
                  <a:tcPr marL="73152" marR="73152" marT="27432" marB="27432" anchor="ctr">
                    <a:solidFill>
                      <a:srgbClr val="F1F4F8"/>
                    </a:solidFill>
                  </a:tcPr>
                </a:tc>
                <a:tc>
                  <a:txBody>
                    <a:bodyPr wrap="square"/>
                    <a:lstStyle/>
                    <a:p>
                      <a:pPr algn="ctr"/>
                      <a:r>
                        <a:rPr sz="1400" b="0">
                          <a:solidFill>
                            <a:srgbClr val="1B2433"/>
                          </a:solidFill>
                          <a:latin typeface="Calibri"/>
                        </a:rPr>
                        <a:t>n/a</a:t>
                      </a:r>
                    </a:p>
                  </a:txBody>
                  <a:tcPr marL="73152" marR="73152" marT="27432" marB="27432" anchor="ctr">
                    <a:solidFill>
                      <a:srgbClr val="F1F4F8"/>
                    </a:solidFill>
                  </a:tcPr>
                </a:tc>
                <a:tc>
                  <a:txBody>
                    <a:bodyPr wrap="square"/>
                    <a:lstStyle/>
                    <a:p>
                      <a:pPr algn="ctr"/>
                      <a:r>
                        <a:rPr sz="1400" b="0">
                          <a:solidFill>
                            <a:srgbClr val="1B2433"/>
                          </a:solidFill>
                          <a:latin typeface="Calibri"/>
                        </a:rPr>
                        <a:t>3.1 ms</a:t>
                      </a:r>
                    </a:p>
                  </a:txBody>
                  <a:tcPr marL="73152" marR="73152" marT="27432" marB="27432" anchor="ctr">
                    <a:solidFill>
                      <a:srgbClr val="F1F4F8"/>
                    </a:solidFill>
                  </a:tcPr>
                </a:tc>
                <a:tc>
                  <a:txBody>
                    <a:bodyPr wrap="square"/>
                    <a:lstStyle/>
                    <a:p>
                      <a:pPr algn="ctr"/>
                      <a:r>
                        <a:rPr sz="1400" b="0">
                          <a:solidFill>
                            <a:srgbClr val="1B2433"/>
                          </a:solidFill>
                          <a:latin typeface="Calibri"/>
                        </a:rPr>
                        <a:t>n/a</a:t>
                      </a:r>
                    </a:p>
                  </a:txBody>
                  <a:tcPr marL="73152" marR="73152" marT="27432" marB="27432" anchor="ctr">
                    <a:solidFill>
                      <a:srgbClr val="F1F4F8"/>
                    </a:solidFill>
                  </a:tcPr>
                </a:tc>
              </a:tr>
            </a:tbl>
          </a:graphicData>
        </a:graphic>
      </p:graphicFrame>
      <p:sp>
        <p:nvSpPr>
          <p:cNvPr id="7" name="TextBox 6"/>
          <p:cNvSpPr txBox="1"/>
          <p:nvPr/>
        </p:nvSpPr>
        <p:spPr>
          <a:xfrm>
            <a:off x="548640" y="5669280"/>
            <a:ext cx="11064240" cy="548640"/>
          </a:xfrm>
          <a:prstGeom prst="rect">
            <a:avLst/>
          </a:prstGeom>
          <a:noFill/>
        </p:spPr>
        <p:txBody>
          <a:bodyPr wrap="square" lIns="0" rIns="0" tIns="0" bIns="0" anchor="t">
            <a:spAutoFit/>
          </a:bodyPr>
          <a:lstStyle/>
          <a:p>
            <a:pPr algn="l"/>
            <a:r>
              <a:rPr sz="1300" b="0" i="1">
                <a:solidFill>
                  <a:srgbClr val="5B6778"/>
                </a:solidFill>
                <a:latin typeface="Calibri"/>
              </a:rPr>
              <a:t>Saved set used time.monotonic (≈15.6 ms ticks on Windows); the new set uses time.perf_counter. Protected runs reach 72 during the safe probe, before the policy applies.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RESULTS · NEW SET</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Scaling: every cycle spans all N threads</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11</a:t>
            </a:r>
          </a:p>
        </p:txBody>
      </p:sp>
      <p:graphicFrame>
        <p:nvGraphicFramePr>
          <p:cNvPr id="6" name="Chart 5"/>
          <p:cNvGraphicFramePr>
            <a:graphicFrameLocks noGrp="1"/>
          </p:cNvGraphicFramePr>
          <p:nvPr/>
        </p:nvGraphicFramePr>
        <p:xfrm>
          <a:off x="548640" y="1508760"/>
          <a:ext cx="6766560" cy="4251960"/>
        </p:xfrm>
        <a:graphic>
          <a:graphicData uri="http://schemas.openxmlformats.org/drawingml/2006/chart">
            <c:chart xmlns:c="http://schemas.openxmlformats.org/drawingml/2006/chart" r:id="rId3"/>
          </a:graphicData>
        </a:graphic>
      </p:graphicFrame>
      <p:sp>
        <p:nvSpPr>
          <p:cNvPr id="7" name="Rounded Rectangle 6"/>
          <p:cNvSpPr/>
          <p:nvPr/>
        </p:nvSpPr>
        <p:spPr>
          <a:xfrm>
            <a:off x="7680960" y="1554480"/>
            <a:ext cx="39319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1554480"/>
            <a:ext cx="1463040" cy="914400"/>
          </a:xfrm>
          <a:prstGeom prst="rect">
            <a:avLst/>
          </a:prstGeom>
          <a:noFill/>
        </p:spPr>
        <p:txBody>
          <a:bodyPr wrap="square" lIns="0" rIns="0" tIns="0" bIns="0" anchor="ctr">
            <a:spAutoFit/>
          </a:bodyPr>
          <a:lstStyle/>
          <a:p>
            <a:pPr algn="l"/>
            <a:r>
              <a:rPr sz="2200" b="1" i="0">
                <a:solidFill>
                  <a:srgbClr val="C83A50"/>
                </a:solidFill>
                <a:latin typeface="Cambria"/>
              </a:rPr>
              <a:t>50/50</a:t>
            </a:r>
          </a:p>
        </p:txBody>
      </p:sp>
      <p:sp>
        <p:nvSpPr>
          <p:cNvPr id="9" name="TextBox 8"/>
          <p:cNvSpPr txBox="1"/>
          <p:nvPr/>
        </p:nvSpPr>
        <p:spPr>
          <a:xfrm>
            <a:off x="9372600" y="1554480"/>
            <a:ext cx="2148840" cy="914400"/>
          </a:xfrm>
          <a:prstGeom prst="rect">
            <a:avLst/>
          </a:prstGeom>
          <a:noFill/>
        </p:spPr>
        <p:txBody>
          <a:bodyPr wrap="square" lIns="0" rIns="0" tIns="0" bIns="0" anchor="ctr">
            <a:spAutoFit/>
          </a:bodyPr>
          <a:lstStyle/>
          <a:p>
            <a:pPr algn="l"/>
            <a:r>
              <a:rPr sz="1300" b="0" i="0">
                <a:solidFill>
                  <a:srgbClr val="1B2433"/>
                </a:solidFill>
                <a:latin typeface="Calibri"/>
              </a:rPr>
              <a:t>vulnerable runs deadlocked; all with a cycle through every thread</a:t>
            </a:r>
          </a:p>
        </p:txBody>
      </p:sp>
      <p:sp>
        <p:nvSpPr>
          <p:cNvPr id="10" name="Rounded Rectangle 9"/>
          <p:cNvSpPr/>
          <p:nvPr/>
        </p:nvSpPr>
        <p:spPr>
          <a:xfrm>
            <a:off x="7680960" y="2624328"/>
            <a:ext cx="39319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624328"/>
            <a:ext cx="1463040" cy="914400"/>
          </a:xfrm>
          <a:prstGeom prst="rect">
            <a:avLst/>
          </a:prstGeom>
          <a:noFill/>
        </p:spPr>
        <p:txBody>
          <a:bodyPr wrap="square" lIns="0" rIns="0" tIns="0" bIns="0" anchor="ctr">
            <a:spAutoFit/>
          </a:bodyPr>
          <a:lstStyle/>
          <a:p>
            <a:pPr algn="l"/>
            <a:r>
              <a:rPr sz="2200" b="1" i="0">
                <a:solidFill>
                  <a:srgbClr val="C78414"/>
                </a:solidFill>
                <a:latin typeface="Cambria"/>
              </a:rPr>
              <a:t>50/50</a:t>
            </a:r>
          </a:p>
        </p:txBody>
      </p:sp>
      <p:sp>
        <p:nvSpPr>
          <p:cNvPr id="12" name="TextBox 11"/>
          <p:cNvSpPr txBox="1"/>
          <p:nvPr/>
        </p:nvSpPr>
        <p:spPr>
          <a:xfrm>
            <a:off x="9372600" y="2624328"/>
            <a:ext cx="2148840" cy="914400"/>
          </a:xfrm>
          <a:prstGeom prst="rect">
            <a:avLst/>
          </a:prstGeom>
          <a:noFill/>
        </p:spPr>
        <p:txBody>
          <a:bodyPr wrap="square" lIns="0" rIns="0" tIns="0" bIns="0" anchor="ctr">
            <a:spAutoFit/>
          </a:bodyPr>
          <a:lstStyle/>
          <a:p>
            <a:pPr algn="l"/>
            <a:r>
              <a:rPr sz="1300" b="0" i="0">
                <a:solidFill>
                  <a:srgbClr val="1B2433"/>
                </a:solidFill>
                <a:latin typeface="Calibri"/>
              </a:rPr>
              <a:t>recovered with exactly one aborted thread</a:t>
            </a:r>
          </a:p>
        </p:txBody>
      </p:sp>
      <p:sp>
        <p:nvSpPr>
          <p:cNvPr id="13" name="Rounded Rectangle 12"/>
          <p:cNvSpPr/>
          <p:nvPr/>
        </p:nvSpPr>
        <p:spPr>
          <a:xfrm>
            <a:off x="7680960" y="3694176"/>
            <a:ext cx="39319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3694176"/>
            <a:ext cx="1463040" cy="914400"/>
          </a:xfrm>
          <a:prstGeom prst="rect">
            <a:avLst/>
          </a:prstGeom>
          <a:noFill/>
        </p:spPr>
        <p:txBody>
          <a:bodyPr wrap="square" lIns="0" rIns="0" tIns="0" bIns="0" anchor="ctr">
            <a:spAutoFit/>
          </a:bodyPr>
          <a:lstStyle/>
          <a:p>
            <a:pPr algn="l"/>
            <a:r>
              <a:rPr sz="2200" b="1" i="0">
                <a:solidFill>
                  <a:srgbClr val="178F6E"/>
                </a:solidFill>
                <a:latin typeface="Cambria"/>
              </a:rPr>
              <a:t>50/50</a:t>
            </a:r>
          </a:p>
        </p:txBody>
      </p:sp>
      <p:sp>
        <p:nvSpPr>
          <p:cNvPr id="15" name="TextBox 14"/>
          <p:cNvSpPr txBox="1"/>
          <p:nvPr/>
        </p:nvSpPr>
        <p:spPr>
          <a:xfrm>
            <a:off x="9372600" y="3694176"/>
            <a:ext cx="2148840" cy="914400"/>
          </a:xfrm>
          <a:prstGeom prst="rect">
            <a:avLst/>
          </a:prstGeom>
          <a:noFill/>
        </p:spPr>
        <p:txBody>
          <a:bodyPr wrap="square" lIns="0" rIns="0" tIns="0" bIns="0" anchor="ctr">
            <a:spAutoFit/>
          </a:bodyPr>
          <a:lstStyle/>
          <a:p>
            <a:pPr algn="l"/>
            <a:r>
              <a:rPr sz="1300" b="0" i="0">
                <a:solidFill>
                  <a:srgbClr val="1B2433"/>
                </a:solidFill>
                <a:latin typeface="Calibri"/>
              </a:rPr>
              <a:t>protected runs completed every thread</a:t>
            </a:r>
          </a:p>
        </p:txBody>
      </p:sp>
      <p:sp>
        <p:nvSpPr>
          <p:cNvPr id="16" name="Rounded Rectangle 15"/>
          <p:cNvSpPr/>
          <p:nvPr/>
        </p:nvSpPr>
        <p:spPr>
          <a:xfrm>
            <a:off x="7680960" y="4764024"/>
            <a:ext cx="3931920" cy="914400"/>
          </a:xfrm>
          <a:prstGeom prst="roundRect">
            <a:avLst>
              <a:gd name="adj" fmla="val 8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764024"/>
            <a:ext cx="1463040" cy="914400"/>
          </a:xfrm>
          <a:prstGeom prst="rect">
            <a:avLst/>
          </a:prstGeom>
          <a:noFill/>
        </p:spPr>
        <p:txBody>
          <a:bodyPr wrap="square" lIns="0" rIns="0" tIns="0" bIns="0" anchor="ctr">
            <a:spAutoFit/>
          </a:bodyPr>
          <a:lstStyle/>
          <a:p>
            <a:pPr algn="l"/>
            <a:r>
              <a:rPr sz="2200" b="1" i="0">
                <a:solidFill>
                  <a:srgbClr val="2F6FC4"/>
                </a:solidFill>
                <a:latin typeface="Cambria"/>
              </a:rPr>
              <a:t>≈31 ms</a:t>
            </a:r>
          </a:p>
        </p:txBody>
      </p:sp>
      <p:sp>
        <p:nvSpPr>
          <p:cNvPr id="18" name="TextBox 17"/>
          <p:cNvSpPr txBox="1"/>
          <p:nvPr/>
        </p:nvSpPr>
        <p:spPr>
          <a:xfrm>
            <a:off x="9372600" y="4764024"/>
            <a:ext cx="2148840" cy="914400"/>
          </a:xfrm>
          <a:prstGeom prst="rect">
            <a:avLst/>
          </a:prstGeom>
          <a:noFill/>
        </p:spPr>
        <p:txBody>
          <a:bodyPr wrap="square" lIns="0" rIns="0" tIns="0" bIns="0" anchor="ctr">
            <a:spAutoFit/>
          </a:bodyPr>
          <a:lstStyle/>
          <a:p>
            <a:pPr algn="l"/>
            <a:r>
              <a:rPr sz="1300" b="0" i="0">
                <a:solidFill>
                  <a:srgbClr val="1B2433"/>
                </a:solidFill>
                <a:latin typeface="Calibri"/>
              </a:rPr>
              <a:t>extra vulnerable time per added thread (sequential unwinding)</a:t>
            </a:r>
          </a:p>
        </p:txBody>
      </p:sp>
      <p:sp>
        <p:nvSpPr>
          <p:cNvPr id="19" name="TextBox 18"/>
          <p:cNvSpPr txBox="1"/>
          <p:nvPr/>
        </p:nvSpPr>
        <p:spPr>
          <a:xfrm>
            <a:off x="548640" y="5870448"/>
            <a:ext cx="11064240" cy="365760"/>
          </a:xfrm>
          <a:prstGeom prst="rect">
            <a:avLst/>
          </a:prstGeom>
          <a:noFill/>
        </p:spPr>
        <p:txBody>
          <a:bodyPr wrap="square" lIns="0" rIns="0" tIns="0" bIns="0" anchor="t">
            <a:spAutoFit/>
          </a:bodyPr>
          <a:lstStyle/>
          <a:p>
            <a:pPr algn="l"/>
            <a:r>
              <a:rPr sz="1300" b="0" i="1">
                <a:solidFill>
                  <a:srgbClr val="5B6778"/>
                </a:solidFill>
                <a:latin typeface="Calibri"/>
              </a:rPr>
              <a:t>Run-to-run spread is small (vulnerable sd ≤ 4.5 ms). Controlled ring workload on one machine; not a performance benchmark.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178F6E"/>
                </a:solidFill>
                <a:latin typeface="Calibri"/>
              </a:rPr>
              <a:t>LITERATURE REVIEW</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1B2433"/>
                </a:solidFill>
                <a:latin typeface="Cambria"/>
              </a:rPr>
              <a:t>Related work, 2020–2025</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5B6778"/>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5B6778"/>
                </a:solidFill>
                <a:latin typeface="Calibri"/>
              </a:rPr>
              <a:t>12</a:t>
            </a:r>
          </a:p>
        </p:txBody>
      </p:sp>
      <p:graphicFrame>
        <p:nvGraphicFramePr>
          <p:cNvPr id="6" name="Table 5"/>
          <p:cNvGraphicFramePr>
            <a:graphicFrameLocks noGrp="1"/>
          </p:cNvGraphicFramePr>
          <p:nvPr/>
        </p:nvGraphicFramePr>
        <p:xfrm>
          <a:off x="548640" y="1554480"/>
          <a:ext cx="11064240" cy="3968496"/>
        </p:xfrm>
        <a:graphic>
          <a:graphicData uri="http://schemas.openxmlformats.org/drawingml/2006/table">
            <a:tbl>
              <a:tblPr firstRow="1" bandRow="1">
                <a:tableStyleId>{5C22544A-7EE6-4342-B048-85BDC9FD1C3A}</a:tableStyleId>
              </a:tblPr>
              <a:tblGrid>
                <a:gridCol w="3108960"/>
                <a:gridCol w="4114800"/>
                <a:gridCol w="3840480"/>
              </a:tblGrid>
              <a:tr h="566928">
                <a:tc>
                  <a:txBody>
                    <a:bodyPr wrap="square"/>
                    <a:lstStyle/>
                    <a:p>
                      <a:pPr algn="l"/>
                      <a:r>
                        <a:rPr sz="1400" b="1">
                          <a:solidFill>
                            <a:srgbClr val="FFFFFF"/>
                          </a:solidFill>
                          <a:latin typeface="Calibri"/>
                        </a:rPr>
                        <a:t>Work</a:t>
                      </a:r>
                    </a:p>
                  </a:txBody>
                  <a:tcPr marL="73152" marR="73152" marT="27432" marB="27432" anchor="ctr">
                    <a:solidFill>
                      <a:srgbClr val="0E1420"/>
                    </a:solidFill>
                  </a:tcPr>
                </a:tc>
                <a:tc>
                  <a:txBody>
                    <a:bodyPr wrap="square"/>
                    <a:lstStyle/>
                    <a:p>
                      <a:pPr algn="l"/>
                      <a:r>
                        <a:rPr sz="1400" b="1">
                          <a:solidFill>
                            <a:srgbClr val="FFFFFF"/>
                          </a:solidFill>
                          <a:latin typeface="Calibri"/>
                        </a:rPr>
                        <a:t>Idea</a:t>
                      </a:r>
                    </a:p>
                  </a:txBody>
                  <a:tcPr marL="73152" marR="73152" marT="27432" marB="27432" anchor="ctr">
                    <a:solidFill>
                      <a:srgbClr val="0E1420"/>
                    </a:solidFill>
                  </a:tcPr>
                </a:tc>
                <a:tc>
                  <a:txBody>
                    <a:bodyPr wrap="square"/>
                    <a:lstStyle/>
                    <a:p>
                      <a:pPr algn="l"/>
                      <a:r>
                        <a:rPr sz="1400" b="1">
                          <a:solidFill>
                            <a:srgbClr val="FFFFFF"/>
                          </a:solidFill>
                          <a:latin typeface="Calibri"/>
                        </a:rPr>
                        <a:t>Relevance here</a:t>
                      </a:r>
                    </a:p>
                  </a:txBody>
                  <a:tcPr marL="73152" marR="73152" marT="27432" marB="27432" anchor="ctr">
                    <a:solidFill>
                      <a:srgbClr val="0E1420"/>
                    </a:solidFill>
                  </a:tcPr>
                </a:tc>
              </a:tr>
              <a:tr h="566928">
                <a:tc>
                  <a:txBody>
                    <a:bodyPr wrap="square"/>
                    <a:lstStyle/>
                    <a:p>
                      <a:pPr algn="l"/>
                      <a:r>
                        <a:rPr sz="1400" b="1">
                          <a:solidFill>
                            <a:srgbClr val="1B2433"/>
                          </a:solidFill>
                          <a:latin typeface="Calibri"/>
                        </a:rPr>
                        <a:t>Qin et al., PLDI 2020</a:t>
                      </a:r>
                    </a:p>
                  </a:txBody>
                  <a:tcPr marL="73152" marR="73152" marT="27432" marB="27432" anchor="ctr">
                    <a:solidFill>
                      <a:srgbClr val="FFFFFF"/>
                    </a:solidFill>
                  </a:tcPr>
                </a:tc>
                <a:tc>
                  <a:txBody>
                    <a:bodyPr wrap="square"/>
                    <a:lstStyle/>
                    <a:p>
                      <a:pPr algn="l"/>
                      <a:r>
                        <a:rPr sz="1400" b="0">
                          <a:solidFill>
                            <a:srgbClr val="1B2433"/>
                          </a:solidFill>
                          <a:latin typeface="Calibri"/>
                        </a:rPr>
                        <a:t>Study of real Rust bugs, incl. blocking bugs; static detectors</a:t>
                      </a:r>
                    </a:p>
                  </a:txBody>
                  <a:tcPr marL="73152" marR="73152" marT="27432" marB="27432" anchor="ctr">
                    <a:solidFill>
                      <a:srgbClr val="FFFFFF"/>
                    </a:solidFill>
                  </a:tcPr>
                </a:tc>
                <a:tc>
                  <a:txBody>
                    <a:bodyPr wrap="square"/>
                    <a:lstStyle/>
                    <a:p>
                      <a:pPr algn="l"/>
                      <a:r>
                        <a:rPr sz="1400" b="0">
                          <a:solidFill>
                            <a:srgbClr val="1B2433"/>
                          </a:solidFill>
                          <a:latin typeface="Calibri"/>
                        </a:rPr>
                        <a:t>Lock-order deadlocks persist in safe languages</a:t>
                      </a:r>
                    </a:p>
                  </a:txBody>
                  <a:tcPr marL="73152" marR="73152" marT="27432" marB="27432" anchor="ctr">
                    <a:solidFill>
                      <a:srgbClr val="FFFFFF"/>
                    </a:solidFill>
                  </a:tcPr>
                </a:tc>
              </a:tr>
              <a:tr h="566928">
                <a:tc>
                  <a:txBody>
                    <a:bodyPr wrap="square"/>
                    <a:lstStyle/>
                    <a:p>
                      <a:pPr algn="l"/>
                      <a:r>
                        <a:rPr sz="1400" b="1">
                          <a:solidFill>
                            <a:srgbClr val="1B2433"/>
                          </a:solidFill>
                          <a:latin typeface="Calibri"/>
                        </a:rPr>
                        <a:t>Cai, Meng &amp; Palsberg, ICSE 2020</a:t>
                      </a:r>
                    </a:p>
                  </a:txBody>
                  <a:tcPr marL="73152" marR="73152" marT="27432" marB="27432" anchor="ctr">
                    <a:solidFill>
                      <a:srgbClr val="F1F4F8"/>
                    </a:solidFill>
                  </a:tcPr>
                </a:tc>
                <a:tc>
                  <a:txBody>
                    <a:bodyPr wrap="square"/>
                    <a:lstStyle/>
                    <a:p>
                      <a:pPr algn="l"/>
                      <a:r>
                        <a:rPr sz="1400" b="0">
                          <a:solidFill>
                            <a:srgbClr val="1B2433"/>
                          </a:solidFill>
                          <a:latin typeface="Calibri"/>
                        </a:rPr>
                        <a:t>AirLock: cycle search in a small lock graph, ~3.5 % overhead</a:t>
                      </a:r>
                    </a:p>
                  </a:txBody>
                  <a:tcPr marL="73152" marR="73152" marT="27432" marB="27432" anchor="ctr">
                    <a:solidFill>
                      <a:srgbClr val="F1F4F8"/>
                    </a:solidFill>
                  </a:tcPr>
                </a:tc>
                <a:tc>
                  <a:txBody>
                    <a:bodyPr wrap="square"/>
                    <a:lstStyle/>
                    <a:p>
                      <a:pPr algn="l"/>
                      <a:r>
                        <a:rPr sz="1400" b="0">
                          <a:solidFill>
                            <a:srgbClr val="1B2433"/>
                          </a:solidFill>
                          <a:latin typeface="Calibri"/>
                        </a:rPr>
                        <a:t>Cheap cycle search, like our supervisor</a:t>
                      </a:r>
                    </a:p>
                  </a:txBody>
                  <a:tcPr marL="73152" marR="73152" marT="27432" marB="27432" anchor="ctr">
                    <a:solidFill>
                      <a:srgbClr val="F1F4F8"/>
                    </a:solidFill>
                  </a:tcPr>
                </a:tc>
              </a:tr>
              <a:tr h="566928">
                <a:tc>
                  <a:txBody>
                    <a:bodyPr wrap="square"/>
                    <a:lstStyle/>
                    <a:p>
                      <a:pPr algn="l"/>
                      <a:r>
                        <a:rPr sz="1400" b="1">
                          <a:solidFill>
                            <a:srgbClr val="1B2433"/>
                          </a:solidFill>
                          <a:latin typeface="Calibri"/>
                        </a:rPr>
                        <a:t>Liu et al., ASPLOS 2021</a:t>
                      </a:r>
                    </a:p>
                  </a:txBody>
                  <a:tcPr marL="73152" marR="73152" marT="27432" marB="27432" anchor="ctr">
                    <a:solidFill>
                      <a:srgbClr val="FFFFFF"/>
                    </a:solidFill>
                  </a:tcPr>
                </a:tc>
                <a:tc>
                  <a:txBody>
                    <a:bodyPr wrap="square"/>
                    <a:lstStyle/>
                    <a:p>
                      <a:pPr algn="l"/>
                      <a:r>
                        <a:rPr sz="1400" b="0">
                          <a:solidFill>
                            <a:srgbClr val="1B2433"/>
                          </a:solidFill>
                          <a:latin typeface="Calibri"/>
                        </a:rPr>
                        <a:t>GCatch detects, GFix repairs Go blocking bugs</a:t>
                      </a:r>
                    </a:p>
                  </a:txBody>
                  <a:tcPr marL="73152" marR="73152" marT="27432" marB="27432" anchor="ctr">
                    <a:solidFill>
                      <a:srgbClr val="FFFFFF"/>
                    </a:solidFill>
                  </a:tcPr>
                </a:tc>
                <a:tc>
                  <a:txBody>
                    <a:bodyPr wrap="square"/>
                    <a:lstStyle/>
                    <a:p>
                      <a:pPr algn="l"/>
                      <a:r>
                        <a:rPr sz="1400" b="0">
                          <a:solidFill>
                            <a:srgbClr val="1B2433"/>
                          </a:solidFill>
                          <a:latin typeface="Calibri"/>
                        </a:rPr>
                        <a:t>Detect then repair vs. our detect then recover</a:t>
                      </a:r>
                    </a:p>
                  </a:txBody>
                  <a:tcPr marL="73152" marR="73152" marT="27432" marB="27432" anchor="ctr">
                    <a:solidFill>
                      <a:srgbClr val="FFFFFF"/>
                    </a:solidFill>
                  </a:tcPr>
                </a:tc>
              </a:tr>
              <a:tr h="566928">
                <a:tc>
                  <a:txBody>
                    <a:bodyPr wrap="square"/>
                    <a:lstStyle/>
                    <a:p>
                      <a:pPr algn="l"/>
                      <a:r>
                        <a:rPr sz="1400" b="1">
                          <a:solidFill>
                            <a:srgbClr val="1B2433"/>
                          </a:solidFill>
                          <a:latin typeface="Calibri"/>
                        </a:rPr>
                        <a:t>Tunç et al., PLDI 2023</a:t>
                      </a:r>
                    </a:p>
                  </a:txBody>
                  <a:tcPr marL="73152" marR="73152" marT="27432" marB="27432" anchor="ctr">
                    <a:solidFill>
                      <a:srgbClr val="F1F4F8"/>
                    </a:solidFill>
                  </a:tcPr>
                </a:tc>
                <a:tc>
                  <a:txBody>
                    <a:bodyPr wrap="square"/>
                    <a:lstStyle/>
                    <a:p>
                      <a:pPr algn="l"/>
                      <a:r>
                        <a:rPr sz="1400" b="0">
                          <a:solidFill>
                            <a:srgbClr val="1B2433"/>
                          </a:solidFill>
                          <a:latin typeface="Calibri"/>
                        </a:rPr>
                        <a:t>Sound linear-time prediction of sync-preserving deadlocks</a:t>
                      </a:r>
                    </a:p>
                  </a:txBody>
                  <a:tcPr marL="73152" marR="73152" marT="27432" marB="27432" anchor="ctr">
                    <a:solidFill>
                      <a:srgbClr val="F1F4F8"/>
                    </a:solidFill>
                  </a:tcPr>
                </a:tc>
                <a:tc>
                  <a:txBody>
                    <a:bodyPr wrap="square"/>
                    <a:lstStyle/>
                    <a:p>
                      <a:pPr algn="l"/>
                      <a:r>
                        <a:rPr sz="1400" b="0">
                          <a:solidFill>
                            <a:srgbClr val="1B2433"/>
                          </a:solidFill>
                          <a:latin typeface="Calibri"/>
                        </a:rPr>
                        <a:t>General prediction is intractable: our score is a heuristic</a:t>
                      </a:r>
                    </a:p>
                  </a:txBody>
                  <a:tcPr marL="73152" marR="73152" marT="27432" marB="27432" anchor="ctr">
                    <a:solidFill>
                      <a:srgbClr val="F1F4F8"/>
                    </a:solidFill>
                  </a:tcPr>
                </a:tc>
              </a:tr>
              <a:tr h="566928">
                <a:tc>
                  <a:txBody>
                    <a:bodyPr wrap="square"/>
                    <a:lstStyle/>
                    <a:p>
                      <a:pPr algn="l"/>
                      <a:r>
                        <a:rPr sz="1400" b="1">
                          <a:solidFill>
                            <a:srgbClr val="1B2433"/>
                          </a:solidFill>
                          <a:latin typeface="Calibri"/>
                        </a:rPr>
                        <a:t>Qin et al., IEEE TSE 2024</a:t>
                      </a:r>
                    </a:p>
                  </a:txBody>
                  <a:tcPr marL="73152" marR="73152" marT="27432" marB="27432" anchor="ctr">
                    <a:solidFill>
                      <a:srgbClr val="FFFFFF"/>
                    </a:solidFill>
                  </a:tcPr>
                </a:tc>
                <a:tc>
                  <a:txBody>
                    <a:bodyPr wrap="square"/>
                    <a:lstStyle/>
                    <a:p>
                      <a:pPr algn="l"/>
                      <a:r>
                        <a:rPr sz="1400" b="0">
                          <a:solidFill>
                            <a:srgbClr val="1B2433"/>
                          </a:solidFill>
                          <a:latin typeface="Calibri"/>
                        </a:rPr>
                        <a:t>100 Rust concurrency bugs; five static detectors (lockbud)</a:t>
                      </a:r>
                    </a:p>
                  </a:txBody>
                  <a:tcPr marL="73152" marR="73152" marT="27432" marB="27432" anchor="ctr">
                    <a:solidFill>
                      <a:srgbClr val="FFFFFF"/>
                    </a:solidFill>
                  </a:tcPr>
                </a:tc>
                <a:tc>
                  <a:txBody>
                    <a:bodyPr wrap="square"/>
                    <a:lstStyle/>
                    <a:p>
                      <a:pPr algn="l"/>
                      <a:r>
                        <a:rPr sz="1400" b="0">
                          <a:solidFill>
                            <a:srgbClr val="1B2433"/>
                          </a:solidFill>
                          <a:latin typeface="Calibri"/>
                        </a:rPr>
                        <a:t>Supports lock ordering as prevention</a:t>
                      </a:r>
                    </a:p>
                  </a:txBody>
                  <a:tcPr marL="73152" marR="73152" marT="27432" marB="27432" anchor="ctr">
                    <a:solidFill>
                      <a:srgbClr val="FFFFFF"/>
                    </a:solidFill>
                  </a:tcPr>
                </a:tc>
              </a:tr>
              <a:tr h="566928">
                <a:tc>
                  <a:txBody>
                    <a:bodyPr wrap="square"/>
                    <a:lstStyle/>
                    <a:p>
                      <a:pPr algn="l"/>
                      <a:r>
                        <a:rPr sz="1400" b="1">
                          <a:solidFill>
                            <a:srgbClr val="1B2433"/>
                          </a:solidFill>
                          <a:latin typeface="Calibri"/>
                        </a:rPr>
                        <a:t>van den Heuvel et al., arXiv 2025</a:t>
                      </a:r>
                    </a:p>
                  </a:txBody>
                  <a:tcPr marL="73152" marR="73152" marT="27432" marB="27432" anchor="ctr">
                    <a:solidFill>
                      <a:srgbClr val="F1F4F8"/>
                    </a:solidFill>
                  </a:tcPr>
                </a:tc>
                <a:tc>
                  <a:txBody>
                    <a:bodyPr wrap="square"/>
                    <a:lstStyle/>
                    <a:p>
                      <a:pPr algn="l"/>
                      <a:r>
                        <a:rPr sz="1400" b="0">
                          <a:solidFill>
                            <a:srgbClr val="1B2433"/>
                          </a:solidFill>
                          <a:latin typeface="Calibri"/>
                        </a:rPr>
                        <a:t>Partial orders filter false deadlock warnings</a:t>
                      </a:r>
                    </a:p>
                  </a:txBody>
                  <a:tcPr marL="73152" marR="73152" marT="27432" marB="27432" anchor="ctr">
                    <a:solidFill>
                      <a:srgbClr val="F1F4F8"/>
                    </a:solidFill>
                  </a:tcPr>
                </a:tc>
                <a:tc>
                  <a:txBody>
                    <a:bodyPr wrap="square"/>
                    <a:lstStyle/>
                    <a:p>
                      <a:pPr algn="l"/>
                      <a:r>
                        <a:rPr sz="1400" b="0">
                          <a:solidFill>
                            <a:srgbClr val="1B2433"/>
                          </a:solidFill>
                          <a:latin typeface="Calibri"/>
                        </a:rPr>
                        <a:t>Why we report false alarms honestly</a:t>
                      </a:r>
                    </a:p>
                  </a:txBody>
                  <a:tcPr marL="73152" marR="73152" marT="27432" marB="27432" anchor="ctr">
                    <a:solidFill>
                      <a:srgbClr val="F1F4F8"/>
                    </a:solidFill>
                  </a:tcPr>
                </a:tc>
              </a:tr>
            </a:tbl>
          </a:graphicData>
        </a:graphic>
      </p:graphicFrame>
      <p:sp>
        <p:nvSpPr>
          <p:cNvPr id="7" name="TextBox 6"/>
          <p:cNvSpPr txBox="1"/>
          <p:nvPr/>
        </p:nvSpPr>
        <p:spPr>
          <a:xfrm>
            <a:off x="548640" y="5760720"/>
            <a:ext cx="11064240" cy="365760"/>
          </a:xfrm>
          <a:prstGeom prst="rect">
            <a:avLst/>
          </a:prstGeom>
          <a:noFill/>
        </p:spPr>
        <p:txBody>
          <a:bodyPr wrap="square" lIns="0" rIns="0" tIns="0" bIns="0" anchor="t">
            <a:spAutoFit/>
          </a:bodyPr>
          <a:lstStyle/>
          <a:p>
            <a:pPr algn="l"/>
            <a:r>
              <a:rPr sz="1300" b="0" i="1">
                <a:solidFill>
                  <a:srgbClr val="5B6778"/>
                </a:solidFill>
                <a:latin typeface="Calibri"/>
              </a:rPr>
              <a:t>Full references with DOIs or official links are in docs/FINAL_REPORT.md and the PDF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20"/>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B8C4D4"/>
                </a:solidFill>
                <a:latin typeface="Calibri"/>
              </a:rPr>
              <a:t>WRAP-UP</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FFFFFF"/>
                </a:solidFill>
                <a:latin typeface="Cambria"/>
              </a:rPr>
              <a:t>Limitations and conclusion</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8C4D4"/>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B8C4D4"/>
                </a:solidFill>
                <a:latin typeface="Calibri"/>
              </a:rPr>
              <a:t>13</a:t>
            </a:r>
          </a:p>
        </p:txBody>
      </p:sp>
      <p:sp>
        <p:nvSpPr>
          <p:cNvPr id="6" name="Rounded Rectangle 5"/>
          <p:cNvSpPr/>
          <p:nvPr/>
        </p:nvSpPr>
        <p:spPr>
          <a:xfrm>
            <a:off x="548640" y="1600200"/>
            <a:ext cx="5349240" cy="4343400"/>
          </a:xfrm>
          <a:prstGeom prst="roundRect">
            <a:avLst>
              <a:gd name="adj" fmla="val 8000"/>
            </a:avLst>
          </a:prstGeom>
          <a:solidFill>
            <a:srgbClr val="17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10512"/>
            <a:ext cx="4572000" cy="411480"/>
          </a:xfrm>
          <a:prstGeom prst="rect">
            <a:avLst/>
          </a:prstGeom>
          <a:noFill/>
        </p:spPr>
        <p:txBody>
          <a:bodyPr wrap="square" lIns="0" rIns="0" tIns="0" bIns="0" anchor="t">
            <a:spAutoFit/>
          </a:bodyPr>
          <a:lstStyle/>
          <a:p>
            <a:pPr algn="l"/>
            <a:r>
              <a:rPr sz="2200" b="1" i="0">
                <a:solidFill>
                  <a:srgbClr val="C78414"/>
                </a:solidFill>
                <a:latin typeface="Cambria"/>
              </a:rPr>
              <a:t>Limitations</a:t>
            </a:r>
          </a:p>
        </p:txBody>
      </p:sp>
      <p:sp>
        <p:nvSpPr>
          <p:cNvPr id="8" name="TextBox 7"/>
          <p:cNvSpPr txBox="1"/>
          <p:nvPr/>
        </p:nvSpPr>
        <p:spPr>
          <a:xfrm>
            <a:off x="914400" y="2468880"/>
            <a:ext cx="4663440" cy="3474720"/>
          </a:xfrm>
          <a:prstGeom prst="rect">
            <a:avLst/>
          </a:prstGeom>
          <a:noFill/>
        </p:spPr>
        <p:txBody>
          <a:bodyPr wrap="square" lIns="0" rIns="0" tIns="0" bIns="0">
            <a:spAutoFit/>
          </a:bodyPr>
          <a:lstStyle/>
          <a:p>
            <a:pPr marL="256032" indent="-256032">
              <a:buClr>
                <a:srgbClr val="C78414"/>
              </a:buClr>
              <a:buFont typeface="Arial"/>
              <a:buChar char="•"/>
            </a:pPr>
            <a:r>
              <a:rPr sz="1700">
                <a:solidFill>
                  <a:srgbClr val="FFFFFF"/>
                </a:solidFill>
                <a:latin typeface="Calibri"/>
              </a:rPr>
              <a:t>Controlled schedules (barriers, 120 ms window): lead time is not general prediction accuracy</a:t>
            </a:r>
          </a:p>
          <a:p>
            <a:pPr marL="256032" indent="-256032">
              <a:spcBef>
                <a:spcPts val="1200"/>
              </a:spcBef>
              <a:buClr>
                <a:srgbClr val="C78414"/>
              </a:buClr>
              <a:buFont typeface="Arial"/>
              <a:buChar char="•"/>
            </a:pPr>
            <a:r>
              <a:rPr sz="1700">
                <a:solidFill>
                  <a:srgbClr val="FFFFFF"/>
                </a:solidFill>
                <a:latin typeface="Calibri"/>
              </a:rPr>
              <a:t>Score ceilings are tuned for two threads</a:t>
            </a:r>
          </a:p>
          <a:p>
            <a:pPr marL="256032" indent="-256032">
              <a:spcBef>
                <a:spcPts val="1200"/>
              </a:spcBef>
              <a:buClr>
                <a:srgbClr val="C78414"/>
              </a:buClr>
              <a:buFont typeface="Arial"/>
              <a:buChar char="•"/>
            </a:pPr>
            <a:r>
              <a:rPr sz="1700">
                <a:solidFill>
                  <a:srgbClr val="FFFFFF"/>
                </a:solidFill>
                <a:latin typeface="Calibri"/>
              </a:rPr>
              <a:t>Simple victim choice: highest-numbered thread</a:t>
            </a:r>
          </a:p>
          <a:p>
            <a:pPr marL="256032" indent="-256032">
              <a:spcBef>
                <a:spcPts val="1200"/>
              </a:spcBef>
              <a:buClr>
                <a:srgbClr val="C78414"/>
              </a:buClr>
              <a:buFont typeface="Arial"/>
              <a:buChar char="•"/>
            </a:pPr>
            <a:r>
              <a:rPr sz="1700">
                <a:solidFill>
                  <a:srgbClr val="FFFFFF"/>
                </a:solidFill>
                <a:latin typeface="Calibri"/>
              </a:rPr>
              <a:t>Python threads under the GIL on one machine; timings vary</a:t>
            </a:r>
          </a:p>
          <a:p>
            <a:pPr marL="256032" indent="-256032">
              <a:spcBef>
                <a:spcPts val="1200"/>
              </a:spcBef>
              <a:buClr>
                <a:srgbClr val="C78414"/>
              </a:buClr>
              <a:buFont typeface="Arial"/>
              <a:buChar char="•"/>
            </a:pPr>
            <a:r>
              <a:rPr sz="1700">
                <a:solidFill>
                  <a:srgbClr val="FFFFFF"/>
                </a:solidFill>
                <a:latin typeface="Calibri"/>
              </a:rPr>
              <a:t>Teaching prototype, not a process-isolated service</a:t>
            </a:r>
          </a:p>
        </p:txBody>
      </p:sp>
      <p:sp>
        <p:nvSpPr>
          <p:cNvPr id="9" name="Rounded Rectangle 8"/>
          <p:cNvSpPr/>
          <p:nvPr/>
        </p:nvSpPr>
        <p:spPr>
          <a:xfrm>
            <a:off x="6263640" y="1600200"/>
            <a:ext cx="5349240" cy="4343400"/>
          </a:xfrm>
          <a:prstGeom prst="roundRect">
            <a:avLst>
              <a:gd name="adj" fmla="val 8000"/>
            </a:avLst>
          </a:prstGeom>
          <a:solidFill>
            <a:srgbClr val="17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810512"/>
            <a:ext cx="4572000" cy="411480"/>
          </a:xfrm>
          <a:prstGeom prst="rect">
            <a:avLst/>
          </a:prstGeom>
          <a:noFill/>
        </p:spPr>
        <p:txBody>
          <a:bodyPr wrap="square" lIns="0" rIns="0" tIns="0" bIns="0" anchor="t">
            <a:spAutoFit/>
          </a:bodyPr>
          <a:lstStyle/>
          <a:p>
            <a:pPr algn="l"/>
            <a:r>
              <a:rPr sz="2200" b="1" i="0">
                <a:solidFill>
                  <a:srgbClr val="5FD4B0"/>
                </a:solidFill>
                <a:latin typeface="Cambria"/>
              </a:rPr>
              <a:t>Conclusion</a:t>
            </a:r>
          </a:p>
        </p:txBody>
      </p:sp>
      <p:sp>
        <p:nvSpPr>
          <p:cNvPr id="11" name="TextBox 10"/>
          <p:cNvSpPr txBox="1"/>
          <p:nvPr/>
        </p:nvSpPr>
        <p:spPr>
          <a:xfrm>
            <a:off x="6629400" y="2468880"/>
            <a:ext cx="4663440" cy="3474720"/>
          </a:xfrm>
          <a:prstGeom prst="rect">
            <a:avLst/>
          </a:prstGeom>
          <a:noFill/>
        </p:spPr>
        <p:txBody>
          <a:bodyPr wrap="square" lIns="0" rIns="0" tIns="0" bIns="0">
            <a:spAutoFit/>
          </a:bodyPr>
          <a:lstStyle/>
          <a:p>
            <a:pPr marL="256032" indent="-256032">
              <a:buClr>
                <a:srgbClr val="5FD4B0"/>
              </a:buClr>
              <a:buFont typeface="Arial"/>
              <a:buChar char="•"/>
            </a:pPr>
            <a:r>
              <a:rPr sz="1700">
                <a:solidFill>
                  <a:srgbClr val="FFFFFF"/>
                </a:solidFill>
                <a:latin typeface="Calibri"/>
              </a:rPr>
              <a:t>Real threads reproduce circular wait on demand, from 2 to 32 threads</a:t>
            </a:r>
          </a:p>
          <a:p>
            <a:pPr marL="256032" indent="-256032">
              <a:spcBef>
                <a:spcPts val="1200"/>
              </a:spcBef>
              <a:buClr>
                <a:srgbClr val="5FD4B0"/>
              </a:buClr>
              <a:buFont typeface="Arial"/>
              <a:buChar char="•"/>
            </a:pPr>
            <a:r>
              <a:rPr sz="1700">
                <a:solidFill>
                  <a:srgbClr val="FFFFFF"/>
                </a:solidFill>
                <a:latin typeface="Calibri"/>
              </a:rPr>
              <a:t>A Wait-For Graph confirms it; the score warns before it in the staged case</a:t>
            </a:r>
          </a:p>
          <a:p>
            <a:pPr marL="256032" indent="-256032">
              <a:spcBef>
                <a:spcPts val="1200"/>
              </a:spcBef>
              <a:buClr>
                <a:srgbClr val="5FD4B0"/>
              </a:buClr>
              <a:buFont typeface="Arial"/>
              <a:buChar char="•"/>
            </a:pPr>
            <a:r>
              <a:rPr sz="1700">
                <a:solidFill>
                  <a:srgbClr val="FFFFFF"/>
                </a:solidFill>
                <a:latin typeface="Calibri"/>
              </a:rPr>
              <a:t>A global lock order prevents it; aborting one victim recovers from it</a:t>
            </a:r>
          </a:p>
          <a:p>
            <a:pPr marL="256032" indent="-256032">
              <a:spcBef>
                <a:spcPts val="1200"/>
              </a:spcBef>
              <a:buClr>
                <a:srgbClr val="5FD4B0"/>
              </a:buClr>
              <a:buFont typeface="Arial"/>
              <a:buChar char="•"/>
            </a:pPr>
            <a:r>
              <a:rPr sz="1700">
                <a:solidFill>
                  <a:srgbClr val="FFFFFF"/>
                </a:solidFill>
                <a:latin typeface="Calibri"/>
              </a:rPr>
              <a:t>Every claim is backed by saved, repeatable measurements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20"/>
        </a:solidFill>
        <a:effectLst/>
      </p:bgPr>
    </p:bg>
    <p:spTree>
      <p:nvGrpSpPr>
        <p:cNvPr id="1" name=""/>
        <p:cNvGrpSpPr/>
        <p:nvPr/>
      </p:nvGrpSpPr>
      <p:grpSpPr/>
      <p:sp>
        <p:nvSpPr>
          <p:cNvPr id="2" name="TextBox 1"/>
          <p:cNvSpPr txBox="1"/>
          <p:nvPr/>
        </p:nvSpPr>
        <p:spPr>
          <a:xfrm>
            <a:off x="548640" y="347472"/>
            <a:ext cx="11064240" cy="274320"/>
          </a:xfrm>
          <a:prstGeom prst="rect">
            <a:avLst/>
          </a:prstGeom>
          <a:noFill/>
        </p:spPr>
        <p:txBody>
          <a:bodyPr wrap="square" lIns="0" rIns="0" tIns="0" bIns="0" anchor="t">
            <a:spAutoFit/>
          </a:bodyPr>
          <a:lstStyle/>
          <a:p>
            <a:pPr algn="l"/>
            <a:r>
              <a:rPr sz="1200" b="1" i="0">
                <a:solidFill>
                  <a:srgbClr val="B8C4D4"/>
                </a:solidFill>
                <a:latin typeface="Calibri"/>
              </a:rPr>
              <a:t>PROJECT</a:t>
            </a:r>
          </a:p>
        </p:txBody>
      </p:sp>
      <p:sp>
        <p:nvSpPr>
          <p:cNvPr id="3" name="TextBox 2"/>
          <p:cNvSpPr txBox="1"/>
          <p:nvPr/>
        </p:nvSpPr>
        <p:spPr>
          <a:xfrm>
            <a:off x="548640" y="621792"/>
            <a:ext cx="11064240" cy="731520"/>
          </a:xfrm>
          <a:prstGeom prst="rect">
            <a:avLst/>
          </a:prstGeom>
          <a:noFill/>
        </p:spPr>
        <p:txBody>
          <a:bodyPr wrap="square" lIns="0" rIns="0" tIns="0" bIns="0" anchor="t">
            <a:spAutoFit/>
          </a:bodyPr>
          <a:lstStyle/>
          <a:p>
            <a:pPr algn="l"/>
            <a:r>
              <a:rPr sz="3200" b="1" i="0">
                <a:solidFill>
                  <a:srgbClr val="FFFFFF"/>
                </a:solidFill>
                <a:latin typeface="Cambria"/>
              </a:rPr>
              <a:t>Team roles and testing</a:t>
            </a:r>
          </a:p>
        </p:txBody>
      </p:sp>
      <p:sp>
        <p:nvSpPr>
          <p:cNvPr id="4" name="TextBox 3"/>
          <p:cNvSpPr txBox="1"/>
          <p:nvPr/>
        </p:nvSpPr>
        <p:spPr>
          <a:xfrm>
            <a:off x="548640" y="6419088"/>
            <a:ext cx="7315200" cy="274320"/>
          </a:xfrm>
          <a:prstGeom prst="rect">
            <a:avLst/>
          </a:prstGeom>
          <a:noFill/>
        </p:spPr>
        <p:txBody>
          <a:bodyPr wrap="square" lIns="0" rIns="0" tIns="0" bIns="0" anchor="t">
            <a:spAutoFit/>
          </a:bodyPr>
          <a:lstStyle/>
          <a:p>
            <a:pPr algn="l"/>
            <a:r>
              <a:rPr sz="1000" b="0" i="0">
                <a:solidFill>
                  <a:srgbClr val="B8C4D4"/>
                </a:solidFill>
                <a:latin typeface="Calibri"/>
              </a:rPr>
              <a:t>Predictive Deadlock Lab · Operating Systems case study</a:t>
            </a:r>
          </a:p>
        </p:txBody>
      </p:sp>
      <p:sp>
        <p:nvSpPr>
          <p:cNvPr id="5" name="TextBox 4"/>
          <p:cNvSpPr txBox="1"/>
          <p:nvPr/>
        </p:nvSpPr>
        <p:spPr>
          <a:xfrm>
            <a:off x="11183112" y="6419088"/>
            <a:ext cx="457200" cy="274320"/>
          </a:xfrm>
          <a:prstGeom prst="rect">
            <a:avLst/>
          </a:prstGeom>
          <a:noFill/>
        </p:spPr>
        <p:txBody>
          <a:bodyPr wrap="square" lIns="0" rIns="0" tIns="0" bIns="0" anchor="t">
            <a:spAutoFit/>
          </a:bodyPr>
          <a:lstStyle/>
          <a:p>
            <a:pPr algn="r"/>
            <a:r>
              <a:rPr sz="1000" b="0" i="0">
                <a:solidFill>
                  <a:srgbClr val="B8C4D4"/>
                </a:solidFill>
                <a:latin typeface="Calibri"/>
              </a:rPr>
              <a:t>14</a:t>
            </a:r>
          </a:p>
        </p:txBody>
      </p:sp>
      <p:sp>
        <p:nvSpPr>
          <p:cNvPr id="6" name="Rounded Rectangle 5"/>
          <p:cNvSpPr/>
          <p:nvPr/>
        </p:nvSpPr>
        <p:spPr>
          <a:xfrm>
            <a:off x="548640" y="1600200"/>
            <a:ext cx="3520440" cy="2240280"/>
          </a:xfrm>
          <a:prstGeom prst="roundRect">
            <a:avLst>
              <a:gd name="adj" fmla="val 8000"/>
            </a:avLst>
          </a:prstGeom>
          <a:solidFill>
            <a:srgbClr val="17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1828800"/>
            <a:ext cx="594360" cy="594360"/>
          </a:xfrm>
          <a:prstGeom prst="ellipse">
            <a:avLst/>
          </a:prstGeom>
          <a:solidFill>
            <a:srgbClr val="2F6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M</a:t>
            </a:r>
          </a:p>
        </p:txBody>
      </p:sp>
      <p:sp>
        <p:nvSpPr>
          <p:cNvPr id="8" name="TextBox 7"/>
          <p:cNvSpPr txBox="1"/>
          <p:nvPr/>
        </p:nvSpPr>
        <p:spPr>
          <a:xfrm>
            <a:off x="868680" y="2578608"/>
            <a:ext cx="2926080" cy="411480"/>
          </a:xfrm>
          <a:prstGeom prst="rect">
            <a:avLst/>
          </a:prstGeom>
          <a:noFill/>
        </p:spPr>
        <p:txBody>
          <a:bodyPr wrap="square" lIns="0" rIns="0" tIns="0" bIns="0" anchor="t">
            <a:spAutoFit/>
          </a:bodyPr>
          <a:lstStyle/>
          <a:p>
            <a:pPr algn="l"/>
            <a:r>
              <a:rPr sz="1800" b="1" i="0">
                <a:solidFill>
                  <a:srgbClr val="FFFFFF"/>
                </a:solidFill>
                <a:latin typeface="Cambria"/>
              </a:rPr>
              <a:t>Midhun Gereketi</a:t>
            </a:r>
          </a:p>
        </p:txBody>
      </p:sp>
      <p:sp>
        <p:nvSpPr>
          <p:cNvPr id="9" name="TextBox 8"/>
          <p:cNvSpPr txBox="1"/>
          <p:nvPr/>
        </p:nvSpPr>
        <p:spPr>
          <a:xfrm>
            <a:off x="868680" y="3017520"/>
            <a:ext cx="2926080" cy="777240"/>
          </a:xfrm>
          <a:prstGeom prst="rect">
            <a:avLst/>
          </a:prstGeom>
          <a:noFill/>
        </p:spPr>
        <p:txBody>
          <a:bodyPr wrap="square" lIns="0" rIns="0" tIns="0" bIns="0" anchor="t">
            <a:spAutoFit/>
          </a:bodyPr>
          <a:lstStyle/>
          <a:p>
            <a:pPr algn="l"/>
            <a:r>
              <a:rPr sz="1300" b="0" i="0">
                <a:solidFill>
                  <a:srgbClr val="B8C4D4"/>
                </a:solidFill>
                <a:latin typeface="Calibri"/>
              </a:rPr>
              <a:t>Dashboard, replay, Analysis and Compare views, integration, deployment, documentation</a:t>
            </a:r>
          </a:p>
        </p:txBody>
      </p:sp>
      <p:sp>
        <p:nvSpPr>
          <p:cNvPr id="10" name="Rounded Rectangle 9"/>
          <p:cNvSpPr/>
          <p:nvPr/>
        </p:nvSpPr>
        <p:spPr>
          <a:xfrm>
            <a:off x="4297679" y="1600200"/>
            <a:ext cx="3520440" cy="2240280"/>
          </a:xfrm>
          <a:prstGeom prst="roundRect">
            <a:avLst>
              <a:gd name="adj" fmla="val 8000"/>
            </a:avLst>
          </a:prstGeom>
          <a:solidFill>
            <a:srgbClr val="17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1828800"/>
            <a:ext cx="594360" cy="594360"/>
          </a:xfrm>
          <a:prstGeom prst="ellipse">
            <a:avLst/>
          </a:prstGeom>
          <a:solidFill>
            <a:srgbClr val="2F6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S</a:t>
            </a:r>
          </a:p>
        </p:txBody>
      </p:sp>
      <p:sp>
        <p:nvSpPr>
          <p:cNvPr id="12" name="TextBox 11"/>
          <p:cNvSpPr txBox="1"/>
          <p:nvPr/>
        </p:nvSpPr>
        <p:spPr>
          <a:xfrm>
            <a:off x="4617719" y="2578608"/>
            <a:ext cx="2926080" cy="411480"/>
          </a:xfrm>
          <a:prstGeom prst="rect">
            <a:avLst/>
          </a:prstGeom>
          <a:noFill/>
        </p:spPr>
        <p:txBody>
          <a:bodyPr wrap="square" lIns="0" rIns="0" tIns="0" bIns="0" anchor="t">
            <a:spAutoFit/>
          </a:bodyPr>
          <a:lstStyle/>
          <a:p>
            <a:pPr algn="l"/>
            <a:r>
              <a:rPr sz="1800" b="1" i="0">
                <a:solidFill>
                  <a:srgbClr val="FFFFFF"/>
                </a:solidFill>
                <a:latin typeface="Cambria"/>
              </a:rPr>
              <a:t>P. Satya Mani Shraavanth</a:t>
            </a:r>
          </a:p>
        </p:txBody>
      </p:sp>
      <p:sp>
        <p:nvSpPr>
          <p:cNvPr id="13" name="TextBox 12"/>
          <p:cNvSpPr txBox="1"/>
          <p:nvPr/>
        </p:nvSpPr>
        <p:spPr>
          <a:xfrm>
            <a:off x="4617719" y="3017520"/>
            <a:ext cx="2926080" cy="777240"/>
          </a:xfrm>
          <a:prstGeom prst="rect">
            <a:avLst/>
          </a:prstGeom>
          <a:noFill/>
        </p:spPr>
        <p:txBody>
          <a:bodyPr wrap="square" lIns="0" rIns="0" tIns="0" bIns="0" anchor="t">
            <a:spAutoFit/>
          </a:bodyPr>
          <a:lstStyle/>
          <a:p>
            <a:pPr algn="l"/>
            <a:r>
              <a:rPr sz="1300" b="0" i="0">
                <a:solidFill>
                  <a:srgbClr val="B8C4D4"/>
                </a:solidFill>
                <a:latin typeface="Calibri"/>
              </a:rPr>
              <a:t>Threaded experiments, lock manager, protected policy, N-thread ring and recovery, REST API</a:t>
            </a:r>
          </a:p>
        </p:txBody>
      </p:sp>
      <p:sp>
        <p:nvSpPr>
          <p:cNvPr id="14" name="Rounded Rectangle 13"/>
          <p:cNvSpPr/>
          <p:nvPr/>
        </p:nvSpPr>
        <p:spPr>
          <a:xfrm>
            <a:off x="8046719" y="1600200"/>
            <a:ext cx="3520440" cy="2240280"/>
          </a:xfrm>
          <a:prstGeom prst="roundRect">
            <a:avLst>
              <a:gd name="adj" fmla="val 8000"/>
            </a:avLst>
          </a:prstGeom>
          <a:solidFill>
            <a:srgbClr val="1720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66759" y="1828800"/>
            <a:ext cx="594360" cy="594360"/>
          </a:xfrm>
          <a:prstGeom prst="ellipse">
            <a:avLst/>
          </a:prstGeom>
          <a:solidFill>
            <a:srgbClr val="2F6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M</a:t>
            </a:r>
          </a:p>
        </p:txBody>
      </p:sp>
      <p:sp>
        <p:nvSpPr>
          <p:cNvPr id="16" name="TextBox 15"/>
          <p:cNvSpPr txBox="1"/>
          <p:nvPr/>
        </p:nvSpPr>
        <p:spPr>
          <a:xfrm>
            <a:off x="8366759" y="2578608"/>
            <a:ext cx="2926080" cy="411480"/>
          </a:xfrm>
          <a:prstGeom prst="rect">
            <a:avLst/>
          </a:prstGeom>
          <a:noFill/>
        </p:spPr>
        <p:txBody>
          <a:bodyPr wrap="square" lIns="0" rIns="0" tIns="0" bIns="0" anchor="t">
            <a:spAutoFit/>
          </a:bodyPr>
          <a:lstStyle/>
          <a:p>
            <a:pPr algn="l"/>
            <a:r>
              <a:rPr sz="1800" b="1" i="0">
                <a:solidFill>
                  <a:srgbClr val="FFFFFF"/>
                </a:solidFill>
                <a:latin typeface="Cambria"/>
              </a:rPr>
              <a:t>M. Lakshman Sai</a:t>
            </a:r>
          </a:p>
        </p:txBody>
      </p:sp>
      <p:sp>
        <p:nvSpPr>
          <p:cNvPr id="17" name="TextBox 16"/>
          <p:cNvSpPr txBox="1"/>
          <p:nvPr/>
        </p:nvSpPr>
        <p:spPr>
          <a:xfrm>
            <a:off x="8366759" y="3017520"/>
            <a:ext cx="2926080" cy="777240"/>
          </a:xfrm>
          <a:prstGeom prst="rect">
            <a:avLst/>
          </a:prstGeom>
          <a:noFill/>
        </p:spPr>
        <p:txBody>
          <a:bodyPr wrap="square" lIns="0" rIns="0" tIns="0" bIns="0" anchor="t">
            <a:spAutoFit/>
          </a:bodyPr>
          <a:lstStyle/>
          <a:p>
            <a:pPr algn="l"/>
            <a:r>
              <a:rPr sz="1300" b="0" i="0">
                <a:solidFill>
                  <a:srgbClr val="B8C4D4"/>
                </a:solidFill>
                <a:latin typeface="Calibri"/>
              </a:rPr>
              <a:t>Wait-For Graph, risk score, trend and heatmap analysis, repeated-trial evaluation</a:t>
            </a:r>
          </a:p>
        </p:txBody>
      </p:sp>
      <p:sp>
        <p:nvSpPr>
          <p:cNvPr id="18" name="TextBox 17"/>
          <p:cNvSpPr txBox="1"/>
          <p:nvPr/>
        </p:nvSpPr>
        <p:spPr>
          <a:xfrm>
            <a:off x="548640" y="4206240"/>
            <a:ext cx="1188720" cy="822960"/>
          </a:xfrm>
          <a:prstGeom prst="rect">
            <a:avLst/>
          </a:prstGeom>
          <a:noFill/>
        </p:spPr>
        <p:txBody>
          <a:bodyPr wrap="square" lIns="0" rIns="0" tIns="0" bIns="0" anchor="t">
            <a:spAutoFit/>
          </a:bodyPr>
          <a:lstStyle/>
          <a:p>
            <a:pPr algn="l"/>
            <a:r>
              <a:rPr sz="4000" b="1" i="0">
                <a:solidFill>
                  <a:srgbClr val="5FD4B0"/>
                </a:solidFill>
                <a:latin typeface="Cambria"/>
              </a:rPr>
              <a:t>59</a:t>
            </a:r>
          </a:p>
        </p:txBody>
      </p:sp>
      <p:sp>
        <p:nvSpPr>
          <p:cNvPr id="19" name="TextBox 18"/>
          <p:cNvSpPr txBox="1"/>
          <p:nvPr/>
        </p:nvSpPr>
        <p:spPr>
          <a:xfrm>
            <a:off x="1783080" y="4224528"/>
            <a:ext cx="2286000" cy="1371600"/>
          </a:xfrm>
          <a:prstGeom prst="rect">
            <a:avLst/>
          </a:prstGeom>
          <a:noFill/>
        </p:spPr>
        <p:txBody>
          <a:bodyPr wrap="square" lIns="0" rIns="0" tIns="0" bIns="0" anchor="t">
            <a:spAutoFit/>
          </a:bodyPr>
          <a:lstStyle/>
          <a:p>
            <a:pPr algn="l"/>
            <a:r>
              <a:rPr sz="1300" b="0" i="0">
                <a:solidFill>
                  <a:srgbClr val="B8C4D4"/>
                </a:solidFill>
                <a:latin typeface="Calibri"/>
              </a:rPr>
              <a:t>Python tests: experiments, API, ring, scoring consistency and isolation</a:t>
            </a:r>
          </a:p>
        </p:txBody>
      </p:sp>
      <p:sp>
        <p:nvSpPr>
          <p:cNvPr id="20" name="TextBox 19"/>
          <p:cNvSpPr txBox="1"/>
          <p:nvPr/>
        </p:nvSpPr>
        <p:spPr>
          <a:xfrm>
            <a:off x="4297679" y="4206240"/>
            <a:ext cx="1188720" cy="822960"/>
          </a:xfrm>
          <a:prstGeom prst="rect">
            <a:avLst/>
          </a:prstGeom>
          <a:noFill/>
        </p:spPr>
        <p:txBody>
          <a:bodyPr wrap="square" lIns="0" rIns="0" tIns="0" bIns="0" anchor="t">
            <a:spAutoFit/>
          </a:bodyPr>
          <a:lstStyle/>
          <a:p>
            <a:pPr algn="l"/>
            <a:r>
              <a:rPr sz="4000" b="1" i="0">
                <a:solidFill>
                  <a:srgbClr val="5FD4B0"/>
                </a:solidFill>
                <a:latin typeface="Cambria"/>
              </a:rPr>
              <a:t>6</a:t>
            </a:r>
          </a:p>
        </p:txBody>
      </p:sp>
      <p:sp>
        <p:nvSpPr>
          <p:cNvPr id="21" name="TextBox 20"/>
          <p:cNvSpPr txBox="1"/>
          <p:nvPr/>
        </p:nvSpPr>
        <p:spPr>
          <a:xfrm>
            <a:off x="5532119" y="4224528"/>
            <a:ext cx="2286000" cy="1371600"/>
          </a:xfrm>
          <a:prstGeom prst="rect">
            <a:avLst/>
          </a:prstGeom>
          <a:noFill/>
        </p:spPr>
        <p:txBody>
          <a:bodyPr wrap="square" lIns="0" rIns="0" tIns="0" bIns="0" anchor="t">
            <a:spAutoFit/>
          </a:bodyPr>
          <a:lstStyle/>
          <a:p>
            <a:pPr algn="l"/>
            <a:r>
              <a:rPr sz="1300" b="0" i="0">
                <a:solidFill>
                  <a:srgbClr val="B8C4D4"/>
                </a:solidFill>
                <a:latin typeface="Calibri"/>
              </a:rPr>
              <a:t>Node tests: trial contract and browser scoring</a:t>
            </a:r>
          </a:p>
        </p:txBody>
      </p:sp>
      <p:sp>
        <p:nvSpPr>
          <p:cNvPr id="22" name="TextBox 21"/>
          <p:cNvSpPr txBox="1"/>
          <p:nvPr/>
        </p:nvSpPr>
        <p:spPr>
          <a:xfrm>
            <a:off x="8046719" y="4206240"/>
            <a:ext cx="1188720" cy="822960"/>
          </a:xfrm>
          <a:prstGeom prst="rect">
            <a:avLst/>
          </a:prstGeom>
          <a:noFill/>
        </p:spPr>
        <p:txBody>
          <a:bodyPr wrap="square" lIns="0" rIns="0" tIns="0" bIns="0" anchor="t">
            <a:spAutoFit/>
          </a:bodyPr>
          <a:lstStyle/>
          <a:p>
            <a:pPr algn="l"/>
            <a:r>
              <a:rPr sz="4000" b="1" i="0">
                <a:solidFill>
                  <a:srgbClr val="5FD4B0"/>
                </a:solidFill>
                <a:latin typeface="Cambria"/>
              </a:rPr>
              <a:t>8</a:t>
            </a:r>
          </a:p>
        </p:txBody>
      </p:sp>
      <p:sp>
        <p:nvSpPr>
          <p:cNvPr id="23" name="TextBox 22"/>
          <p:cNvSpPr txBox="1"/>
          <p:nvPr/>
        </p:nvSpPr>
        <p:spPr>
          <a:xfrm>
            <a:off x="9281159" y="4224528"/>
            <a:ext cx="2286000" cy="1371600"/>
          </a:xfrm>
          <a:prstGeom prst="rect">
            <a:avLst/>
          </a:prstGeom>
          <a:noFill/>
        </p:spPr>
        <p:txBody>
          <a:bodyPr wrap="square" lIns="0" rIns="0" tIns="0" bIns="0" anchor="t">
            <a:spAutoFit/>
          </a:bodyPr>
          <a:lstStyle/>
          <a:p>
            <a:pPr algn="l"/>
            <a:r>
              <a:rPr sz="1300" b="0" i="0">
                <a:solidFill>
                  <a:srgbClr val="B8C4D4"/>
                </a:solidFill>
                <a:latin typeface="Calibri"/>
              </a:rPr>
              <a:t>Browser tests with a real server: tabs, tuning, privacy, both modes, scaling, errors, CSV</a:t>
            </a:r>
          </a:p>
        </p:txBody>
      </p:sp>
      <p:sp>
        <p:nvSpPr>
          <p:cNvPr id="24" name="TextBox 23"/>
          <p:cNvSpPr txBox="1"/>
          <p:nvPr/>
        </p:nvSpPr>
        <p:spPr>
          <a:xfrm>
            <a:off x="548640" y="5806440"/>
            <a:ext cx="11064240" cy="365760"/>
          </a:xfrm>
          <a:prstGeom prst="rect">
            <a:avLst/>
          </a:prstGeom>
          <a:noFill/>
        </p:spPr>
        <p:txBody>
          <a:bodyPr wrap="square" lIns="0" rIns="0" tIns="0" bIns="0" anchor="t">
            <a:spAutoFit/>
          </a:bodyPr>
          <a:lstStyle/>
          <a:p>
            <a:pPr algn="l"/>
            <a:r>
              <a:rPr sz="1500" b="1" i="0">
                <a:solidFill>
                  <a:srgbClr val="FFFFFF"/>
                </a:solidFill>
                <a:latin typeface="Calibri"/>
              </a:rPr>
              <a:t>github.com/midhungereketi/predictive-deadlock-lab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