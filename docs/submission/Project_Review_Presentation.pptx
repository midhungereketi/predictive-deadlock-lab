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Vulnerable: detection + recovery (mean ms)</c:v>
                </c:pt>
              </c:strCache>
            </c:strRef>
          </c:tx>
          <c:spPr>
            <a:ln w="28575">
              <a:solidFill>
                <a:srgbClr val="C83A50"/>
              </a:solidFill>
            </a:ln>
          </c:spPr>
          <c:marker>
            <c:symbol val="circle"/>
            <c:size val="8"/>
            <c:spPr>
              <a:solidFill>
                <a:srgbClr val="C83A50"/>
              </a:solidFill>
              <a:ln>
                <a:solidFill>
                  <a:srgbClr val="C83A5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45.4</c:v>
                </c:pt>
                <c:pt idx="1">
                  <c:v>107.2</c:v>
                </c:pt>
                <c:pt idx="2">
                  <c:v>229.4</c:v>
                </c:pt>
                <c:pt idx="3">
                  <c:v>473</c:v>
                </c:pt>
                <c:pt idx="4">
                  <c:v>967.8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Protected: completion (mean ms)</c:v>
                </c:pt>
              </c:strCache>
            </c:strRef>
          </c:tx>
          <c:spPr>
            <a:ln w="28575">
              <a:solidFill>
                <a:srgbClr val="178F6E"/>
              </a:solidFill>
            </a:ln>
          </c:spPr>
          <c:marker>
            <c:symbol val="circle"/>
            <c:size val="8"/>
            <c:spPr>
              <a:solidFill>
                <a:srgbClr val="178F6E"/>
              </a:solidFill>
              <a:ln>
                <a:solidFill>
                  <a:srgbClr val="178F6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61.9</c:v>
                </c:pt>
                <c:pt idx="1">
                  <c:v>68.6</c:v>
                </c:pt>
                <c:pt idx="2">
                  <c:v>93.9</c:v>
                </c:pt>
                <c:pt idx="3">
                  <c:v>92.3</c:v>
                </c:pt>
                <c:pt idx="4">
                  <c:v>95.6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8"/>
                    </a:solidFill>
                    <a:latin typeface="Calibri"/>
                  </a:rPr>
                  <a:t>threads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8"/>
                    </a:solidFill>
                    <a:latin typeface="Calibri"/>
                  </a:rPr>
                  <a:t>milliseconds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the whole project in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deadlock and the four Coffman conditions; motivate with real-world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Papers are verified against publisher, conference, arXiv or DBLP records. The drawback column is our assessment of each paper's scope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Papers are verified against publisher, conference, arXiv or DBLP records. The drawback column is our assessment of each paper's scope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Papers are verified against publisher, conference, arXiv or DBLP records. The drawback column is our assessment of each paper's scope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Papers are verified against publisher, conference, arXiv or DBLP records. The drawback column is our assessment of each paper's scope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Papers are verified against publisher, conference, arXiv or DBLP records. The drawback column is our assessment of each paper's scope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Papers are verified against publisher, conference, arXiv or DBLP records. The drawback column is our assessment of each paper's scope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problem precisely and what is in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gap is tied to the reviewed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Classical OS approaches and current tools, and their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objective maps to a module and a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experiments, one scoring engine, prevention and recovery, one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Stateless FastAPI backend; each request runs its own bounded experiment and builds its own scorer.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modules and who built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backend trial: the score crossed 70 before the cycle 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live run of each mode, then repeated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8 threads in one cycle at detection. Right: 12 protected threads queue but never form a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trials per size and mode. Vulnerable time includes detection and recovery; protected time is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Analysis view of a live vulnerable trial: score per event, first warning, deadlock and lead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Per-factor breakdown of the selected event, and the weight tuner, whose values stay in that visitor's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main results and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 7th edition, alphabetical by first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 7th edition, alphabetical by first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 7th edition, alphabetical by first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 7th edition, alphabetical by first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questions; offer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8C4D4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C4D4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C4D4"/>
                </a:solidFill>
                <a:latin typeface="Calibri"/>
              </a:rPr>
              <a:t>OPERATING SYSTEMS · BCSE303L ·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949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Predictive Deadlock Prevention Using Contention Analysis and Score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B8C4D4"/>
                </a:solidFill>
                <a:latin typeface="Calibri"/>
              </a:rPr>
              <a:t>Real operating-system threads · Wait-For Graph detection · early-warning score · lock ordering · victim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Midhun Gereketi</a:t>
            </a:r>
            <a:r>
              <a:rPr sz="1600" b="0" i="0">
                <a:solidFill>
                  <a:srgbClr val="B8C4D4"/>
                </a:solidFill>
                <a:latin typeface="Calibri"/>
              </a:rPr>
              <a:t>  ·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P. Satya Mani Shraavanth</a:t>
            </a:r>
            <a:r>
              <a:rPr sz="1600" b="0" i="0">
                <a:solidFill>
                  <a:srgbClr val="B8C4D4"/>
                </a:solidFill>
                <a:latin typeface="Calibri"/>
              </a:rPr>
              <a:t>  ·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M. Lakshman 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D4B0"/>
                </a:solidFill>
                <a:latin typeface="Calibri"/>
              </a:rPr>
              <a:t>Live: predictive-deadlock-lab.vercel.app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96635" y="1837943"/>
            <a:ext cx="696866" cy="402336"/>
          </a:xfrm>
          <a:prstGeom prst="line">
            <a:avLst/>
          </a:prstGeom>
          <a:ln w="31750">
            <a:solidFill>
              <a:srgbClr val="C83A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849853" y="2830068"/>
            <a:ext cx="0" cy="804671"/>
          </a:xfrm>
          <a:prstGeom prst="line">
            <a:avLst/>
          </a:prstGeom>
          <a:ln w="31750">
            <a:solidFill>
              <a:srgbClr val="C83A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820392" y="4238244"/>
            <a:ext cx="696866" cy="402336"/>
          </a:xfrm>
          <a:prstGeom prst="line">
            <a:avLst/>
          </a:prstGeom>
          <a:ln w="31750">
            <a:solidFill>
              <a:srgbClr val="C83A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8434578" y="4251960"/>
            <a:ext cx="696866" cy="402336"/>
          </a:xfrm>
          <a:prstGeom prst="line">
            <a:avLst/>
          </a:prstGeom>
          <a:ln w="31750">
            <a:solidFill>
              <a:srgbClr val="C83A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078226" y="2857500"/>
            <a:ext cx="0" cy="804672"/>
          </a:xfrm>
          <a:prstGeom prst="line">
            <a:avLst/>
          </a:prstGeom>
          <a:ln w="31750">
            <a:solidFill>
              <a:srgbClr val="C83A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410821" y="1851660"/>
            <a:ext cx="696866" cy="402336"/>
          </a:xfrm>
          <a:prstGeom prst="line">
            <a:avLst/>
          </a:prstGeom>
          <a:ln w="31750">
            <a:solidFill>
              <a:srgbClr val="C83A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34856" y="1316736"/>
            <a:ext cx="658368" cy="658368"/>
          </a:xfrm>
          <a:prstGeom prst="ellipse">
            <a:avLst/>
          </a:prstGeom>
          <a:solidFill>
            <a:srgbClr val="3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B3C0"/>
                </a:solidFill>
                <a:latin typeface="Calibri"/>
              </a:rPr>
              <a:t>T1</a:t>
            </a:r>
          </a:p>
        </p:txBody>
      </p:sp>
      <p:sp>
        <p:nvSpPr>
          <p:cNvPr id="16" name="Oval 15"/>
          <p:cNvSpPr/>
          <p:nvPr/>
        </p:nvSpPr>
        <p:spPr>
          <a:xfrm>
            <a:off x="10520669" y="2116836"/>
            <a:ext cx="658368" cy="658368"/>
          </a:xfrm>
          <a:prstGeom prst="ellipse">
            <a:avLst/>
          </a:prstGeom>
          <a:solidFill>
            <a:srgbClr val="3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B3C0"/>
                </a:solidFill>
                <a:latin typeface="Calibri"/>
              </a:rPr>
              <a:t>T2</a:t>
            </a:r>
          </a:p>
        </p:txBody>
      </p:sp>
      <p:sp>
        <p:nvSpPr>
          <p:cNvPr id="17" name="Oval 16"/>
          <p:cNvSpPr/>
          <p:nvPr/>
        </p:nvSpPr>
        <p:spPr>
          <a:xfrm>
            <a:off x="10520669" y="3717035"/>
            <a:ext cx="658368" cy="658368"/>
          </a:xfrm>
          <a:prstGeom prst="ellipse">
            <a:avLst/>
          </a:prstGeom>
          <a:solidFill>
            <a:srgbClr val="3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B3C0"/>
                </a:solidFill>
                <a:latin typeface="Calibri"/>
              </a:rPr>
              <a:t>T3</a:t>
            </a:r>
          </a:p>
        </p:txBody>
      </p:sp>
      <p:sp>
        <p:nvSpPr>
          <p:cNvPr id="18" name="Oval 17"/>
          <p:cNvSpPr/>
          <p:nvPr/>
        </p:nvSpPr>
        <p:spPr>
          <a:xfrm>
            <a:off x="9134856" y="4517136"/>
            <a:ext cx="658368" cy="658368"/>
          </a:xfrm>
          <a:prstGeom prst="ellipse">
            <a:avLst/>
          </a:prstGeom>
          <a:solidFill>
            <a:srgbClr val="3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B3C0"/>
                </a:solidFill>
                <a:latin typeface="Calibri"/>
              </a:rPr>
              <a:t>T4</a:t>
            </a:r>
          </a:p>
        </p:txBody>
      </p:sp>
      <p:sp>
        <p:nvSpPr>
          <p:cNvPr id="19" name="Oval 18"/>
          <p:cNvSpPr/>
          <p:nvPr/>
        </p:nvSpPr>
        <p:spPr>
          <a:xfrm>
            <a:off x="7749042" y="3717036"/>
            <a:ext cx="658368" cy="658368"/>
          </a:xfrm>
          <a:prstGeom prst="ellipse">
            <a:avLst/>
          </a:prstGeom>
          <a:solidFill>
            <a:srgbClr val="3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B3C0"/>
                </a:solidFill>
                <a:latin typeface="Calibri"/>
              </a:rPr>
              <a:t>T5</a:t>
            </a:r>
          </a:p>
        </p:txBody>
      </p:sp>
      <p:sp>
        <p:nvSpPr>
          <p:cNvPr id="20" name="Oval 19"/>
          <p:cNvSpPr/>
          <p:nvPr/>
        </p:nvSpPr>
        <p:spPr>
          <a:xfrm>
            <a:off x="7749042" y="2116836"/>
            <a:ext cx="658368" cy="658368"/>
          </a:xfrm>
          <a:prstGeom prst="ellipse">
            <a:avLst/>
          </a:prstGeom>
          <a:solidFill>
            <a:srgbClr val="3A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B3C0"/>
                </a:solidFill>
                <a:latin typeface="Calibri"/>
              </a:rPr>
              <a:t>T6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9AAA"/>
                </a:solidFill>
                <a:latin typeface="Calibri"/>
              </a:rPr>
              <a:t>circular wait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01 ·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9494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33"/>
                </a:solidFill>
                <a:latin typeface="Calibri"/>
              </a:rPr>
              <a:t>Deadlocks freeze concurrent programs when threads wait for each other in a circle. This project builds controlled deadlocks with real operating-system threads and studies how to detect, warn about, prevent and recover from them.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1B2433"/>
                </a:solidFill>
                <a:latin typeface="Calibri"/>
              </a:rPr>
              <a:t>A two-thread experiment (T1: A→B, T2: B→A) forms a cycle that a Wait-For Graph confirms, while a transparent 0–100 risk score raises an early warning before the cycle closes. Protected mode learns one global lock order and always completes. A configurable ring of 2–32 threads forms a cycle through every thread; a supervisor detects it and recovers by aborting one victim thread.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1B2433"/>
                </a:solidFill>
                <a:latin typeface="Calibri"/>
              </a:rPr>
              <a:t>A web dashboard replays every run and explains, compares and exports the results. The warning is a documented heuristic evaluated in a controlled experiment, not a predictor for arbitrary programs.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00200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916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83A50"/>
                </a:solidFill>
                <a:latin typeface="Cambria"/>
              </a:rPr>
              <a:t>20/20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317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two-thread vulnerable runs deadlocked (saved + new sets)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063240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154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78414"/>
                </a:solidFill>
                <a:latin typeface="Cambria"/>
              </a:rPr>
              <a:t>121.6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mean warning before the deadlock (new set)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526280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617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8F6E"/>
                </a:solidFill>
                <a:latin typeface="Cambria"/>
              </a:rPr>
              <a:t>50/50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2578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protected ring runs (2–32 threads) completed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02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Introduction: why deadlocks still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1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Mutual exclusion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A lock has one owner at a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94760" y="1828800"/>
            <a:ext cx="457200" cy="457200"/>
          </a:xfrm>
          <a:prstGeom prst="ellipse">
            <a:avLst/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Hold and 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4231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Threads keep locks while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No preemption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Held locks cannot be taken away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200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94760" y="3429000"/>
            <a:ext cx="457200" cy="457200"/>
          </a:xfrm>
          <a:prstGeom prst="ellipse">
            <a:avLst/>
          </a:prstGeom>
          <a:solidFill>
            <a:srgbClr val="C8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83A50"/>
                </a:solidFill>
                <a:latin typeface="Cambria"/>
              </a:rPr>
              <a:t>Circular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0233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Each thread waits for the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B6778"/>
                </a:solidFill>
                <a:latin typeface="Calibri"/>
              </a:rPr>
              <a:t>All four Coffman conditions must hold at once for a deadlock.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4592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buClr>
                <a:srgbClr val="2F6FC4"/>
              </a:buClr>
              <a:buFont typeface="Arial"/>
              <a:buChar char="•"/>
            </a:pPr>
            <a:r>
              <a:rPr sz="1600" b="0">
                <a:solidFill>
                  <a:srgbClr val="1B2433"/>
                </a:solidFill>
                <a:latin typeface="Calibri"/>
              </a:rPr>
              <a:t>Multithreading is everywhere: OS kernels, databases, servers and mobile apps.</a:t>
            </a:r>
          </a:p>
          <a:p>
            <a:pPr marL="256032" indent="-256032">
              <a:spcBef>
                <a:spcPts val="900"/>
              </a:spcBef>
              <a:buClr>
                <a:srgbClr val="2F6FC4"/>
              </a:buClr>
              <a:buFont typeface="Arial"/>
              <a:buChar char="•"/>
            </a:pPr>
            <a:r>
              <a:rPr sz="1600" b="0">
                <a:solidFill>
                  <a:srgbClr val="1B2433"/>
                </a:solidFill>
                <a:latin typeface="Calibri"/>
              </a:rPr>
              <a:t>Studies of real systems keep finding deadlocks: Linux kernel (54 found by DLOS), Go and Rust projects, distributed databases.</a:t>
            </a:r>
          </a:p>
          <a:p>
            <a:pPr marL="256032" indent="-256032">
              <a:spcBef>
                <a:spcPts val="900"/>
              </a:spcBef>
              <a:buClr>
                <a:srgbClr val="2F6FC4"/>
              </a:buClr>
              <a:buFont typeface="Arial"/>
              <a:buChar char="•"/>
            </a:pPr>
            <a:r>
              <a:rPr sz="1600" b="0">
                <a:solidFill>
                  <a:srgbClr val="1B2433"/>
                </a:solidFill>
                <a:latin typeface="Calibri"/>
              </a:rPr>
              <a:t>Detection after the fact freezes the program; prevention by lock ordering needs discipline; prediction in general is intractable (Tunç et al., 2023).</a:t>
            </a:r>
          </a:p>
          <a:p>
            <a:pPr marL="256032" indent="-256032">
              <a:spcBef>
                <a:spcPts val="900"/>
              </a:spcBef>
              <a:buClr>
                <a:srgbClr val="2F6FC4"/>
              </a:buClr>
              <a:buFont typeface="Arial"/>
              <a:buChar char="•"/>
            </a:pPr>
            <a:r>
              <a:rPr sz="1600" b="0">
                <a:solidFill>
                  <a:srgbClr val="1B2433"/>
                </a:solidFill>
                <a:latin typeface="Calibri"/>
              </a:rPr>
              <a:t>This project makes the whole lifecycle visible and measurable: form, warn, detect, prevent, recover.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03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Literature review (1/6) ·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65960"/>
                <a:gridCol w="3246120"/>
                <a:gridCol w="288036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Authors (year)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 · venue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/ contribution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Drawback (our assessment)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Qin et al. (2020)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Understanding memory and thread safety practices and issues in real-world Rust programs · PLDI 2020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Studied 850 unsafe usages and 170 bugs (incl. blocking bugs) in Rust projects; built two static bug detectors.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Empirical study of a fixed set of projects; detectors cover only specific bug patterns.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Cai, Meng &amp; Palsberg (2020)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Low-overhead deadlock prediction · ICSE 2020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AirLock keeps a small lock reachability graph, searches it for cycles; ~3.5% average overhead.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Predicts only from observed execution traces; deadlocks on unexecuted paths are missed.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Mukherjee et al. (2020)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Learning-based controlled concurrency testing · OOPSLA 2020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QL uses Q-learning to steer a controlled scheduler through thread interleavings.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Needs a controlled-testing harness; testing can find bugs but cannot prove their absence.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Yuan &amp; Yang (2020)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Effective concurrency testing for distributed systems · ASPLOS 2020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Morpheus: partial-order sampling plus conflict analysis; found 11 new errors (incl. deadlocks) in Erlang systems.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Targets Erlang only; guarantees are probabilistic.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Wei et al. (2020)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MPI-RCDD: A framework for MPI runtime communication deadlock detection · JCST 35(2)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Message logging and distributed dependency tracking; AND⊕OR-model algorithm (AODA) avoids false positives.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Specific to MPI programs; logging and dependency messages add runtime overhead.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03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Literature review (2/6) · 2021–2022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65960"/>
                <a:gridCol w="3246120"/>
                <a:gridCol w="288036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Authors (year)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 · venue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/ contribution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Drawback (our assessment)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Liu et al. (2021)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Automatically detecting and fixing concurrency bugs in Go software systems · ASPLOS 2021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GCatch finds channel blocking bugs with a constraint solver; GFix patches them (124 of 149 fixed).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 channels only; automatic fixes cover limited bug patterns.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Yuan et al. (2021)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GoBench: A benchmark suite of real-world Go concurrency bugs · CGO 2021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Benchmark of 82 real bugs from 9 applications plus 103 bug kernels for evaluating detectors.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A benchmark, not a detector; limited to Go.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Gong et al. (2021)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Snowboard: Finding kernel concurrency bugs through systematic inter-thread communication analysis · SOSP 2021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Identifies likely inter-thread communications in the kernel and tests interleavings around them.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Testing in a virtualised kernel is costly and cannot prove a kernel deadlock-free.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Dilley &amp; Lange (2021)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Automated verification of Go programs via bounded model checking · ASE 2021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Gomela: bounded model checking of Go concurrency, incl. statically unknown thread counts.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Bounded: bugs beyond the bounds are missed; Go only.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Liu et al. (2022)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Who goes first? Detecting Go concurrency bugs via message reordering · ASPLOS 2022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GFuzz reorders concurrent message processing; found 184 new bugs in 7 Go systems.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Dynamic fuzzing depends on available tests; channel-related bugs only.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03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Literature review (3/6) ·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65960"/>
                <a:gridCol w="3246120"/>
                <a:gridCol w="288036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Authors (year)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 · venue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/ contribution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Drawback (our assessment)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Cutner, Yoshida &amp; Vassor (2022)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Deadlock-free asynchronous message reordering in Rust with multiparty session types · PPoPP 2022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Rumpsteak guarantees deadlock freedom by construction for async Rust using session types.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Programs must be written against session-type protocols; covers message passing, not locks.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Jiang et al. (2022)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Context-sensitive and directional concurrency fuzzing for data-race detection · NDSS 2022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Conzzer guides fuzzing with concurrent call pairs; found 95 data races in apps and kernel filesystems.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Targets data races rather than deadlocks; fuzzing coverage is never complete.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Bai, Li &amp; Hu (2022)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DLOS: Effective static detection of deadlocks in OS kernels · USENIX ATC 2022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Summary-based lock analysis finds locking cycles in Linux; 54 real deadlocks, 31 confirmed.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Static analysis with a 17% false-positive rate; kernel-specific.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Veileborg, Saioc &amp; Møller (2022)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Detecting blocking errors in Go programs using localized abstract interpretation · ASE 2022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Goat splits programs into fragments for abstract interpretation; 104 errors missed by GCatch.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 only; static approximation can still report false alarms.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Cai et al. (2022)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Peahen: Fast and precise static deadlock detection via context reduction · ESEC/FSE 2022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Reduces calling contexts to make static lock-cycle detection fast and precise.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Static only: no runtime warning, prevention or recovery.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03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Literature review (4/6) · 2023–2024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65960"/>
                <a:gridCol w="3246120"/>
                <a:gridCol w="288036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Authors (year)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 · venue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/ contribution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Drawback (our assessment)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Tunç et al. (2023)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Sound dynamic deadlock prediction in linear time · PLDI 2023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Defines sync-preserving deadlocks; SPDOffline/SPDOnline predict them in linear time.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Covers only sync-preserving deadlocks; the online algorithm handles two-thread deadlocks.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Yang et al. (2023)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LCL: A lock chain length-based distributed algorithm for deadlock detection and resolution · ICDE 2023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Distributed deadlock detection for database transactions, extending Mitchell–Merritt.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Database transactions only; slower on mixed local/distributed deadlocks (addressed by LCL+).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Saioc, Shirchenko &amp; Chabbi (2024)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Unveiling and vanquishing goroutine leaks in enterprise microservices · CGO 2024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GOLEAK and LEAKPROF find blocked (leaked) goroutines in Uber's monorepo; 857 leaks in a year.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Dynamic: only exercised paths; Go-specific.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Qin et al. (2024)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Understanding and detecting real-world safety issues in Rust · IEEE TSE 2024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Studied 100 concurrency bugs among others; five static detectors (lockbud).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Pattern-based static detectors; Rust only.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Ye, Cai &amp; Zhang (2024)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When threads meet interrupts: Effective static detection of interrupt-based deadlocks in Linux · USENIX Security 2024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Archerfish builds an interrupt-aware lock graph and refines its cycles.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Limited to interrupt-based deadlocks in the Linux kernel.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03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Literature review (5/6) · 2024–2025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65960"/>
                <a:gridCol w="3246120"/>
                <a:gridCol w="288036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Authors (year)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 · venue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/ contribution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Drawback (our assessment)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Pratissoli et al. (2024)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Hierarchical traffic management of multi-AGV systems with deadlock prevention · IEEE T-ASE 21(3)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Time-expanded-graph coordination prevents deadlocks among automated guided vehicles.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Robot-traffic domain with known roadmaps; not OS threads or locks.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Zhang, Zhang &amp; Liu (2024)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Static deadlock detection for Rust programs · arXiv preprint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Static detection of resource deadlocks in Rust (extended in 2026 to communication deadlocks).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Preprint, not peer-reviewed; static and Rust only.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Lu et al. (2024)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Deadlock detection: Background, techniques, and future improvements · ZTE Communications 22(2)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Survey comparing static and dynamic detection on accuracy, complexity and scalability.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Survey only: no new technique or experiments.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Jain &amp; Purandare (2025)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Assessing large language models in comprehending and verifying concurrent programs across memory models · arXiv preprint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Tests GPT-4-class models on pthread programs: they spot races and deadlocks under sequential consistency.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Models struggle under relaxed memory models; small benchmark set.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van den Heuvel, Sulzmann &amp; Thiemann (2025)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Partial orders for precise and efficient dynamic deadlock prediction · arXiv preprint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Partial orders over a trace filter false-positive deadlock patterns.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A 2026 corrigendum states the prediction is unsound; trace-based.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03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Literature review (6/6) ·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65960"/>
                <a:gridCol w="3246120"/>
                <a:gridCol w="288036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Authors (year)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 · venue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/ contribution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Drawback (our assessment)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Song, Xu &amp; Huang (2025)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GoPV: Detecting blocking concurrency bugs related to shared-memory synchronization in Go · ISSTA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Concurrency and (post-)dominator analysis; 17 bugs in 21 large Go applications.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Go shared-memory primitives only; static.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Yang et al. (2025)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LCL+: A lock chain length-based distributed deadlock detection and resolution service built for OceanBase · ACM TOCS 43(4)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Faster detection of hybrid local/distributed deadlocks; deployed in OceanBase.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Designed for one distributed database's transaction model.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Feng et al. (2025)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Concurrency bug detection via static analysis and large language models · Future Internet 17(12)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ConSynergy: four-stage pipeline combining static analysis with LLM reasoning.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Relies on LLM reasoning, which can hallucinate; cost of model queries.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Sulzmann (2025)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Beyond per-thread lock sets: Multi-thread critical sections and dynamic deadlock prediction · arXiv preprint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Lets critical sections span threads; extends SPDOffline to find more deadlocks soundly.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Preprint; trace-based, so only observed executions are analysed.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Sulzmann (2026)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Critical sections are not per-thread: A trace semantics for lock-based concurrency · arXiv preprint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Trace-based definition of critical sections that may span threads (C/Pthreads).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Preprint focused on formal semantics rather than a detection tool.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04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How can we reproduce deadlocks with real OS threads, confirm them reliably, warn before they form, prevent them, and recover when they happen, while measuring every step honestly?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2606040" cy="2606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C8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Invisible until too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A deadlocked program simply stops; the cycle is hidden inside lock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3246120"/>
            <a:ext cx="2606040" cy="2606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3592" y="3474720"/>
            <a:ext cx="457200" cy="45720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4069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Detection ≠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475488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A Wait-For Graph cycle proves deadlock only after it forms; earlier signals are heuristics.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246120"/>
            <a:ext cx="2606040" cy="2606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9944" y="3474720"/>
            <a:ext cx="457200" cy="457200"/>
          </a:xfrm>
          <a:prstGeom prst="ellipse">
            <a:avLst/>
          </a:prstGeom>
          <a:solidFill>
            <a:srgbClr val="2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069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Fixes have trade-offs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75488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Ordering needs global discipline; recovery must pick a victim and release its locks.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3246120"/>
            <a:ext cx="2606040" cy="2606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6296" y="3474720"/>
            <a:ext cx="457200" cy="457200"/>
          </a:xfrm>
          <a:prstGeom prst="ellipse">
            <a:avLst/>
          </a:prstGeom>
          <a:solidFill>
            <a:srgbClr val="17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4069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Claims need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475488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Results must come from repeated, bounded runs, not one demonstration.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05 · RESEARCH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Research gaps identified from the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64207"/>
            <a:ext cx="502920" cy="50292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Language- or domain-specific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Most detectors target one language or system (Go: GCatch, GFuzz, Goat, GoPV; Rust: Qin et al.; kernels: DLOS, Archerfish; databases: LCL).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55448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B6778"/>
                </a:solidFill>
                <a:latin typeface="Calibri"/>
              </a:rPr>
              <a:t>[1, 6, 10, 13, 14, 17, 20, 26]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96896"/>
            <a:ext cx="502920" cy="50292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87168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Static vs. dynamic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87168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Static tools report false positives (DLOS 17%); dynamic and trace-based tools see only executed paths (AirLock, GOLEAK, SPD).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487168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B6778"/>
                </a:solidFill>
                <a:latin typeface="Calibri"/>
              </a:rPr>
              <a:t>[13, 2, 18, 16]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29584"/>
            <a:ext cx="502920" cy="50292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19856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Detection without prevention or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19856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Most work stops at reporting a bug; few combine warning, prevention and runtime recovery in one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419856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B6778"/>
                </a:solidFill>
                <a:latin typeface="Calibri"/>
              </a:rPr>
              <a:t>[2, 15, 16, 20]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462272"/>
            <a:ext cx="502920" cy="50292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52544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Prediction is hard in general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52544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Sound and complete prediction is intractable; heuristic warnings are rarely transparent or measured.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352544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B6778"/>
                </a:solidFill>
                <a:latin typeface="Calibri"/>
              </a:rPr>
              <a:t>[16, 25, 29]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8523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Little support for understanding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285232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Tools output reports, not an explanation of how a deadlock forms, which matters for teaching and debugging.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5285232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B6778"/>
                </a:solidFill>
                <a:latin typeface="Calibri"/>
              </a:rPr>
              <a:t>[23, 24, 28]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Numbers refer to the literature table (slides 4–9).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06 ·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80560"/>
                <a:gridCol w="40233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Ignore (ostrich)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Most general-purpose OSs assume deadlocks are rare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System hangs; manual restart needed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Periodic detection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Build a Wait-For Graph and look for cycles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Acts only after the deadlock has happened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Avoidance (Banker's)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Grant a request only if the state stays safe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Needs maximum demands in advance; costly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Prevention by ordering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All threads take locks in one global order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Relies on programmer discipline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Static / dynamic tools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GCatch, DLOS, AirLock, SPD and others report likely deadlocks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433"/>
                          </a:solidFill>
                          <a:latin typeface="Calibri"/>
                        </a:rPr>
                        <a:t>Language-specific; false positives or missed paths; no live recovery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C83A50"/>
                </a:solidFill>
                <a:latin typeface="Calibri"/>
              </a:rPr>
              <a:t>No single existing setup lets students reproduce, warn about, prevent and recover from deadlocks on real threads while measuring each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07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938528"/>
            <a:ext cx="512064" cy="512064"/>
          </a:xfrm>
          <a:prstGeom prst="ellipse">
            <a:avLst/>
          </a:prstGeom>
          <a:solidFill>
            <a:srgbClr val="C8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3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Reproduce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Create deadlocks on demand with real OS threads, from 2 to 32 threads.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938528"/>
            <a:ext cx="512064" cy="512064"/>
          </a:xfrm>
          <a:prstGeom prst="ellipse">
            <a:avLst/>
          </a:prstGeom>
          <a:solidFill>
            <a:srgbClr val="2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69163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10312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Confirm deadlock exactly from a Wait-For Graph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" y="3401568"/>
            <a:ext cx="512064" cy="512064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5467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Warn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661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Raise a transparent, tunable early-warning score before the cycle forms, and measure the lead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01752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01568"/>
            <a:ext cx="512064" cy="512064"/>
          </a:xfrm>
          <a:prstGeom prst="ellipse">
            <a:avLst/>
          </a:prstGeom>
          <a:solidFill>
            <a:srgbClr val="17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15467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Prevent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5661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Remove circular wait with a learned or global lock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59" y="4864608"/>
            <a:ext cx="512064" cy="512064"/>
          </a:xfrm>
          <a:prstGeom prst="ellipse">
            <a:avLst/>
          </a:prstGeom>
          <a:solidFill>
            <a:srgbClr val="C8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177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Recover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2920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Break a detected cycle by aborting one victim thread so the rest finish.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056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864608"/>
            <a:ext cx="512064" cy="512064"/>
          </a:xfrm>
          <a:prstGeom prst="ellipse">
            <a:avLst/>
          </a:prstGeom>
          <a:solidFill>
            <a:srgbClr val="2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6177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Explain and 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502920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Replay, analyse and compare runs; repeated, bounded trials with saved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08 ·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337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783080"/>
            <a:ext cx="502920" cy="502920"/>
          </a:xfrm>
          <a:prstGeom prst="ellipse">
            <a:avLst/>
          </a:prstGeom>
          <a:solidFill>
            <a:srgbClr val="C8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Two-thread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buClr>
                <a:srgbClr val="C83A50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T1: A→B, T2: B→A on real threads</a:t>
            </a:r>
          </a:p>
          <a:p>
            <a:pPr marL="256032" indent="-256032">
              <a:spcBef>
                <a:spcPts val="900"/>
              </a:spcBef>
              <a:buClr>
                <a:srgbClr val="C83A50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Wait-For Graph confirms the cycle</a:t>
            </a:r>
          </a:p>
          <a:p>
            <a:pPr marL="256032" indent="-256032">
              <a:spcBef>
                <a:spcPts val="900"/>
              </a:spcBef>
              <a:buClr>
                <a:srgbClr val="C83A50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Risk score warns before it</a:t>
            </a:r>
          </a:p>
          <a:p>
            <a:pPr marL="256032" indent="-256032">
              <a:spcBef>
                <a:spcPts val="900"/>
              </a:spcBef>
              <a:buClr>
                <a:srgbClr val="C83A50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Protected: probe learns A→B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3337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1999" y="1783080"/>
            <a:ext cx="502920" cy="50292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828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N-thread ring (2–32)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60320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buClr>
                <a:srgbClr val="C78414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Thread Ti needs locks Ri and Ri+1</a:t>
            </a:r>
          </a:p>
          <a:p>
            <a:pPr marL="256032" indent="-256032">
              <a:spcBef>
                <a:spcPts val="900"/>
              </a:spcBef>
              <a:buClr>
                <a:srgbClr val="C78414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Vulnerable: one cycle through all N</a:t>
            </a:r>
          </a:p>
          <a:p>
            <a:pPr marL="256032" indent="-256032">
              <a:spcBef>
                <a:spcPts val="900"/>
              </a:spcBef>
              <a:buClr>
                <a:srgbClr val="C78414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Supervisor detects it in ms and aborts a victim</a:t>
            </a:r>
          </a:p>
          <a:p>
            <a:pPr marL="256032" indent="-256032">
              <a:spcBef>
                <a:spcPts val="900"/>
              </a:spcBef>
              <a:buClr>
                <a:srgbClr val="C78414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Protected: lower-numbered lock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3337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17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828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33"/>
                </a:solidFill>
                <a:latin typeface="Cambria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buClr>
                <a:srgbClr val="178F6E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Replay of every real run</a:t>
            </a:r>
          </a:p>
          <a:p>
            <a:pPr marL="256032" indent="-256032">
              <a:spcBef>
                <a:spcPts val="900"/>
              </a:spcBef>
              <a:buClr>
                <a:srgbClr val="178F6E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Analysis: why and when it warned</a:t>
            </a:r>
          </a:p>
          <a:p>
            <a:pPr marL="256032" indent="-256032">
              <a:spcBef>
                <a:spcPts val="900"/>
              </a:spcBef>
              <a:buClr>
                <a:srgbClr val="178F6E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Compare: both modes, repeated trials, 2–32 scaling</a:t>
            </a:r>
          </a:p>
          <a:p>
            <a:pPr marL="256032" indent="-256032">
              <a:spcBef>
                <a:spcPts val="900"/>
              </a:spcBef>
              <a:buClr>
                <a:srgbClr val="178F6E"/>
              </a:buClr>
              <a:buFont typeface="Arial"/>
              <a:buChar char="•"/>
            </a:pPr>
            <a:r>
              <a:rPr sz="1500" b="0">
                <a:solidFill>
                  <a:srgbClr val="1B2433"/>
                </a:solidFill>
                <a:latin typeface="Calibri"/>
              </a:rPr>
              <a:t>Per-visitor weights; CSV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5FD4B0"/>
                </a:solidFill>
                <a:latin typeface="Calibri"/>
              </a:rPr>
              <a:t>Key rule: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only a Wait-For Graph cycle confirms a deadlock. The risk score is an early-warning heuristic for this controlled experiment, not a general predictor.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09 ·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2F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B2433"/>
                </a:solidFill>
                <a:latin typeface="Cambria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778"/>
                </a:solidFill>
                <a:latin typeface="Calibri"/>
              </a:rPr>
              <a:t>Lab · Analysis · Compare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2514600"/>
            <a:ext cx="329184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178308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0E1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9659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B2433"/>
                </a:solidFill>
                <a:latin typeface="Cambria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4688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778"/>
                </a:solidFill>
                <a:latin typeface="Calibri"/>
              </a:rPr>
              <a:t>Stateless, per-request scoring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73168" y="2514600"/>
            <a:ext cx="329184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178308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C8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659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B2433"/>
                </a:solidFill>
                <a:latin typeface="Cambria"/>
              </a:rPr>
              <a:t>Experiments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688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778"/>
                </a:solidFill>
                <a:latin typeface="Calibri"/>
              </a:rPr>
              <a:t>Two-thread · N-thread 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59168" y="2514600"/>
            <a:ext cx="329184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178308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C78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9659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B2433"/>
                </a:solidFill>
                <a:latin typeface="Cambria"/>
              </a:rPr>
              <a:t>Event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4688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778"/>
                </a:solidFill>
                <a:latin typeface="Calibri"/>
              </a:rPr>
              <a:t>High-resolution timestamps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45167" y="2514600"/>
            <a:ext cx="329185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92640" y="178308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17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9659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B2433"/>
                </a:solidFill>
                <a:latin typeface="Cambria"/>
              </a:rPr>
              <a:t>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4688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778"/>
                </a:solidFill>
                <a:latin typeface="Calibri"/>
              </a:rPr>
              <a:t>Wait-For Graph · score · heatmap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652760" y="3310128"/>
            <a:ext cx="0" cy="438911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508760" y="3749039"/>
            <a:ext cx="9144000" cy="0"/>
          </a:xfrm>
          <a:prstGeom prst="line">
            <a:avLst/>
          </a:prstGeom>
          <a:ln w="25400">
            <a:solidFill>
              <a:srgbClr val="5B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08760" y="3310128"/>
            <a:ext cx="0" cy="438911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26080" y="3822191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778"/>
                </a:solidFill>
                <a:latin typeface="Calibri"/>
              </a:rPr>
              <a:t>trial JSON, results and replay data back to the browser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805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6451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Supervisor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074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Polls a consistent lock snapshot every 1 ms and cancels a victim's wait.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79" y="44805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1999" y="46451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Bounded 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1999" y="5074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Every lock wait and request has a timeout; nothing can hang.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44805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6451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074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Same code locally (uvicorn) and on Vercel; no server-side state.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10 ·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810512"/>
            <a:ext cx="502920" cy="502920"/>
          </a:xfrm>
          <a:prstGeom prst="ellipse">
            <a:avLst/>
          </a:prstGeom>
          <a:solidFill>
            <a:srgbClr val="C8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4708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Experiment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50591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Vulnerable/protected two-thread trials; adaptive lock-order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member2_backend · Shraavanth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810512"/>
            <a:ext cx="502920" cy="502920"/>
          </a:xfrm>
          <a:prstGeom prst="ellipse">
            <a:avLst/>
          </a:prstGeom>
          <a:solidFill>
            <a:srgbClr val="C8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84708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Lock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450591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Ownership, bounded and cancellable waits, consistent snapshots, cycle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1546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member2_backend · Shraavanth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810512"/>
            <a:ext cx="502920" cy="502920"/>
          </a:xfrm>
          <a:prstGeom prst="ellipse">
            <a:avLst/>
          </a:prstGeom>
          <a:solidFill>
            <a:srgbClr val="C7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184708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N-thread ring &amp;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50591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2–32 threads on N locks; supervisor detection and victim abort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546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member2_backend · Shraavanth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" y="4050792"/>
            <a:ext cx="502920" cy="502920"/>
          </a:xfrm>
          <a:prstGeom prst="ellipse">
            <a:avLst/>
          </a:prstGeom>
          <a:solidFill>
            <a:srgbClr val="2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8736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Analysis &amp;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69087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Wait-For Graph, risk score, trend, heatmap, repeated-trial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3949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member3_analysis · Lakshman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7947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1999" y="4050792"/>
            <a:ext cx="502920" cy="502920"/>
          </a:xfrm>
          <a:prstGeom prst="ellipse">
            <a:avLst/>
          </a:prstGeom>
          <a:solidFill>
            <a:srgbClr val="2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08736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469087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FastAPI endpoints with per-request scoring weights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53949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member2/member3 · Shraavanth, Lakshman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7947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050792"/>
            <a:ext cx="502920" cy="502920"/>
          </a:xfrm>
          <a:prstGeom prst="ellipse">
            <a:avLst/>
          </a:prstGeom>
          <a:solidFill>
            <a:srgbClr val="17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19" y="408736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3"/>
                </a:solidFill>
                <a:latin typeface="Cambria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69087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3"/>
                </a:solidFill>
                <a:latin typeface="Calibri"/>
              </a:rPr>
              <a:t>Replay, Analysis and Compare views, scaling test, CSV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949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frontend · Midhun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Results · two-thread deadlock and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lab-wait-for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035040" cy="3506554"/>
          </a:xfrm>
          <a:prstGeom prst="rect">
            <a:avLst/>
          </a:prstGeom>
        </p:spPr>
      </p:pic>
      <p:pic>
        <p:nvPicPr>
          <p:cNvPr id="7" name="Picture 6" descr="lab-risk-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508760"/>
            <a:ext cx="3772825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6636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778"/>
                </a:solidFill>
                <a:latin typeface="Calibri"/>
              </a:rPr>
              <a:t>Wait-For Graph of a live vulnerable trial: T1 waits for B (held by T2), T2 waits for A (held by T1): the cycle confirms deadlock.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3949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778"/>
                </a:solidFill>
                <a:latin typeface="Calibri"/>
              </a:rPr>
              <a:t>Risk score of the same run crosses the warning threshold (70) before the deadlock.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Results · vulnerable vs. protected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compare-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110232" cy="4709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554480"/>
          <a:ext cx="4800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Saved V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Saved P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New V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New P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Trials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Deadlocked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Warning lead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120.4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121.6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Mean runtime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813.6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104.6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813.4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433"/>
                          </a:solidFill>
                          <a:latin typeface="Calibri"/>
                        </a:rPr>
                        <a:t>103.9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443484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Saved set: 15 Oct 2026 · new set: 26 Oct 2026 (10 trials per mode each). V = vulnerable, P = protected.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51206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Left: live dashboard comparison of one run per mode.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Results · N-thread ring: deadlock and recovery vs.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replay-dead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972419" cy="4251960"/>
          </a:xfrm>
          <a:prstGeom prst="rect">
            <a:avLst/>
          </a:prstGeom>
        </p:spPr>
      </p:pic>
      <p:pic>
        <p:nvPicPr>
          <p:cNvPr id="7" name="Picture 6" descr="replay-prot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4972419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7900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Vulnerable, 8 threads: one cycle through all 8, detected within milliseconds; T8 is aborted. Across the scaling set: 50/50 full cycles, 50/50 recoveries.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779008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Protected, 12 threads: threads queue behind neighbours, no cycle; 50/50 protected runs completed.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Results · scaling from 2 to 32 threads (new 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63040"/>
          <a:ext cx="576072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554480"/>
          <a:ext cx="5074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60120"/>
                <a:gridCol w="777240"/>
                <a:gridCol w="1005840"/>
                <a:gridCol w="86868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Threads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Deadlocked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Detect (mean)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Vuln. time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Protected done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Prot. time</a:t>
                      </a:r>
                    </a:p>
                  </a:txBody>
                  <a:tcPr marL="64008" marR="64008" marT="27432" marB="27432" anchor="ctr">
                    <a:solidFill>
                      <a:srgbClr val="0E14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1.8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45 ± 3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62 ± 1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2.0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107 ± 2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69 ± 19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2.5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229 ± 3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94 ± 25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4.2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473 ± 4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92 ± 17 ms</a:t>
                      </a:r>
                    </a:p>
                  </a:txBody>
                  <a:tcPr marL="64008" marR="64008" marT="27432" marB="27432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6.7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968 ± 4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433"/>
                          </a:solidFill>
                          <a:latin typeface="Calibri"/>
                        </a:rPr>
                        <a:t>96 ± 9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4526280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Every vulnerable run formed a cycle through all N threads; detection ≤ 8.0 ms. Vulnerable time grows ~30 ms per thread (threads finish one by one after recovery). Mean ± SD of 10 trials per size and mode. Controlled runs, not a benchmark.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Results · when did the warning fire?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analysis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" y="1463040"/>
            <a:ext cx="10241280" cy="4199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8408" y="577900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B6778"/>
                </a:solidFill>
                <a:latin typeface="Calibri"/>
              </a:rPr>
              <a:t>Live vulnerable trial in the Analysis view: the score crosses the threshold (70) at event 7 and the cycle is confirmed at event 9; the shaded band is the warning lead 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Results · why the score is 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analysis-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862" y="1463040"/>
            <a:ext cx="903197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8408" y="587044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B6778"/>
                </a:solidFill>
                <a:latin typeface="Calibri"/>
              </a:rPr>
              <a:t>Per-factor contribution to the selected event's score (left) and the weight tuner (right). Weights are kept per browser and sent with each request; nothing is stored on the server.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C4D4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8C4D4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C4D4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172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5FD4B0"/>
                </a:solidFill>
                <a:latin typeface="Cambria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buClr>
                <a:srgbClr val="5FD4B0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Real threads reproduce circular wait on demand, from 2 to 32 threads</a:t>
            </a:r>
          </a:p>
          <a:p>
            <a:pPr marL="256032" indent="-256032">
              <a:spcBef>
                <a:spcPts val="1200"/>
              </a:spcBef>
              <a:buClr>
                <a:srgbClr val="5FD4B0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A Wait-For Graph confirms it; the score warns before it in the staged case</a:t>
            </a:r>
          </a:p>
          <a:p>
            <a:pPr marL="256032" indent="-256032">
              <a:spcBef>
                <a:spcPts val="1200"/>
              </a:spcBef>
              <a:buClr>
                <a:srgbClr val="5FD4B0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A global lock order prevents it; aborting one victim recovers from it</a:t>
            </a:r>
          </a:p>
          <a:p>
            <a:pPr marL="256032" indent="-256032">
              <a:spcBef>
                <a:spcPts val="1200"/>
              </a:spcBef>
              <a:buClr>
                <a:srgbClr val="5FD4B0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Every result comes from repeated, saved measurements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172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1051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8414"/>
                </a:solidFill>
                <a:latin typeface="Cambria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6888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buClr>
                <a:srgbClr val="C78414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Calibrate the score for N-thread workloads and real programs</a:t>
            </a:r>
          </a:p>
          <a:p>
            <a:pPr marL="256032" indent="-256032">
              <a:spcBef>
                <a:spcPts val="1200"/>
              </a:spcBef>
              <a:buClr>
                <a:srgbClr val="C78414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Smarter victim choice (cost, priority, fairness)</a:t>
            </a:r>
          </a:p>
          <a:p>
            <a:pPr marL="256032" indent="-256032">
              <a:spcBef>
                <a:spcPts val="1200"/>
              </a:spcBef>
              <a:buClr>
                <a:srgbClr val="C78414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Process-level isolation and other languages</a:t>
            </a:r>
          </a:p>
          <a:p>
            <a:pPr marL="256032" indent="-256032">
              <a:spcBef>
                <a:spcPts val="1200"/>
              </a:spcBef>
              <a:buClr>
                <a:srgbClr val="C78414"/>
              </a:buClr>
              <a:buFont typeface="Arial"/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Evaluate warnings on public bug benchmarks (e.g., GoBench)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12 · REFERENCES · APA 7TH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References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65760" indent="-365760"/>
            <a:r>
              <a:rPr sz="1300" i="0">
                <a:solidFill>
                  <a:srgbClr val="1B2433"/>
                </a:solidFill>
                <a:latin typeface="Calibri"/>
              </a:rPr>
              <a:t>Bai, J.-J., Li, T., &amp; Hu, S.-M. (2022). DLOS: Effective static detection of deadlocks in OS kernels.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2022 USENIX Annual Technical Conference (USENIX ATC 22)</a:t>
            </a:r>
            <a:r>
              <a:rPr sz="1300" i="0">
                <a:solidFill>
                  <a:srgbClr val="1B2433"/>
                </a:solidFill>
                <a:latin typeface="Calibri"/>
              </a:rPr>
              <a:t> (pp. 367–382). USENIX Association.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Cai, Y., Meng, R., &amp; Palsberg, J. (2020). Low-overhead deadlock prediction.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ACM/IEEE 42nd International Conference on Software Engineering</a:t>
            </a:r>
            <a:r>
              <a:rPr sz="1300" i="0">
                <a:solidFill>
                  <a:srgbClr val="1B2433"/>
                </a:solidFill>
                <a:latin typeface="Calibri"/>
              </a:rPr>
              <a:t> (pp. 1298–1309). ACM. https://doi.org/10.1145/3377811.3380367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Cai, Y., Ye, C., Shi, Q., &amp; Zhang, C. (2022). Peahen: Fast and precise static deadlock detection via context reduction.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30th ACM Joint European Software Engineering Conference and Symposium on the Foundations of Software Engineering</a:t>
            </a:r>
            <a:r>
              <a:rPr sz="1300" i="0">
                <a:solidFill>
                  <a:srgbClr val="1B2433"/>
                </a:solidFill>
                <a:latin typeface="Calibri"/>
              </a:rPr>
              <a:t> (pp. 784–796). ACM.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Cutner, Z., Yoshida, N., &amp; Vassor, M. (2022). Deadlock-free asynchronous message reordering in Rust with multiparty session types.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27th ACM SIGPLAN Symposium on Principles and Practice of Parallel Programming</a:t>
            </a:r>
            <a:r>
              <a:rPr sz="1300" i="0">
                <a:solidFill>
                  <a:srgbClr val="1B2433"/>
                </a:solidFill>
                <a:latin typeface="Calibri"/>
              </a:rPr>
              <a:t>. ACM. https://arxiv.org/abs/2112.12693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Dilley, N., &amp; Lange, J. (2021). Automated verification of Go programs via bounded model checking.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2021 36th IEEE/ACM International Conference on Automated Software Engineering (ASE)</a:t>
            </a:r>
            <a:r>
              <a:rPr sz="1300" i="0">
                <a:solidFill>
                  <a:srgbClr val="1B2433"/>
                </a:solidFill>
                <a:latin typeface="Calibri"/>
              </a:rPr>
              <a:t>. IEEE.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Feng, Z., Chen, Y., Zhang, K., Li, X., &amp; Liu, G. (2025). Concurrency bug detection via static analysis and large language models. </a:t>
            </a:r>
            <a:r>
              <a:rPr sz="1300" i="1">
                <a:solidFill>
                  <a:srgbClr val="1B2433"/>
                </a:solidFill>
                <a:latin typeface="Calibri"/>
              </a:rPr>
              <a:t>Future Internet, 17</a:t>
            </a:r>
            <a:r>
              <a:rPr sz="1300" i="0">
                <a:solidFill>
                  <a:srgbClr val="1B2433"/>
                </a:solidFill>
                <a:latin typeface="Calibri"/>
              </a:rPr>
              <a:t>(12), 578.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Gong, S., Altınbüken, D., Fonseca, P., &amp; Maniatis, P. (2021). Snowboard: Finding kernel concurrency bugs through systematic inter-thread communication analysis.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ACM SIGOPS 28th Symposium on Operating Systems Principles</a:t>
            </a:r>
            <a:r>
              <a:rPr sz="1300" i="0">
                <a:solidFill>
                  <a:srgbClr val="1B2433"/>
                </a:solidFill>
                <a:latin typeface="Calibri"/>
              </a:rPr>
              <a:t>. ACM. https://doi.org/10.1145/3477132.3483549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Jain, R., &amp; Purandare, R. (2025). </a:t>
            </a:r>
            <a:r>
              <a:rPr sz="1300" i="1">
                <a:solidFill>
                  <a:srgbClr val="1B2433"/>
                </a:solidFill>
                <a:latin typeface="Calibri"/>
              </a:rPr>
              <a:t>Assessing large language models in comprehending and verifying concurrent programs across memory models</a:t>
            </a:r>
            <a:r>
              <a:rPr sz="1300" i="0">
                <a:solidFill>
                  <a:srgbClr val="1B2433"/>
                </a:solidFill>
                <a:latin typeface="Calibri"/>
              </a:rPr>
              <a:t> (arXiv:2501.14326). arXiv. https://arxiv.org/abs/2501.14326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12 · REFERENCES · APA 7TH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References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65760" indent="-365760"/>
            <a:r>
              <a:rPr sz="1300" i="0">
                <a:solidFill>
                  <a:srgbClr val="1B2433"/>
                </a:solidFill>
                <a:latin typeface="Calibri"/>
              </a:rPr>
              <a:t>Jiang, Z.-M., Bai, J.-J., Lu, K., &amp; Hu, S.-M. (2022). Context-sensitive and directional concurrency fuzzing for data-race detection.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Network and Distributed System Security Symposium (NDSS 2022)</a:t>
            </a:r>
            <a:r>
              <a:rPr sz="1300" i="0">
                <a:solidFill>
                  <a:srgbClr val="1B2433"/>
                </a:solidFill>
                <a:latin typeface="Calibri"/>
              </a:rPr>
              <a:t>. Internet Society.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Liu, Z., Xia, S., Liang, Y., Song, L., &amp; Hu, H. (2022). Who goes first? Detecting Go concurrency bugs via message reordering.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27th ACM International Conference on Architectural Support for Programming Languages and Operating Systems</a:t>
            </a:r>
            <a:r>
              <a:rPr sz="1300" i="0">
                <a:solidFill>
                  <a:srgbClr val="1B2433"/>
                </a:solidFill>
                <a:latin typeface="Calibri"/>
              </a:rPr>
              <a:t>. ACM.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Liu, Z., Zhu, S., Qin, B., Chen, H., &amp; Song, L. (2021). Automatically detecting and fixing concurrency bugs in Go software systems.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26th ACM International Conference on Architectural Support for Programming Languages and Operating Systems</a:t>
            </a:r>
            <a:r>
              <a:rPr sz="1300" i="0">
                <a:solidFill>
                  <a:srgbClr val="1B2433"/>
                </a:solidFill>
                <a:latin typeface="Calibri"/>
              </a:rPr>
              <a:t>. ACM. https://github.com/system-pclub/GCatch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Lu, J., Niu, Z., Chen, L., Dong, L., &amp; Shen, T. (2024). Deadlock detection: Background, techniques, and future improvements. </a:t>
            </a:r>
            <a:r>
              <a:rPr sz="1300" i="1">
                <a:solidFill>
                  <a:srgbClr val="1B2433"/>
                </a:solidFill>
                <a:latin typeface="Calibri"/>
              </a:rPr>
              <a:t>ZTE Communications, 22</a:t>
            </a:r>
            <a:r>
              <a:rPr sz="1300" i="0">
                <a:solidFill>
                  <a:srgbClr val="1B2433"/>
                </a:solidFill>
                <a:latin typeface="Calibri"/>
              </a:rPr>
              <a:t>(2). https://zte.magtechjournal.com/EN/Y2024/V22/I2/71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Mukherjee, S., Deligiannis, P., Biswas, A., &amp; Lal, A. (2020). Learning-based controlled concurrency testing.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ACM on Programming Languages, 4</a:t>
            </a:r>
            <a:r>
              <a:rPr sz="1300" i="0">
                <a:solidFill>
                  <a:srgbClr val="1B2433"/>
                </a:solidFill>
                <a:latin typeface="Calibri"/>
              </a:rPr>
              <a:t>(OOPSLA). https://www.microsoft.com/en-us/research/publication/learning-based-controlled-concurrency-testing/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Pratissoli, F., Brugioni, R., Battilani, N., &amp; Sabattini, L. (2024). Hierarchical traffic management of multi-AGV systems with deadlock prevention applied to industrial environments. </a:t>
            </a:r>
            <a:r>
              <a:rPr sz="1300" i="1">
                <a:solidFill>
                  <a:srgbClr val="1B2433"/>
                </a:solidFill>
                <a:latin typeface="Calibri"/>
              </a:rPr>
              <a:t>IEEE Transactions on Automation Science and Engineering, 21</a:t>
            </a:r>
            <a:r>
              <a:rPr sz="1300" i="0">
                <a:solidFill>
                  <a:srgbClr val="1B2433"/>
                </a:solidFill>
                <a:latin typeface="Calibri"/>
              </a:rPr>
              <a:t>(3), 3155–3169. https://doi.org/10.1109/TASE.2023.3276233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Qin, B., Chen, Y., Liu, H., Zhang, H., Wen, Q., Song, L., &amp; Zhang, Y. (2024). Understanding and detecting real-world safety issues in Rust. </a:t>
            </a:r>
            <a:r>
              <a:rPr sz="1300" i="1">
                <a:solidFill>
                  <a:srgbClr val="1B2433"/>
                </a:solidFill>
                <a:latin typeface="Calibri"/>
              </a:rPr>
              <a:t>IEEE Transactions on Software Engineering</a:t>
            </a:r>
            <a:r>
              <a:rPr sz="1300" i="0">
                <a:solidFill>
                  <a:srgbClr val="1B2433"/>
                </a:solidFill>
                <a:latin typeface="Calibri"/>
              </a:rPr>
              <a:t>. https://doi.org/10.1109/TSE.2024.3380393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Qin, B., Chen, Y., Yu, Z., Song, L., &amp; Zhang, Y. (2020). Understanding memory and thread safety practices and issues in real-world Rust programs.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41st ACM SIGPLAN Conference on Programming Language Design and Implementation</a:t>
            </a:r>
            <a:r>
              <a:rPr sz="1300" i="0">
                <a:solidFill>
                  <a:srgbClr val="1B2433"/>
                </a:solidFill>
                <a:latin typeface="Calibri"/>
              </a:rPr>
              <a:t>. ACM. https://pldi20.sigplan.org/details/pldi-2020-papers/76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12 · REFERENCES · APA 7TH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References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65760" indent="-365760"/>
            <a:r>
              <a:rPr sz="1300" i="0">
                <a:solidFill>
                  <a:srgbClr val="1B2433"/>
                </a:solidFill>
                <a:latin typeface="Calibri"/>
              </a:rPr>
              <a:t>Saioc, G.-V., Shirchenko, D., &amp; Chabbi, M. (2024). Unveiling and vanquishing goroutine leaks in enterprise microservices: A dynamic analysis approach.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2024 IEEE/ACM International Symposium on Code Generation and Optimization</a:t>
            </a:r>
            <a:r>
              <a:rPr sz="1300" i="0">
                <a:solidFill>
                  <a:srgbClr val="1B2433"/>
                </a:solidFill>
                <a:latin typeface="Calibri"/>
              </a:rPr>
              <a:t>. https://arxiv.org/abs/2312.12002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Song, W., Xu, X., &amp; Huang, J. (2025). GoPV: Detecting blocking concurrency bugs related to shared-memory synchronization in Go.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ACM on Software Engineering, 2</a:t>
            </a:r>
            <a:r>
              <a:rPr sz="1300" i="0">
                <a:solidFill>
                  <a:srgbClr val="1B2433"/>
                </a:solidFill>
                <a:latin typeface="Calibri"/>
              </a:rPr>
              <a:t>(ISSTA). https://doi.org/10.1145/3728979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Sulzmann, M. (2025). </a:t>
            </a:r>
            <a:r>
              <a:rPr sz="1300" i="1">
                <a:solidFill>
                  <a:srgbClr val="1B2433"/>
                </a:solidFill>
                <a:latin typeface="Calibri"/>
              </a:rPr>
              <a:t>Beyond per-thread lock sets: Multi-thread critical sections and dynamic deadlock prediction</a:t>
            </a:r>
            <a:r>
              <a:rPr sz="1300" i="0">
                <a:solidFill>
                  <a:srgbClr val="1B2433"/>
                </a:solidFill>
                <a:latin typeface="Calibri"/>
              </a:rPr>
              <a:t> (arXiv:2512.23552). arXiv. https://arxiv.org/abs/2512.23552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Sulzmann, M. (2026). </a:t>
            </a:r>
            <a:r>
              <a:rPr sz="1300" i="1">
                <a:solidFill>
                  <a:srgbClr val="1B2433"/>
                </a:solidFill>
                <a:latin typeface="Calibri"/>
              </a:rPr>
              <a:t>Critical sections are not per-thread: A trace semantics for lock-based concurrency</a:t>
            </a:r>
            <a:r>
              <a:rPr sz="1300" i="0">
                <a:solidFill>
                  <a:srgbClr val="1B2433"/>
                </a:solidFill>
                <a:latin typeface="Calibri"/>
              </a:rPr>
              <a:t> (arXiv:2603.13142). arXiv. https://arxiv.org/abs/2603.13142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Tunç, H. C., Mathur, U., Pavlogiannis, A., &amp; Viswanathan, M. (2023). Sound dynamic deadlock prediction in linear time.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ACM on Programming Languages, 7</a:t>
            </a:r>
            <a:r>
              <a:rPr sz="1300" i="0">
                <a:solidFill>
                  <a:srgbClr val="1B2433"/>
                </a:solidFill>
                <a:latin typeface="Calibri"/>
              </a:rPr>
              <a:t>(PLDI), Article 177. https://doi.org/10.1145/3591291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van den Heuvel, B., Sulzmann, M., &amp; Thiemann, P. (2025). </a:t>
            </a:r>
            <a:r>
              <a:rPr sz="1300" i="1">
                <a:solidFill>
                  <a:srgbClr val="1B2433"/>
                </a:solidFill>
                <a:latin typeface="Calibri"/>
              </a:rPr>
              <a:t>Partial orders for precise and efficient dynamic deadlock prediction</a:t>
            </a:r>
            <a:r>
              <a:rPr sz="1300" i="0">
                <a:solidFill>
                  <a:srgbClr val="1B2433"/>
                </a:solidFill>
                <a:latin typeface="Calibri"/>
              </a:rPr>
              <a:t> (arXiv:2502.20070). arXiv. https://arxiv.org/abs/2502.20070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Veileborg, O. H., Saioc, G.-V., &amp; Møller, A. (2022). Detecting blocking errors in Go programs using localized abstract interpretation.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37th IEEE/ACM International Conference on Automated Software Engineering</a:t>
            </a:r>
            <a:r>
              <a:rPr sz="1300" i="0">
                <a:solidFill>
                  <a:srgbClr val="1B2433"/>
                </a:solidFill>
                <a:latin typeface="Calibri"/>
              </a:rPr>
              <a:t>. ACM.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Wei, H.-M., Gao, J., Qing, P., Yu, K., Fang, Y.-F., &amp; Li, M.-L. (2020). MPI-RCDD: A framework for MPI runtime communication deadlock detection. </a:t>
            </a:r>
            <a:r>
              <a:rPr sz="1300" i="1">
                <a:solidFill>
                  <a:srgbClr val="1B2433"/>
                </a:solidFill>
                <a:latin typeface="Calibri"/>
              </a:rPr>
              <a:t>Journal of Computer Science and Technology, 35</a:t>
            </a:r>
            <a:r>
              <a:rPr sz="1300" i="0">
                <a:solidFill>
                  <a:srgbClr val="1B2433"/>
                </a:solidFill>
                <a:latin typeface="Calibri"/>
              </a:rPr>
              <a:t>(2), 395–411. https://doi.org/10.1007/s11390-020-9701-4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8F6E"/>
                </a:solidFill>
                <a:latin typeface="Calibri"/>
              </a:rPr>
              <a:t>12 · REFERENCES · APA 7TH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3"/>
                </a:solidFill>
                <a:latin typeface="Cambria"/>
              </a:rPr>
              <a:t>References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65760" indent="-365760"/>
            <a:r>
              <a:rPr sz="1300" i="0">
                <a:solidFill>
                  <a:srgbClr val="1B2433"/>
                </a:solidFill>
                <a:latin typeface="Calibri"/>
              </a:rPr>
              <a:t>Yang, Z., Qian, C., Teng, X., Kong, F., Han, F., &amp; Xu, Q. (2023). LCL: A lock chain length-based distributed algorithm for deadlock detection and resolution.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2023 IEEE 39th International Conference on Data Engineering (ICDE)</a:t>
            </a:r>
            <a:r>
              <a:rPr sz="1300" i="0">
                <a:solidFill>
                  <a:srgbClr val="1B2433"/>
                </a:solidFill>
                <a:latin typeface="Calibri"/>
              </a:rPr>
              <a:t> (pp. 151–163). IEEE. https://doi.org/10.1109/ICDE55515.2023.00019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Yang, Z., Qian, C., Teng, X., Kong, F., Han, F., Xu, Q., &amp; Hu, D. (2025). LCL+: A lock chain length-based distributed deadlock detection and resolution service built for OceanBase. </a:t>
            </a:r>
            <a:r>
              <a:rPr sz="1300" i="1">
                <a:solidFill>
                  <a:srgbClr val="1B2433"/>
                </a:solidFill>
                <a:latin typeface="Calibri"/>
              </a:rPr>
              <a:t>ACM Transactions on Computer Systems, 43</a:t>
            </a:r>
            <a:r>
              <a:rPr sz="1300" i="0">
                <a:solidFill>
                  <a:srgbClr val="1B2433"/>
                </a:solidFill>
                <a:latin typeface="Calibri"/>
              </a:rPr>
              <a:t>(4), Article 15. https://doi.org/10.1145/3768621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Ye, C., Cai, Y., &amp; Zhang, C. (2024). When threads meet interrupts: Effective static detection of interrupt-based deadlocks in Linux.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33rd USENIX Security Symposium (USENIX Security 24)</a:t>
            </a:r>
            <a:r>
              <a:rPr sz="1300" i="0">
                <a:solidFill>
                  <a:srgbClr val="1B2433"/>
                </a:solidFill>
                <a:latin typeface="Calibri"/>
              </a:rPr>
              <a:t>. USENIX Association.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Yuan, T., Li, G., Lu, J., &amp; Liu, C. (2021). GoBench: A benchmark suite of real-world Go concurrency bugs.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2021 IEEE/ACM International Symposium on Code Generation and Optimization (CGO)</a:t>
            </a:r>
            <a:r>
              <a:rPr sz="1300" i="0">
                <a:solidFill>
                  <a:srgbClr val="1B2433"/>
                </a:solidFill>
                <a:latin typeface="Calibri"/>
              </a:rPr>
              <a:t>. IEEE. https://doi.org/10.1109/CGO51591.2021.9370317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Yuan, X., &amp; Yang, J. (2020). Effective concurrency testing for distributed systems. In </a:t>
            </a:r>
            <a:r>
              <a:rPr sz="1300" i="1">
                <a:solidFill>
                  <a:srgbClr val="1B2433"/>
                </a:solidFill>
                <a:latin typeface="Calibri"/>
              </a:rPr>
              <a:t>Proceedings of the 25th International Conference on Architectural Support for Programming Languages and Operating Systems</a:t>
            </a:r>
            <a:r>
              <a:rPr sz="1300" i="0">
                <a:solidFill>
                  <a:srgbClr val="1B2433"/>
                </a:solidFill>
                <a:latin typeface="Calibri"/>
              </a:rPr>
              <a:t>. ACM.</a:t>
            </a:r>
          </a:p>
          <a:p>
            <a:pPr marL="365760" indent="-365760">
              <a:spcBef>
                <a:spcPts val="700"/>
              </a:spcBef>
            </a:pPr>
            <a:r>
              <a:rPr sz="1300" i="0">
                <a:solidFill>
                  <a:srgbClr val="1B2433"/>
                </a:solidFill>
                <a:latin typeface="Calibri"/>
              </a:rPr>
              <a:t>Zhang, Y., Zhang, K., &amp; Liu, G. (2024). </a:t>
            </a:r>
            <a:r>
              <a:rPr sz="1300" i="1">
                <a:solidFill>
                  <a:srgbClr val="1B2433"/>
                </a:solidFill>
                <a:latin typeface="Calibri"/>
              </a:rPr>
              <a:t>Static deadlock detection for Rust programs</a:t>
            </a:r>
            <a:r>
              <a:rPr sz="1300" i="0">
                <a:solidFill>
                  <a:srgbClr val="1B2433"/>
                </a:solidFill>
                <a:latin typeface="Calibri"/>
              </a:rPr>
              <a:t> (arXiv:2401.01114). arXiv. https://arxiv.org/abs/2401.01114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8C4D4"/>
                </a:solidFill>
                <a:latin typeface="Calibri"/>
              </a:rPr>
              <a:t>Predictive Deadlock Prevention · Operating Systems (BCSE303L)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C4D4"/>
                </a:solidFill>
                <a:latin typeface="Calibri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FD4B0"/>
                </a:solidFill>
                <a:latin typeface="Calibri"/>
              </a:rPr>
              <a:t>Questions and live demo: predictive-deadlock-lab.vercel.app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B8C4D4"/>
                </a:solidFill>
                <a:latin typeface="Calibri"/>
              </a:rPr>
              <a:t>Midhun Gereketi · P. Satya Mani Shraavanth · M. Lakshman 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